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Gross Profit (₹K)</c:v>
                </c:pt>
              </c:strCache>
            </c:strRef>
          </c:tx>
          <c:spPr>
            <a:solidFill>
              <a:srgbClr val="1E2761"/>
            </a:solidFill>
            <a:effectLst/>
          </c:spPr>
          <c:invertIfNegative val="0"/>
          <c:dLbls>
            <c:numFmt formatCode="#,##0" sourceLinked="0"/>
            <c:txPr>
              <a:bodyPr/>
              <a:lstStyle/>
              <a:p>
                <a:pPr>
                  <a:defRPr b="0" i="0" strike="noStrike" sz="1000" u="none">
                    <a:solidFill>
                      <a:srgbClr val="1E2761"/>
                    </a:solidFill>
                    <a:latin typeface="Arial"/>
                  </a:defRPr>
                </a:pPr>
              </a:p>
            </c:txPr>
            <c:showLegendKey val="0"/>
            <c:showVal val="1"/>
            <c:showCatName val="0"/>
            <c:showSerName val="0"/>
            <c:showPercent val="0"/>
            <c:showBubbleSize val="0"/>
            <c:showLeaderLines val="0"/>
          </c:dLbls>
          <c:cat>
            <c:multiLvlStrRef>
              <c:f>Sheet1!$A$2:$A$6</c:f>
              <c:multiLvlStrCache>
                <c:ptCount val="5"/>
                <c:lvl>
                  <c:pt idx="0">
                    <c:v>Dalbir Agrawal</c:v>
                  </c:pt>
                  <c:pt idx="1">
                    <c:v>Siddharth Bains</c:v>
                  </c:pt>
                  <c:pt idx="2">
                    <c:v>Ryan Lai</c:v>
                  </c:pt>
                  <c:pt idx="3">
                    <c:v>Ekani Raj</c:v>
                  </c:pt>
                  <c:pt idx="4">
                    <c:v>Gautam Mane</c:v>
                  </c:pt>
                </c:lvl>
              </c:multiLvlStrCache>
            </c:multiLvlStrRef>
          </c:cat>
          <c:val>
            <c:numRef>
              <c:f>Sheet1!$B$2:$B$6</c:f>
              <c:numCache>
                <c:formatCode>General</c:formatCode>
                <c:ptCount val="5"/>
                <c:pt idx="0">
                  <c:v>346.9</c:v>
                </c:pt>
                <c:pt idx="1">
                  <c:v>338.2</c:v>
                </c:pt>
                <c:pt idx="2">
                  <c:v>310</c:v>
                </c:pt>
                <c:pt idx="3">
                  <c:v>290.7</c:v>
                </c:pt>
                <c:pt idx="4">
                  <c:v>279.1</c:v>
                </c:pt>
              </c:numCache>
            </c:numRef>
          </c:val>
        </c:ser>
        <c:dLbls>
          <c:numFmt formatCode="#,##0" sourceLinked="0"/>
          <c:txPr>
            <a:bodyPr/>
            <a:lstStyle/>
            <a:p>
              <a:pPr>
                <a:defRPr b="0" i="0" strike="noStrike" sz="1000" u="none">
                  <a:solidFill>
                    <a:srgbClr val="1E2761"/>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44506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DCE3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7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Gross Margin %</c:v>
                </c:pt>
              </c:strCache>
            </c:strRef>
          </c:tx>
          <c:spPr>
            <a:solidFill>
              <a:srgbClr val="D99B2B"/>
            </a:solidFill>
            <a:effectLst/>
          </c:spPr>
          <c:invertIfNegative val="0"/>
          <c:dLbls>
            <c:numFmt formatCode="0&quot;%&quot;" sourceLinked="0"/>
            <c:txPr>
              <a:bodyPr/>
              <a:lstStyle/>
              <a:p>
                <a:pPr>
                  <a:defRPr b="0" i="0" strike="noStrike" sz="1100" u="none">
                    <a:solidFill>
                      <a:srgbClr val="1E2761"/>
                    </a:solidFill>
                    <a:latin typeface="Arial"/>
                  </a:defRPr>
                </a:pPr>
              </a:p>
            </c:txPr>
            <c:showLegendKey val="0"/>
            <c:showVal val="1"/>
            <c:showCatName val="0"/>
            <c:showSerName val="0"/>
            <c:showPercent val="0"/>
            <c:showBubbleSize val="0"/>
            <c:showLeaderLines val="0"/>
          </c:dLbls>
          <c:cat>
            <c:multiLvlStrRef>
              <c:f>Sheet1!$A$2:$A$4</c:f>
              <c:multiLvlStrCache>
                <c:ptCount val="3"/>
                <c:lvl>
                  <c:pt idx="0">
                    <c:v>Consumer</c:v>
                  </c:pt>
                  <c:pt idx="1">
                    <c:v>Small Business</c:v>
                  </c:pt>
                  <c:pt idx="2">
                    <c:v>Corporate</c:v>
                  </c:pt>
                </c:lvl>
              </c:multiLvlStrCache>
            </c:multiLvlStrRef>
          </c:cat>
          <c:val>
            <c:numRef>
              <c:f>Sheet1!$B$2:$B$4</c:f>
              <c:numCache>
                <c:formatCode>General</c:formatCode>
                <c:ptCount val="3"/>
                <c:pt idx="0">
                  <c:v>37</c:v>
                </c:pt>
                <c:pt idx="1">
                  <c:v>35</c:v>
                </c:pt>
                <c:pt idx="2">
                  <c:v>31</c:v>
                </c:pt>
              </c:numCache>
            </c:numRef>
          </c:val>
        </c:ser>
        <c:dLbls>
          <c:numFmt formatCode="0&quot;%&quot;" sourceLinked="0"/>
          <c:txPr>
            <a:bodyPr/>
            <a:lstStyle/>
            <a:p>
              <a:pPr>
                <a:defRPr b="0" i="0" strike="noStrike" sz="1100" u="none">
                  <a:solidFill>
                    <a:srgbClr val="1E2761"/>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506B"/>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78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c:v>
                </c:pt>
              </c:strCache>
            </c:strRef>
          </c:tx>
          <c:spPr>
            <a:solidFill>
              <a:srgbClr val="1E276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Furniture</c:v>
                  </c:pt>
                  <c:pt idx="1">
                    <c:v>Sports &amp; Fitness</c:v>
                  </c:pt>
                  <c:pt idx="2">
                    <c:v>Electronics</c:v>
                  </c:pt>
                  <c:pt idx="3">
                    <c:v>Home &amp; Lifestyle</c:v>
                  </c:pt>
                  <c:pt idx="4">
                    <c:v>Office Supplies</c:v>
                  </c:pt>
                </c:lvl>
              </c:multiLvlStrCache>
            </c:multiLvlStrRef>
          </c:cat>
          <c:val>
            <c:numRef>
              <c:f>Sheet1!$B$2:$B$6</c:f>
              <c:numCache>
                <c:formatCode>General</c:formatCode>
                <c:ptCount val="5"/>
                <c:pt idx="0">
                  <c:v>65.91</c:v>
                </c:pt>
                <c:pt idx="1">
                  <c:v>41.62</c:v>
                </c:pt>
                <c:pt idx="2">
                  <c:v>32.15</c:v>
                </c:pt>
                <c:pt idx="3">
                  <c:v>31.85</c:v>
                </c:pt>
                <c:pt idx="4">
                  <c:v>2.85</c:v>
                </c:pt>
              </c:numCache>
            </c:numRef>
          </c:val>
        </c:ser>
        <c:ser>
          <c:idx val="1"/>
          <c:order val="1"/>
          <c:tx>
            <c:strRef>
              <c:f>Sheet1!$C$1</c:f>
              <c:strCache>
                <c:ptCount val="1"/>
                <c:pt idx="0">
                  <c:v>Gross Profit</c:v>
                </c:pt>
              </c:strCache>
            </c:strRef>
          </c:tx>
          <c:spPr>
            <a:solidFill>
              <a:srgbClr val="D99B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Furniture</c:v>
                  </c:pt>
                  <c:pt idx="1">
                    <c:v>Sports &amp; Fitness</c:v>
                  </c:pt>
                  <c:pt idx="2">
                    <c:v>Electronics</c:v>
                  </c:pt>
                  <c:pt idx="3">
                    <c:v>Home &amp; Lifestyle</c:v>
                  </c:pt>
                  <c:pt idx="4">
                    <c:v>Office Supplies</c:v>
                  </c:pt>
                </c:lvl>
              </c:multiLvlStrCache>
            </c:multiLvlStrRef>
          </c:cat>
          <c:val>
            <c:numRef>
              <c:f>Sheet1!$C$2:$C$6</c:f>
              <c:numCache>
                <c:formatCode>General</c:formatCode>
                <c:ptCount val="5"/>
                <c:pt idx="0">
                  <c:v>16.51</c:v>
                </c:pt>
                <c:pt idx="1">
                  <c:v>10.37</c:v>
                </c:pt>
                <c:pt idx="2">
                  <c:v>10.44</c:v>
                </c:pt>
                <c:pt idx="3">
                  <c:v>8.5</c:v>
                </c:pt>
                <c:pt idx="4">
                  <c:v>1.1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4506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DCE3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7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Arial"/>
              </a:defRPr>
            </a:pPr>
            <a:r>
              <a:rPr sz="1200" b="0" i="0" u="none" strike="noStrike">
                <a:solidFill>
                  <a:srgbClr val="1E2761"/>
                </a:solidFill>
                <a:latin typeface="Arial"/>
              </a:rPr>
              <a:t>Gross Margin by Region</a:t>
            </a:r>
          </a:p>
        </c:rich>
      </c:tx>
      <c:layout/>
      <c:overlay val="0"/>
    </c:title>
    <c:autoTitleDeleted val="0"/>
    <c:plotArea>
      <c:layout/>
      <c:barChart>
        <c:barDir val="col"/>
        <c:grouping val="clustered"/>
        <c:varyColors val="0"/>
        <c:ser>
          <c:idx val="0"/>
          <c:order val="0"/>
          <c:tx>
            <c:strRef>
              <c:f>Sheet1!$B$1</c:f>
              <c:strCache>
                <c:ptCount val="1"/>
                <c:pt idx="0">
                  <c:v>Gross Margin %</c:v>
                </c:pt>
              </c:strCache>
            </c:strRef>
          </c:tx>
          <c:spPr>
            <a:solidFill>
              <a:srgbClr val="3D5A99"/>
            </a:solidFill>
            <a:effectLst/>
          </c:spPr>
          <c:invertIfNegative val="0"/>
          <c:dLbls>
            <c:numFmt formatCode="0.0&quot;%&quot;" sourceLinked="0"/>
            <c:txPr>
              <a:bodyPr/>
              <a:lstStyle/>
              <a:p>
                <a:pPr>
                  <a:defRPr b="0" i="0" strike="noStrike" sz="1000" u="none">
                    <a:solidFill>
                      <a:srgbClr val="1E2761"/>
                    </a:solidFill>
                    <a:latin typeface="Arial"/>
                  </a:defRPr>
                </a:pPr>
              </a:p>
            </c:txPr>
            <c:showLegendKey val="0"/>
            <c:showVal val="1"/>
            <c:showCatName val="0"/>
            <c:showSerName val="0"/>
            <c:showPercent val="0"/>
            <c:showBubbleSize val="0"/>
            <c:showLeaderLines val="0"/>
          </c:dLbls>
          <c:dPt>
            <c:idx val="0"/>
            <c:invertIfNegative val="0"/>
            <c:bubble3D val="0"/>
            <c:spPr>
              <a:solidFill>
                <a:srgbClr val="3D5A99"/>
              </a:solidFill>
              <a:effectLst/>
            </c:spPr>
          </c:dPt>
          <c:dPt>
            <c:idx val="1"/>
            <c:invertIfNegative val="0"/>
            <c:bubble3D val="0"/>
            <c:spPr>
              <a:solidFill>
                <a:srgbClr val="3D5A99"/>
              </a:solidFill>
              <a:effectLst/>
            </c:spPr>
          </c:dPt>
          <c:dPt>
            <c:idx val="2"/>
            <c:invertIfNegative val="0"/>
            <c:bubble3D val="0"/>
            <c:spPr>
              <a:solidFill>
                <a:srgbClr val="D99B2B"/>
              </a:solidFill>
              <a:effectLst/>
            </c:spPr>
          </c:dPt>
          <c:dPt>
            <c:idx val="3"/>
            <c:invertIfNegative val="0"/>
            <c:bubble3D val="0"/>
            <c:spPr>
              <a:solidFill>
                <a:srgbClr val="3D5A99"/>
              </a:solidFill>
              <a:effectLst/>
            </c:spPr>
          </c:dPt>
          <c:cat>
            <c:multiLvlStrRef>
              <c:f>Sheet1!$A$2:$A$5</c:f>
              <c:multiLvlStrCache>
                <c:ptCount val="4"/>
                <c:lvl>
                  <c:pt idx="0">
                    <c:v>South</c:v>
                  </c:pt>
                  <c:pt idx="1">
                    <c:v>North</c:v>
                  </c:pt>
                  <c:pt idx="2">
                    <c:v>West</c:v>
                  </c:pt>
                  <c:pt idx="3">
                    <c:v>East</c:v>
                  </c:pt>
                </c:lvl>
              </c:multiLvlStrCache>
            </c:multiLvlStrRef>
          </c:cat>
          <c:val>
            <c:numRef>
              <c:f>Sheet1!$B$2:$B$5</c:f>
              <c:numCache>
                <c:formatCode>General</c:formatCode>
                <c:ptCount val="4"/>
                <c:pt idx="0">
                  <c:v>26.43</c:v>
                </c:pt>
                <c:pt idx="1">
                  <c:v>27.19</c:v>
                </c:pt>
                <c:pt idx="2">
                  <c:v>27.5</c:v>
                </c:pt>
                <c:pt idx="3">
                  <c:v>26.82</c:v>
                </c:pt>
              </c:numCache>
            </c:numRef>
          </c:val>
        </c:ser>
        <c:dLbls>
          <c:numFmt formatCode="0.0&quot;%&quot;" sourceLinked="0"/>
          <c:txPr>
            <a:bodyPr/>
            <a:lstStyle/>
            <a:p>
              <a:pPr>
                <a:defRPr b="0" i="0" strike="noStrike" sz="1000" u="none">
                  <a:solidFill>
                    <a:srgbClr val="1E2761"/>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506B"/>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project name and a one-line framing: this is an end-to-end retail profitability analysis built with Python, SQL, Power BI and Excel. Keep this to 10-15 seconds - it's a title slide, not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business problem before touching any data: revenue growth doesn't guarantee profit growth. State the central question verbatim - it's the thesis of the whole deck. Then preview the five questions the analysis answers, without answering them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scale and credibility quickly: 10,000 orders, 1,000 customers, 50 products, three years of data. Note it's a synthetic but realistically-modeled dataset - be upfront about this if asked. Close by naming the six analytical dimensions you'll cut the data 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pipeline. Emphasize that each tool had a distinct job rather than overlapping redundantly: Python for generation/validation, Excel for a first look, SQL for the heavy transformation and business-logic validation, Power BI for the interactive analytical layer, and the last two boxes for turning numbers into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technical-credibility slide. Explain the star-schema logic: one fact table at order grain (Order_ID is the transaction key) joined to six dimension tables. Naming the five core metrics here sets up every KPI shown later in the deck. Keep it brief - this slide supports the story, it isn't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anchor slide - spend real time here. Walk through the KPI cards, then the Gross Sales to Gross Profit flow so the audience sees exactly how discount and COGS erode the top line into the bottom line. Land on the executive insight: strong aggregate performance masks real variation underneath, which is exactly what the rest of the deck unpacks.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distinction between absolute profit and margin efficiency - this is one of the strongest analytical points in the project, so slow down here. Top named customers skew Corporate (large absolute gross profit), but Consumer has the best segment margin at 37%. These are not contradictory findings - they're two different lenses management needs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Furniture dominates on scale, Electronics balances scale and margin well (32.46%), and Office Supplies is the outlier - tiny revenue base but the best margin in the portfolio at 38.74%. Close on the key message: revenue leadership and margin leadership are not the same product or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South is the clear scale leader in both revenue and gross profit. West is smaller but posts the best margin at 27.50%, making it a useful internal benchmark for what efficient regional operations look like. Frame this as 'scale versus efficiency' - the same theme as the customer slide, now at a regional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 still leads on absolute revenue and gross profit, but Online has more orders and a roughly 1.10 point higher margin. This is a natural segue into the recommendation to grow Online deliberately rather than assuming Store is simply the better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waterfall left to right: gross sales erode by a 10.18% discount rate down to revenue, then COGS strips out further to gross profit. The point isn't that discounting is bad - it's that a flat, un-targeted 10%+ discount rate deserves scrutiny against which segments/products actually need it to convert.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synthesis slide, not a new-information slide - move quickly since the audience has seen each point already. Use it to demonstrate that you can compress six analyses into six one-line takeaways, which is exactly the skill a BI manager is hiring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recommendation should trace directly back to an insight from the previous slides - point that out explicitly if asked ('this follows from the Electronics finding on slide 8'). This is where you show business judgment, not just analysis - recruiters are listening for whether you can turn a chart into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transformation arc from raw transactions to management decisions, then deliver the final message slowly - it's the single sentence you want the interviewer to remember: revenue scale, customer value and margin efficiency are three different dimensions, and a good growth strategy optimizes all three together. Mention the validation steps briefly to signal rigor, then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Shape 1"/>
          <p:cNvSpPr/>
          <p:nvPr/>
        </p:nvSpPr>
        <p:spPr>
          <a:xfrm>
            <a:off x="8778240" y="4206240"/>
            <a:ext cx="5486400" cy="5486400"/>
          </a:xfrm>
          <a:prstGeom prst="ellipse">
            <a:avLst/>
          </a:prstGeom>
          <a:solidFill>
            <a:srgbClr val="141B47"/>
          </a:solidFill>
          <a:ln/>
        </p:spPr>
      </p:sp>
      <p:sp>
        <p:nvSpPr>
          <p:cNvPr id="4" name="Shape 2"/>
          <p:cNvSpPr/>
          <p:nvPr/>
        </p:nvSpPr>
        <p:spPr>
          <a:xfrm>
            <a:off x="9692640" y="5120640"/>
            <a:ext cx="3657600" cy="3657600"/>
          </a:xfrm>
          <a:prstGeom prst="ellipse">
            <a:avLst/>
          </a:prstGeom>
          <a:solidFill>
            <a:srgbClr val="232C5C"/>
          </a:solidFill>
          <a:ln/>
        </p:spPr>
      </p:sp>
      <p:sp>
        <p:nvSpPr>
          <p:cNvPr id="5" name="Text 3"/>
          <p:cNvSpPr/>
          <p:nvPr/>
        </p:nvSpPr>
        <p:spPr>
          <a:xfrm>
            <a:off x="822960" y="1965960"/>
            <a:ext cx="7315200" cy="365760"/>
          </a:xfrm>
          <a:prstGeom prst="rect">
            <a:avLst/>
          </a:prstGeom>
          <a:noFill/>
          <a:ln/>
        </p:spPr>
        <p:txBody>
          <a:bodyPr wrap="square" lIns="0" tIns="0" rIns="0" bIns="0" rtlCol="0" anchor="ctr"/>
          <a:lstStyle/>
          <a:p>
            <a:pPr indent="0" marL="0">
              <a:buNone/>
            </a:pPr>
            <a:r>
              <a:rPr lang="en-US" sz="1300" b="1" spc="250" kern="0" dirty="0">
                <a:solidFill>
                  <a:srgbClr val="D99B2B"/>
                </a:solidFill>
                <a:latin typeface="Calibri" pitchFamily="34" charset="0"/>
                <a:ea typeface="Calibri" pitchFamily="34" charset="-122"/>
                <a:cs typeface="Calibri" pitchFamily="34" charset="-120"/>
              </a:rPr>
              <a:t>DATA ANALYTICS PORTFOLIO PROJECT</a:t>
            </a:r>
            <a:endParaRPr lang="en-US" sz="1300" dirty="0"/>
          </a:p>
        </p:txBody>
      </p:sp>
      <p:sp>
        <p:nvSpPr>
          <p:cNvPr id="6" name="Text 4"/>
          <p:cNvSpPr/>
          <p:nvPr/>
        </p:nvSpPr>
        <p:spPr>
          <a:xfrm>
            <a:off x="777240" y="2377440"/>
            <a:ext cx="896112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NexaMart Customer Profitability</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&amp; Revenue Intelligence</a:t>
            </a:r>
            <a:endParaRPr lang="en-US" sz="4000" dirty="0"/>
          </a:p>
        </p:txBody>
      </p:sp>
      <p:sp>
        <p:nvSpPr>
          <p:cNvPr id="7" name="Text 5"/>
          <p:cNvSpPr/>
          <p:nvPr/>
        </p:nvSpPr>
        <p:spPr>
          <a:xfrm>
            <a:off x="822960" y="4160520"/>
            <a:ext cx="7772400" cy="457200"/>
          </a:xfrm>
          <a:prstGeom prst="rect">
            <a:avLst/>
          </a:prstGeom>
          <a:noFill/>
          <a:ln/>
        </p:spPr>
        <p:txBody>
          <a:bodyPr wrap="square" lIns="0" tIns="0" rIns="0" bIns="0"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End-to-End Retail Business Analytics Project</a:t>
            </a:r>
            <a:endParaRPr lang="en-US" sz="1700" dirty="0"/>
          </a:p>
        </p:txBody>
      </p:sp>
      <p:sp>
        <p:nvSpPr>
          <p:cNvPr id="8" name="Shape 6"/>
          <p:cNvSpPr/>
          <p:nvPr/>
        </p:nvSpPr>
        <p:spPr>
          <a:xfrm>
            <a:off x="822960" y="5074920"/>
            <a:ext cx="1417320" cy="502920"/>
          </a:xfrm>
          <a:prstGeom prst="roundRect">
            <a:avLst>
              <a:gd name="adj" fmla="val 50909"/>
            </a:avLst>
          </a:prstGeom>
          <a:solidFill>
            <a:srgbClr val="2A3570"/>
          </a:solidFill>
          <a:ln w="12700">
            <a:solidFill>
              <a:srgbClr val="3B4685"/>
            </a:solidFill>
            <a:prstDash val="solid"/>
          </a:ln>
        </p:spPr>
      </p:sp>
      <p:sp>
        <p:nvSpPr>
          <p:cNvPr id="9" name="Text 7"/>
          <p:cNvSpPr/>
          <p:nvPr/>
        </p:nvSpPr>
        <p:spPr>
          <a:xfrm>
            <a:off x="822960" y="5074920"/>
            <a:ext cx="141732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Python</a:t>
            </a:r>
            <a:endParaRPr lang="en-US" sz="1250" dirty="0"/>
          </a:p>
        </p:txBody>
      </p:sp>
      <p:sp>
        <p:nvSpPr>
          <p:cNvPr id="10" name="Shape 8"/>
          <p:cNvSpPr/>
          <p:nvPr/>
        </p:nvSpPr>
        <p:spPr>
          <a:xfrm>
            <a:off x="2468880" y="5074920"/>
            <a:ext cx="1417320" cy="502920"/>
          </a:xfrm>
          <a:prstGeom prst="roundRect">
            <a:avLst>
              <a:gd name="adj" fmla="val 50909"/>
            </a:avLst>
          </a:prstGeom>
          <a:solidFill>
            <a:srgbClr val="2A3570"/>
          </a:solidFill>
          <a:ln w="12700">
            <a:solidFill>
              <a:srgbClr val="3B4685"/>
            </a:solidFill>
            <a:prstDash val="solid"/>
          </a:ln>
        </p:spPr>
      </p:sp>
      <p:sp>
        <p:nvSpPr>
          <p:cNvPr id="11" name="Text 9"/>
          <p:cNvSpPr/>
          <p:nvPr/>
        </p:nvSpPr>
        <p:spPr>
          <a:xfrm>
            <a:off x="2468880" y="5074920"/>
            <a:ext cx="141732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SQL</a:t>
            </a:r>
            <a:endParaRPr lang="en-US" sz="1250" dirty="0"/>
          </a:p>
        </p:txBody>
      </p:sp>
      <p:sp>
        <p:nvSpPr>
          <p:cNvPr id="12" name="Shape 10"/>
          <p:cNvSpPr/>
          <p:nvPr/>
        </p:nvSpPr>
        <p:spPr>
          <a:xfrm>
            <a:off x="4114800" y="5074920"/>
            <a:ext cx="1417320" cy="502920"/>
          </a:xfrm>
          <a:prstGeom prst="roundRect">
            <a:avLst>
              <a:gd name="adj" fmla="val 50909"/>
            </a:avLst>
          </a:prstGeom>
          <a:solidFill>
            <a:srgbClr val="2A3570"/>
          </a:solidFill>
          <a:ln w="12700">
            <a:solidFill>
              <a:srgbClr val="3B4685"/>
            </a:solidFill>
            <a:prstDash val="solid"/>
          </a:ln>
        </p:spPr>
      </p:sp>
      <p:sp>
        <p:nvSpPr>
          <p:cNvPr id="13" name="Text 11"/>
          <p:cNvSpPr/>
          <p:nvPr/>
        </p:nvSpPr>
        <p:spPr>
          <a:xfrm>
            <a:off x="4114800" y="5074920"/>
            <a:ext cx="141732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Power BI</a:t>
            </a:r>
            <a:endParaRPr lang="en-US" sz="1250" dirty="0"/>
          </a:p>
        </p:txBody>
      </p:sp>
      <p:sp>
        <p:nvSpPr>
          <p:cNvPr id="14" name="Shape 12"/>
          <p:cNvSpPr/>
          <p:nvPr/>
        </p:nvSpPr>
        <p:spPr>
          <a:xfrm>
            <a:off x="5760720" y="5074920"/>
            <a:ext cx="1417320" cy="502920"/>
          </a:xfrm>
          <a:prstGeom prst="roundRect">
            <a:avLst>
              <a:gd name="adj" fmla="val 50909"/>
            </a:avLst>
          </a:prstGeom>
          <a:solidFill>
            <a:srgbClr val="2A3570"/>
          </a:solidFill>
          <a:ln w="12700">
            <a:solidFill>
              <a:srgbClr val="3B4685"/>
            </a:solidFill>
            <a:prstDash val="solid"/>
          </a:ln>
        </p:spPr>
      </p:sp>
      <p:sp>
        <p:nvSpPr>
          <p:cNvPr id="15" name="Text 13"/>
          <p:cNvSpPr/>
          <p:nvPr/>
        </p:nvSpPr>
        <p:spPr>
          <a:xfrm>
            <a:off x="5760720" y="5074920"/>
            <a:ext cx="141732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Excel</a:t>
            </a:r>
            <a:endParaRPr lang="en-US" sz="1250" dirty="0"/>
          </a:p>
        </p:txBody>
      </p:sp>
      <p:sp>
        <p:nvSpPr>
          <p:cNvPr id="16" name="Text 14"/>
          <p:cNvSpPr/>
          <p:nvPr/>
        </p:nvSpPr>
        <p:spPr>
          <a:xfrm>
            <a:off x="822960" y="6263640"/>
            <a:ext cx="7315200" cy="274320"/>
          </a:xfrm>
          <a:prstGeom prst="rect">
            <a:avLst/>
          </a:prstGeom>
          <a:noFill/>
          <a:ln/>
        </p:spPr>
        <p:txBody>
          <a:bodyPr wrap="square" lIns="0" tIns="0" rIns="0" bIns="0" rtlCol="0" anchor="ctr"/>
          <a:lstStyle/>
          <a:p>
            <a:pPr indent="0" marL="0">
              <a:buNone/>
            </a:pPr>
            <a:r>
              <a:rPr lang="en-US" sz="1050" dirty="0">
                <a:solidFill>
                  <a:srgbClr val="5B6785"/>
                </a:solidFill>
                <a:latin typeface="Calibri" pitchFamily="34" charset="0"/>
                <a:ea typeface="Calibri" pitchFamily="34" charset="-122"/>
                <a:cs typeface="Calibri" pitchFamily="34" charset="-120"/>
              </a:rPr>
              <a:t>Prepared for Data Analyst / Business Intelligence interview review</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indent="0" marL="0">
              <a:buNone/>
            </a:pPr>
            <a:r>
              <a:rPr lang="en-US" sz="1150" b="1" spc="200" kern="0" dirty="0">
                <a:solidFill>
                  <a:srgbClr val="D99B2B"/>
                </a:solidFill>
                <a:latin typeface="Calibri" pitchFamily="34" charset="0"/>
                <a:ea typeface="Calibri" pitchFamily="34" charset="-122"/>
                <a:cs typeface="Calibri" pitchFamily="34" charset="-120"/>
              </a:rPr>
              <a:t>BUSINESS CONTEXT</a:t>
            </a:r>
            <a:endParaRPr lang="en-US" sz="1150" dirty="0"/>
          </a:p>
        </p:txBody>
      </p:sp>
      <p:sp>
        <p:nvSpPr>
          <p:cNvPr id="3" name="Text 1"/>
          <p:cNvSpPr/>
          <p:nvPr/>
        </p:nvSpPr>
        <p:spPr>
          <a:xfrm>
            <a:off x="457200" y="56692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Revenue Scale Does Not Guarantee Profit</a:t>
            </a:r>
            <a:endParaRPr lang="en-US" sz="3000" dirty="0"/>
          </a:p>
        </p:txBody>
      </p:sp>
      <p:sp>
        <p:nvSpPr>
          <p:cNvPr id="4" name="Text 2"/>
          <p:cNvSpPr/>
          <p:nvPr/>
        </p:nvSpPr>
        <p:spPr>
          <a:xfrm>
            <a:off x="457200" y="1325880"/>
            <a:ext cx="6035040" cy="1051560"/>
          </a:xfrm>
          <a:prstGeom prst="rect">
            <a:avLst/>
          </a:prstGeom>
          <a:noFill/>
          <a:ln/>
        </p:spPr>
        <p:txBody>
          <a:bodyPr wrap="square" lIns="0" tIns="0" rIns="0" bIns="0" rtlCol="0" anchor="ctr"/>
          <a:lstStyle/>
          <a:p>
            <a:pPr indent="0" marL="0">
              <a:lnSpc>
                <a:spcPct val="120000"/>
              </a:lnSpc>
              <a:buNone/>
            </a:pPr>
            <a:r>
              <a:rPr lang="en-US" sz="1300" dirty="0">
                <a:solidFill>
                  <a:srgbClr val="44506B"/>
                </a:solidFill>
                <a:latin typeface="Calibri" pitchFamily="34" charset="0"/>
                <a:ea typeface="Calibri" pitchFamily="34" charset="-122"/>
                <a:cs typeface="Calibri" pitchFamily="34" charset="-120"/>
              </a:rPr>
              <a:t>NexaMart is a multi-category retail business operating across multiple regions and two sales channels. As the business has grown, revenue and profit have not moved in lockstep — raising a core management question.</a:t>
            </a:r>
            <a:endParaRPr lang="en-US" sz="1300" dirty="0"/>
          </a:p>
        </p:txBody>
      </p:sp>
      <p:sp>
        <p:nvSpPr>
          <p:cNvPr id="5" name="Shape 3"/>
          <p:cNvSpPr/>
          <p:nvPr/>
        </p:nvSpPr>
        <p:spPr>
          <a:xfrm>
            <a:off x="457200" y="2514600"/>
            <a:ext cx="6035040" cy="1234440"/>
          </a:xfrm>
          <a:prstGeom prst="roundRect">
            <a:avLst>
              <a:gd name="adj" fmla="val 5926"/>
            </a:avLst>
          </a:prstGeom>
          <a:solidFill>
            <a:srgbClr val="1E2761"/>
          </a:solidFill>
          <a:ln/>
        </p:spPr>
      </p:sp>
      <p:sp>
        <p:nvSpPr>
          <p:cNvPr id="6" name="Text 4"/>
          <p:cNvSpPr/>
          <p:nvPr/>
        </p:nvSpPr>
        <p:spPr>
          <a:xfrm>
            <a:off x="731520" y="2514600"/>
            <a:ext cx="5486400" cy="1234440"/>
          </a:xfrm>
          <a:prstGeom prst="rect">
            <a:avLst/>
          </a:prstGeom>
          <a:noFill/>
          <a:ln/>
        </p:spPr>
        <p:txBody>
          <a:bodyPr wrap="square" lIns="0" tIns="0" rIns="0" bIns="0" rtlCol="0" anchor="ctr"/>
          <a:lstStyle/>
          <a:p>
            <a:pPr algn="l" indent="0" marL="0">
              <a:lnSpc>
                <a:spcPct val="115000"/>
              </a:lnSpc>
              <a:buNone/>
            </a:pPr>
            <a:r>
              <a:rPr lang="en-US" sz="1550" b="1" i="1" dirty="0">
                <a:solidFill>
                  <a:srgbClr val="FFFFFF"/>
                </a:solidFill>
                <a:latin typeface="Cambria" pitchFamily="34" charset="0"/>
                <a:ea typeface="Cambria" pitchFamily="34" charset="-122"/>
                <a:cs typeface="Cambria" pitchFamily="34" charset="-120"/>
              </a:rPr>
              <a:t>“Where is NexaMart generating revenue, and where is it actually creating profitable value?”</a:t>
            </a:r>
            <a:endParaRPr lang="en-US" sz="1550" dirty="0"/>
          </a:p>
        </p:txBody>
      </p:sp>
      <p:sp>
        <p:nvSpPr>
          <p:cNvPr id="7" name="Text 5"/>
          <p:cNvSpPr/>
          <p:nvPr/>
        </p:nvSpPr>
        <p:spPr>
          <a:xfrm>
            <a:off x="457200" y="3977640"/>
            <a:ext cx="6035040" cy="32004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This analysis was built to answer five questions:</a:t>
            </a:r>
            <a:endParaRPr lang="en-US" sz="1250" dirty="0"/>
          </a:p>
        </p:txBody>
      </p:sp>
      <p:sp>
        <p:nvSpPr>
          <p:cNvPr id="8" name="Shape 6"/>
          <p:cNvSpPr/>
          <p:nvPr/>
        </p:nvSpPr>
        <p:spPr>
          <a:xfrm>
            <a:off x="457200" y="4416552"/>
            <a:ext cx="237744" cy="237744"/>
          </a:xfrm>
          <a:prstGeom prst="ellipse">
            <a:avLst/>
          </a:prstGeom>
          <a:solidFill>
            <a:srgbClr val="D99B2B"/>
          </a:solidFill>
          <a:ln/>
        </p:spPr>
      </p:sp>
      <p:sp>
        <p:nvSpPr>
          <p:cNvPr id="9" name="Text 7"/>
          <p:cNvSpPr/>
          <p:nvPr/>
        </p:nvSpPr>
        <p:spPr>
          <a:xfrm>
            <a:off x="457200" y="4416552"/>
            <a:ext cx="237744" cy="237744"/>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1</a:t>
            </a:r>
            <a:endParaRPr lang="en-US" sz="1050" dirty="0"/>
          </a:p>
        </p:txBody>
      </p:sp>
      <p:sp>
        <p:nvSpPr>
          <p:cNvPr id="10" name="Text 8"/>
          <p:cNvSpPr/>
          <p:nvPr/>
        </p:nvSpPr>
        <p:spPr>
          <a:xfrm>
            <a:off x="822960" y="4389120"/>
            <a:ext cx="5486400" cy="292608"/>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Which customers are most valuable?</a:t>
            </a:r>
            <a:endParaRPr lang="en-US" sz="1200" dirty="0"/>
          </a:p>
        </p:txBody>
      </p:sp>
      <p:sp>
        <p:nvSpPr>
          <p:cNvPr id="11" name="Shape 9"/>
          <p:cNvSpPr/>
          <p:nvPr/>
        </p:nvSpPr>
        <p:spPr>
          <a:xfrm>
            <a:off x="457200" y="4800600"/>
            <a:ext cx="237744" cy="237744"/>
          </a:xfrm>
          <a:prstGeom prst="ellipse">
            <a:avLst/>
          </a:prstGeom>
          <a:solidFill>
            <a:srgbClr val="D99B2B"/>
          </a:solidFill>
          <a:ln/>
        </p:spPr>
      </p:sp>
      <p:sp>
        <p:nvSpPr>
          <p:cNvPr id="12" name="Text 10"/>
          <p:cNvSpPr/>
          <p:nvPr/>
        </p:nvSpPr>
        <p:spPr>
          <a:xfrm>
            <a:off x="457200" y="4800600"/>
            <a:ext cx="237744" cy="237744"/>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2</a:t>
            </a:r>
            <a:endParaRPr lang="en-US" sz="1050" dirty="0"/>
          </a:p>
        </p:txBody>
      </p:sp>
      <p:sp>
        <p:nvSpPr>
          <p:cNvPr id="13" name="Text 11"/>
          <p:cNvSpPr/>
          <p:nvPr/>
        </p:nvSpPr>
        <p:spPr>
          <a:xfrm>
            <a:off x="822960" y="4773168"/>
            <a:ext cx="5486400" cy="292608"/>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Which products / categories are most profitable?</a:t>
            </a:r>
            <a:endParaRPr lang="en-US" sz="1200" dirty="0"/>
          </a:p>
        </p:txBody>
      </p:sp>
      <p:sp>
        <p:nvSpPr>
          <p:cNvPr id="14" name="Shape 12"/>
          <p:cNvSpPr/>
          <p:nvPr/>
        </p:nvSpPr>
        <p:spPr>
          <a:xfrm>
            <a:off x="457200" y="5184648"/>
            <a:ext cx="237744" cy="237744"/>
          </a:xfrm>
          <a:prstGeom prst="ellipse">
            <a:avLst/>
          </a:prstGeom>
          <a:solidFill>
            <a:srgbClr val="D99B2B"/>
          </a:solidFill>
          <a:ln/>
        </p:spPr>
      </p:sp>
      <p:sp>
        <p:nvSpPr>
          <p:cNvPr id="15" name="Text 13"/>
          <p:cNvSpPr/>
          <p:nvPr/>
        </p:nvSpPr>
        <p:spPr>
          <a:xfrm>
            <a:off x="457200" y="5184648"/>
            <a:ext cx="237744" cy="237744"/>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3</a:t>
            </a:r>
            <a:endParaRPr lang="en-US" sz="1050" dirty="0"/>
          </a:p>
        </p:txBody>
      </p:sp>
      <p:sp>
        <p:nvSpPr>
          <p:cNvPr id="16" name="Text 14"/>
          <p:cNvSpPr/>
          <p:nvPr/>
        </p:nvSpPr>
        <p:spPr>
          <a:xfrm>
            <a:off x="822960" y="5157216"/>
            <a:ext cx="5486400" cy="292608"/>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Which regions perform best?</a:t>
            </a:r>
            <a:endParaRPr lang="en-US" sz="1200" dirty="0"/>
          </a:p>
        </p:txBody>
      </p:sp>
      <p:sp>
        <p:nvSpPr>
          <p:cNvPr id="17" name="Shape 15"/>
          <p:cNvSpPr/>
          <p:nvPr/>
        </p:nvSpPr>
        <p:spPr>
          <a:xfrm>
            <a:off x="457200" y="5568696"/>
            <a:ext cx="237744" cy="237744"/>
          </a:xfrm>
          <a:prstGeom prst="ellipse">
            <a:avLst/>
          </a:prstGeom>
          <a:solidFill>
            <a:srgbClr val="D99B2B"/>
          </a:solidFill>
          <a:ln/>
        </p:spPr>
      </p:sp>
      <p:sp>
        <p:nvSpPr>
          <p:cNvPr id="18" name="Text 16"/>
          <p:cNvSpPr/>
          <p:nvPr/>
        </p:nvSpPr>
        <p:spPr>
          <a:xfrm>
            <a:off x="457200" y="5568696"/>
            <a:ext cx="237744" cy="237744"/>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4</a:t>
            </a:r>
            <a:endParaRPr lang="en-US" sz="1050" dirty="0"/>
          </a:p>
        </p:txBody>
      </p:sp>
      <p:sp>
        <p:nvSpPr>
          <p:cNvPr id="19" name="Text 17"/>
          <p:cNvSpPr/>
          <p:nvPr/>
        </p:nvSpPr>
        <p:spPr>
          <a:xfrm>
            <a:off x="822960" y="5541264"/>
            <a:ext cx="5486400" cy="292608"/>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Which channel is more efficient?</a:t>
            </a:r>
            <a:endParaRPr lang="en-US" sz="1200" dirty="0"/>
          </a:p>
        </p:txBody>
      </p:sp>
      <p:sp>
        <p:nvSpPr>
          <p:cNvPr id="20" name="Shape 18"/>
          <p:cNvSpPr/>
          <p:nvPr/>
        </p:nvSpPr>
        <p:spPr>
          <a:xfrm>
            <a:off x="457200" y="5952744"/>
            <a:ext cx="237744" cy="237744"/>
          </a:xfrm>
          <a:prstGeom prst="ellipse">
            <a:avLst/>
          </a:prstGeom>
          <a:solidFill>
            <a:srgbClr val="D99B2B"/>
          </a:solidFill>
          <a:ln/>
        </p:spPr>
      </p:sp>
      <p:sp>
        <p:nvSpPr>
          <p:cNvPr id="21" name="Text 19"/>
          <p:cNvSpPr/>
          <p:nvPr/>
        </p:nvSpPr>
        <p:spPr>
          <a:xfrm>
            <a:off x="457200" y="5952744"/>
            <a:ext cx="237744" cy="237744"/>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5</a:t>
            </a:r>
            <a:endParaRPr lang="en-US" sz="1050" dirty="0"/>
          </a:p>
        </p:txBody>
      </p:sp>
      <p:sp>
        <p:nvSpPr>
          <p:cNvPr id="22" name="Text 20"/>
          <p:cNvSpPr/>
          <p:nvPr/>
        </p:nvSpPr>
        <p:spPr>
          <a:xfrm>
            <a:off x="822960" y="5925312"/>
            <a:ext cx="5486400" cy="292608"/>
          </a:xfrm>
          <a:prstGeom prst="rect">
            <a:avLst/>
          </a:prstGeom>
          <a:noFill/>
          <a:ln/>
        </p:spPr>
        <p:txBody>
          <a:bodyPr wrap="square" lIns="0" tIns="0" rIns="0" bIns="0" rtlCol="0" anchor="ctr"/>
          <a:lstStyle/>
          <a:p>
            <a:pPr indent="0" marL="0">
              <a:buNone/>
            </a:pPr>
            <a:r>
              <a:rPr lang="en-US" sz="1200" dirty="0">
                <a:solidFill>
                  <a:srgbClr val="44506B"/>
                </a:solidFill>
                <a:latin typeface="Calibri" pitchFamily="34" charset="0"/>
                <a:ea typeface="Calibri" pitchFamily="34" charset="-122"/>
                <a:cs typeface="Calibri" pitchFamily="34" charset="-120"/>
              </a:rPr>
              <a:t>How do discounts affect profitability?</a:t>
            </a:r>
            <a:endParaRPr lang="en-US" sz="1200" dirty="0"/>
          </a:p>
        </p:txBody>
      </p:sp>
      <p:sp>
        <p:nvSpPr>
          <p:cNvPr id="23" name="Shape 21"/>
          <p:cNvSpPr/>
          <p:nvPr/>
        </p:nvSpPr>
        <p:spPr>
          <a:xfrm>
            <a:off x="6858000" y="1325880"/>
            <a:ext cx="4892040" cy="4754880"/>
          </a:xfrm>
          <a:prstGeom prst="roundRect">
            <a:avLst>
              <a:gd name="adj" fmla="val 1923"/>
            </a:avLst>
          </a:prstGeom>
          <a:solidFill>
            <a:srgbClr val="EEF3FC"/>
          </a:solidFill>
          <a:ln w="12700">
            <a:solidFill>
              <a:srgbClr val="DCE3F2"/>
            </a:solidFill>
            <a:prstDash val="solid"/>
          </a:ln>
        </p:spPr>
      </p:sp>
      <p:sp>
        <p:nvSpPr>
          <p:cNvPr id="24" name="Text 22"/>
          <p:cNvSpPr/>
          <p:nvPr/>
        </p:nvSpPr>
        <p:spPr>
          <a:xfrm>
            <a:off x="7132320" y="1554480"/>
            <a:ext cx="4389120" cy="292608"/>
          </a:xfrm>
          <a:prstGeom prst="rect">
            <a:avLst/>
          </a:prstGeom>
          <a:noFill/>
          <a:ln/>
        </p:spPr>
        <p:txBody>
          <a:bodyPr wrap="square" lIns="0" tIns="0" rIns="0" bIns="0" rtlCol="0" anchor="ctr"/>
          <a:lstStyle/>
          <a:p>
            <a:pPr indent="0" marL="0">
              <a:buNone/>
            </a:pPr>
            <a:r>
              <a:rPr lang="en-US" sz="1100" b="1" spc="150" kern="0" dirty="0">
                <a:solidFill>
                  <a:srgbClr val="1E2761"/>
                </a:solidFill>
                <a:latin typeface="Calibri" pitchFamily="34" charset="0"/>
                <a:ea typeface="Calibri" pitchFamily="34" charset="-122"/>
                <a:cs typeface="Calibri" pitchFamily="34" charset="-120"/>
              </a:rPr>
              <a:t>ANALYTICAL LENS</a:t>
            </a:r>
            <a:endParaRPr lang="en-US" sz="1100" dirty="0"/>
          </a:p>
        </p:txBody>
      </p:sp>
      <p:sp>
        <p:nvSpPr>
          <p:cNvPr id="25" name="Shape 23"/>
          <p:cNvSpPr/>
          <p:nvPr/>
        </p:nvSpPr>
        <p:spPr>
          <a:xfrm>
            <a:off x="7223760" y="2011680"/>
            <a:ext cx="4206240" cy="530352"/>
          </a:xfrm>
          <a:prstGeom prst="roundRect">
            <a:avLst>
              <a:gd name="adj" fmla="val 50000"/>
            </a:avLst>
          </a:prstGeom>
          <a:solidFill>
            <a:srgbClr val="FFFFFF"/>
          </a:solidFill>
          <a:ln w="12700">
            <a:solidFill>
              <a:srgbClr val="DCE3F2"/>
            </a:solidFill>
            <a:prstDash val="solid"/>
          </a:ln>
        </p:spPr>
      </p:sp>
      <p:sp>
        <p:nvSpPr>
          <p:cNvPr id="26" name="Text 24"/>
          <p:cNvSpPr/>
          <p:nvPr/>
        </p:nvSpPr>
        <p:spPr>
          <a:xfrm>
            <a:off x="7223760" y="2011680"/>
            <a:ext cx="4206240" cy="53035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Customer</a:t>
            </a:r>
            <a:endParaRPr lang="en-US" sz="1300" dirty="0"/>
          </a:p>
        </p:txBody>
      </p:sp>
      <p:sp>
        <p:nvSpPr>
          <p:cNvPr id="27" name="Text 25"/>
          <p:cNvSpPr/>
          <p:nvPr/>
        </p:nvSpPr>
        <p:spPr>
          <a:xfrm>
            <a:off x="7223760" y="2542032"/>
            <a:ext cx="4206240" cy="219456"/>
          </a:xfrm>
          <a:prstGeom prst="rect">
            <a:avLst/>
          </a:prstGeom>
          <a:noFill/>
          <a:ln/>
        </p:spPr>
        <p:txBody>
          <a:bodyPr wrap="square" lIns="0" tIns="0" rIns="0" bIns="0" rtlCol="0" anchor="ctr"/>
          <a:lstStyle/>
          <a:p>
            <a:pPr algn="ctr" indent="0" marL="0">
              <a:buNone/>
            </a:pPr>
            <a:r>
              <a:rPr lang="en-US" sz="1300" dirty="0">
                <a:solidFill>
                  <a:srgbClr val="5B6785"/>
                </a:solidFill>
              </a:rPr>
              <a:t>↓</a:t>
            </a:r>
            <a:endParaRPr lang="en-US" sz="1300" dirty="0"/>
          </a:p>
        </p:txBody>
      </p:sp>
      <p:sp>
        <p:nvSpPr>
          <p:cNvPr id="28" name="Shape 26"/>
          <p:cNvSpPr/>
          <p:nvPr/>
        </p:nvSpPr>
        <p:spPr>
          <a:xfrm>
            <a:off x="7223760" y="2761488"/>
            <a:ext cx="4206240" cy="530352"/>
          </a:xfrm>
          <a:prstGeom prst="roundRect">
            <a:avLst>
              <a:gd name="adj" fmla="val 50000"/>
            </a:avLst>
          </a:prstGeom>
          <a:solidFill>
            <a:srgbClr val="FFFFFF"/>
          </a:solidFill>
          <a:ln w="12700">
            <a:solidFill>
              <a:srgbClr val="DCE3F2"/>
            </a:solidFill>
            <a:prstDash val="solid"/>
          </a:ln>
        </p:spPr>
      </p:sp>
      <p:sp>
        <p:nvSpPr>
          <p:cNvPr id="29" name="Text 27"/>
          <p:cNvSpPr/>
          <p:nvPr/>
        </p:nvSpPr>
        <p:spPr>
          <a:xfrm>
            <a:off x="7223760" y="2761488"/>
            <a:ext cx="4206240" cy="53035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Product</a:t>
            </a:r>
            <a:endParaRPr lang="en-US" sz="1300" dirty="0"/>
          </a:p>
        </p:txBody>
      </p:sp>
      <p:sp>
        <p:nvSpPr>
          <p:cNvPr id="30" name="Text 28"/>
          <p:cNvSpPr/>
          <p:nvPr/>
        </p:nvSpPr>
        <p:spPr>
          <a:xfrm>
            <a:off x="7223760" y="3291840"/>
            <a:ext cx="4206240" cy="219456"/>
          </a:xfrm>
          <a:prstGeom prst="rect">
            <a:avLst/>
          </a:prstGeom>
          <a:noFill/>
          <a:ln/>
        </p:spPr>
        <p:txBody>
          <a:bodyPr wrap="square" lIns="0" tIns="0" rIns="0" bIns="0" rtlCol="0" anchor="ctr"/>
          <a:lstStyle/>
          <a:p>
            <a:pPr algn="ctr" indent="0" marL="0">
              <a:buNone/>
            </a:pPr>
            <a:r>
              <a:rPr lang="en-US" sz="1300" dirty="0">
                <a:solidFill>
                  <a:srgbClr val="5B6785"/>
                </a:solidFill>
              </a:rPr>
              <a:t>↓</a:t>
            </a:r>
            <a:endParaRPr lang="en-US" sz="1300" dirty="0"/>
          </a:p>
        </p:txBody>
      </p:sp>
      <p:sp>
        <p:nvSpPr>
          <p:cNvPr id="31" name="Shape 29"/>
          <p:cNvSpPr/>
          <p:nvPr/>
        </p:nvSpPr>
        <p:spPr>
          <a:xfrm>
            <a:off x="7223760" y="3511296"/>
            <a:ext cx="4206240" cy="530352"/>
          </a:xfrm>
          <a:prstGeom prst="roundRect">
            <a:avLst>
              <a:gd name="adj" fmla="val 50000"/>
            </a:avLst>
          </a:prstGeom>
          <a:solidFill>
            <a:srgbClr val="FFFFFF"/>
          </a:solidFill>
          <a:ln w="12700">
            <a:solidFill>
              <a:srgbClr val="DCE3F2"/>
            </a:solidFill>
            <a:prstDash val="solid"/>
          </a:ln>
        </p:spPr>
      </p:sp>
      <p:sp>
        <p:nvSpPr>
          <p:cNvPr id="32" name="Text 30"/>
          <p:cNvSpPr/>
          <p:nvPr/>
        </p:nvSpPr>
        <p:spPr>
          <a:xfrm>
            <a:off x="7223760" y="3511296"/>
            <a:ext cx="4206240" cy="53035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Region</a:t>
            </a:r>
            <a:endParaRPr lang="en-US" sz="1300" dirty="0"/>
          </a:p>
        </p:txBody>
      </p:sp>
      <p:sp>
        <p:nvSpPr>
          <p:cNvPr id="33" name="Text 31"/>
          <p:cNvSpPr/>
          <p:nvPr/>
        </p:nvSpPr>
        <p:spPr>
          <a:xfrm>
            <a:off x="7223760" y="4041648"/>
            <a:ext cx="4206240" cy="219456"/>
          </a:xfrm>
          <a:prstGeom prst="rect">
            <a:avLst/>
          </a:prstGeom>
          <a:noFill/>
          <a:ln/>
        </p:spPr>
        <p:txBody>
          <a:bodyPr wrap="square" lIns="0" tIns="0" rIns="0" bIns="0" rtlCol="0" anchor="ctr"/>
          <a:lstStyle/>
          <a:p>
            <a:pPr algn="ctr" indent="0" marL="0">
              <a:buNone/>
            </a:pPr>
            <a:r>
              <a:rPr lang="en-US" sz="1300" dirty="0">
                <a:solidFill>
                  <a:srgbClr val="5B6785"/>
                </a:solidFill>
              </a:rPr>
              <a:t>↓</a:t>
            </a:r>
            <a:endParaRPr lang="en-US" sz="1300" dirty="0"/>
          </a:p>
        </p:txBody>
      </p:sp>
      <p:sp>
        <p:nvSpPr>
          <p:cNvPr id="34" name="Shape 32"/>
          <p:cNvSpPr/>
          <p:nvPr/>
        </p:nvSpPr>
        <p:spPr>
          <a:xfrm>
            <a:off x="7223760" y="4261104"/>
            <a:ext cx="4206240" cy="530352"/>
          </a:xfrm>
          <a:prstGeom prst="roundRect">
            <a:avLst>
              <a:gd name="adj" fmla="val 50000"/>
            </a:avLst>
          </a:prstGeom>
          <a:solidFill>
            <a:srgbClr val="FFFFFF"/>
          </a:solidFill>
          <a:ln w="12700">
            <a:solidFill>
              <a:srgbClr val="DCE3F2"/>
            </a:solidFill>
            <a:prstDash val="solid"/>
          </a:ln>
        </p:spPr>
      </p:sp>
      <p:sp>
        <p:nvSpPr>
          <p:cNvPr id="35" name="Text 33"/>
          <p:cNvSpPr/>
          <p:nvPr/>
        </p:nvSpPr>
        <p:spPr>
          <a:xfrm>
            <a:off x="7223760" y="4261104"/>
            <a:ext cx="4206240" cy="53035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Channel</a:t>
            </a:r>
            <a:endParaRPr lang="en-US" sz="1300" dirty="0"/>
          </a:p>
        </p:txBody>
      </p:sp>
      <p:sp>
        <p:nvSpPr>
          <p:cNvPr id="36" name="Text 34"/>
          <p:cNvSpPr/>
          <p:nvPr/>
        </p:nvSpPr>
        <p:spPr>
          <a:xfrm>
            <a:off x="7223760" y="4791456"/>
            <a:ext cx="4206240" cy="219456"/>
          </a:xfrm>
          <a:prstGeom prst="rect">
            <a:avLst/>
          </a:prstGeom>
          <a:noFill/>
          <a:ln/>
        </p:spPr>
        <p:txBody>
          <a:bodyPr wrap="square" lIns="0" tIns="0" rIns="0" bIns="0" rtlCol="0" anchor="ctr"/>
          <a:lstStyle/>
          <a:p>
            <a:pPr algn="ctr" indent="0" marL="0">
              <a:buNone/>
            </a:pPr>
            <a:r>
              <a:rPr lang="en-US" sz="1300" dirty="0">
                <a:solidFill>
                  <a:srgbClr val="5B6785"/>
                </a:solidFill>
              </a:rPr>
              <a:t>↓</a:t>
            </a:r>
            <a:endParaRPr lang="en-US" sz="1300" dirty="0"/>
          </a:p>
        </p:txBody>
      </p:sp>
      <p:sp>
        <p:nvSpPr>
          <p:cNvPr id="37" name="Shape 35"/>
          <p:cNvSpPr/>
          <p:nvPr/>
        </p:nvSpPr>
        <p:spPr>
          <a:xfrm>
            <a:off x="7223760" y="5010912"/>
            <a:ext cx="4206240" cy="530352"/>
          </a:xfrm>
          <a:prstGeom prst="roundRect">
            <a:avLst>
              <a:gd name="adj" fmla="val 50000"/>
            </a:avLst>
          </a:prstGeom>
          <a:solidFill>
            <a:srgbClr val="FFFFFF"/>
          </a:solidFill>
          <a:ln w="12700">
            <a:solidFill>
              <a:srgbClr val="DCE3F2"/>
            </a:solidFill>
            <a:prstDash val="solid"/>
          </a:ln>
        </p:spPr>
      </p:sp>
      <p:sp>
        <p:nvSpPr>
          <p:cNvPr id="38" name="Text 36"/>
          <p:cNvSpPr/>
          <p:nvPr/>
        </p:nvSpPr>
        <p:spPr>
          <a:xfrm>
            <a:off x="7223760" y="5010912"/>
            <a:ext cx="4206240" cy="53035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Time</a:t>
            </a:r>
            <a:endParaRPr lang="en-US" sz="1300" dirty="0"/>
          </a:p>
        </p:txBody>
      </p:sp>
      <p:sp>
        <p:nvSpPr>
          <p:cNvPr id="39" name="Text 37"/>
          <p:cNvSpPr/>
          <p:nvPr/>
        </p:nvSpPr>
        <p:spPr>
          <a:xfrm>
            <a:off x="7223760" y="5541264"/>
            <a:ext cx="4206240" cy="219456"/>
          </a:xfrm>
          <a:prstGeom prst="rect">
            <a:avLst/>
          </a:prstGeom>
          <a:noFill/>
          <a:ln/>
        </p:spPr>
        <p:txBody>
          <a:bodyPr wrap="square" lIns="0" tIns="0" rIns="0" bIns="0" rtlCol="0" anchor="ctr"/>
          <a:lstStyle/>
          <a:p>
            <a:pPr algn="ctr" indent="0" marL="0">
              <a:buNone/>
            </a:pPr>
            <a:r>
              <a:rPr lang="en-US" sz="1300" dirty="0">
                <a:solidFill>
                  <a:srgbClr val="5B6785"/>
                </a:solidFill>
              </a:rPr>
              <a:t>↓</a:t>
            </a:r>
            <a:endParaRPr lang="en-US" sz="1300" dirty="0"/>
          </a:p>
        </p:txBody>
      </p:sp>
      <p:sp>
        <p:nvSpPr>
          <p:cNvPr id="40" name="Shape 38"/>
          <p:cNvSpPr/>
          <p:nvPr/>
        </p:nvSpPr>
        <p:spPr>
          <a:xfrm>
            <a:off x="7223760" y="5760720"/>
            <a:ext cx="4206240" cy="530352"/>
          </a:xfrm>
          <a:prstGeom prst="roundRect">
            <a:avLst>
              <a:gd name="adj" fmla="val 50000"/>
            </a:avLst>
          </a:prstGeom>
          <a:solidFill>
            <a:srgbClr val="1E2761"/>
          </a:solidFill>
          <a:ln w="12700">
            <a:solidFill>
              <a:srgbClr val="1E2761"/>
            </a:solidFill>
            <a:prstDash val="solid"/>
          </a:ln>
        </p:spPr>
      </p:sp>
      <p:sp>
        <p:nvSpPr>
          <p:cNvPr id="41" name="Text 39"/>
          <p:cNvSpPr/>
          <p:nvPr/>
        </p:nvSpPr>
        <p:spPr>
          <a:xfrm>
            <a:off x="7223760" y="5760720"/>
            <a:ext cx="4206240"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Profitability</a:t>
            </a:r>
            <a:endParaRPr lang="en-US" sz="1300" dirty="0"/>
          </a:p>
        </p:txBody>
      </p:sp>
      <p:sp>
        <p:nvSpPr>
          <p:cNvPr id="42" name="Text 40"/>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850" dirty="0">
                <a:solidFill>
                  <a:srgbClr val="5B6785"/>
                </a:solidFill>
                <a:latin typeface="Calibri" pitchFamily="34" charset="0"/>
                <a:ea typeface="Calibri" pitchFamily="34" charset="-122"/>
                <a:cs typeface="Calibri" pitchFamily="34" charset="-120"/>
              </a:rPr>
              <a:t>NexaMart Customer Profitability &amp; Revenue Intelligence</a:t>
            </a:r>
            <a:endParaRPr lang="en-US" sz="850" dirty="0"/>
          </a:p>
        </p:txBody>
      </p:sp>
      <p:sp>
        <p:nvSpPr>
          <p:cNvPr id="43" name="Text 41"/>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850" dirty="0">
                <a:solidFill>
                  <a:srgbClr val="5B6785"/>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indent="0" marL="0">
              <a:buNone/>
            </a:pPr>
            <a:r>
              <a:rPr lang="en-US" sz="1150" b="1" spc="200" kern="0" dirty="0">
                <a:solidFill>
                  <a:srgbClr val="D99B2B"/>
                </a:solidFill>
                <a:latin typeface="Calibri" pitchFamily="34" charset="0"/>
                <a:ea typeface="Calibri" pitchFamily="34" charset="-122"/>
                <a:cs typeface="Calibri" pitchFamily="34" charset="-120"/>
              </a:rPr>
              <a:t>DATASET &amp; SCOPE</a:t>
            </a:r>
            <a:endParaRPr lang="en-US" sz="1150" dirty="0"/>
          </a:p>
        </p:txBody>
      </p:sp>
      <p:sp>
        <p:nvSpPr>
          <p:cNvPr id="3" name="Text 1"/>
          <p:cNvSpPr/>
          <p:nvPr/>
        </p:nvSpPr>
        <p:spPr>
          <a:xfrm>
            <a:off x="457200" y="56692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Project Scope at a Glance</a:t>
            </a:r>
            <a:endParaRPr lang="en-US" sz="3000" dirty="0"/>
          </a:p>
        </p:txBody>
      </p:sp>
      <p:sp>
        <p:nvSpPr>
          <p:cNvPr id="4" name="Shape 2"/>
          <p:cNvSpPr/>
          <p:nvPr/>
        </p:nvSpPr>
        <p:spPr>
          <a:xfrm>
            <a:off x="457200" y="1417320"/>
            <a:ext cx="2667762" cy="1051560"/>
          </a:xfrm>
          <a:prstGeom prst="roundRect">
            <a:avLst>
              <a:gd name="adj" fmla="val 6957"/>
            </a:avLst>
          </a:prstGeom>
          <a:solidFill>
            <a:srgbClr val="FFFFFF"/>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5" name="Text 3"/>
          <p:cNvSpPr/>
          <p:nvPr/>
        </p:nvSpPr>
        <p:spPr>
          <a:xfrm>
            <a:off x="566928" y="1585570"/>
            <a:ext cx="2448306" cy="546811"/>
          </a:xfrm>
          <a:prstGeom prst="rect">
            <a:avLst/>
          </a:prstGeom>
          <a:noFill/>
          <a:ln/>
        </p:spPr>
        <p:txBody>
          <a:bodyPr wrap="square" lIns="0" tIns="0" rIns="0" bIns="0" rtlCol="0" anchor="ctr"/>
          <a:lstStyle/>
          <a:p>
            <a:pPr algn="l" indent="0" marL="0">
              <a:buNone/>
            </a:pPr>
            <a:r>
              <a:rPr lang="en-US" sz="2200" b="1" dirty="0">
                <a:solidFill>
                  <a:srgbClr val="1E2761"/>
                </a:solidFill>
                <a:latin typeface="Cambria" pitchFamily="34" charset="0"/>
                <a:ea typeface="Cambria" pitchFamily="34" charset="-122"/>
                <a:cs typeface="Cambria" pitchFamily="34" charset="-120"/>
              </a:rPr>
              <a:t>10,000</a:t>
            </a:r>
            <a:endParaRPr lang="en-US" sz="2200" dirty="0"/>
          </a:p>
        </p:txBody>
      </p:sp>
      <p:sp>
        <p:nvSpPr>
          <p:cNvPr id="6" name="Text 4"/>
          <p:cNvSpPr/>
          <p:nvPr/>
        </p:nvSpPr>
        <p:spPr>
          <a:xfrm>
            <a:off x="566928" y="2132381"/>
            <a:ext cx="2448306" cy="294437"/>
          </a:xfrm>
          <a:prstGeom prst="rect">
            <a:avLst/>
          </a:prstGeom>
          <a:noFill/>
          <a:ln/>
        </p:spPr>
        <p:txBody>
          <a:bodyPr wrap="square" lIns="0" tIns="0" rIns="0" bIns="0" rtlCol="0" anchor="ctr"/>
          <a:lstStyle/>
          <a:p>
            <a:pPr algn="l" indent="0" marL="0">
              <a:buNone/>
            </a:pPr>
            <a:r>
              <a:rPr lang="en-US" sz="950" spc="50" kern="0" dirty="0">
                <a:solidFill>
                  <a:srgbClr val="5B6785"/>
                </a:solidFill>
                <a:latin typeface="Calibri" pitchFamily="34" charset="0"/>
                <a:ea typeface="Calibri" pitchFamily="34" charset="-122"/>
                <a:cs typeface="Calibri" pitchFamily="34" charset="-120"/>
              </a:rPr>
              <a:t>ORDERS</a:t>
            </a:r>
            <a:endParaRPr lang="en-US" sz="950" dirty="0"/>
          </a:p>
        </p:txBody>
      </p:sp>
      <p:sp>
        <p:nvSpPr>
          <p:cNvPr id="7" name="Shape 5"/>
          <p:cNvSpPr/>
          <p:nvPr/>
        </p:nvSpPr>
        <p:spPr>
          <a:xfrm>
            <a:off x="3326130" y="1417320"/>
            <a:ext cx="2667762" cy="1051560"/>
          </a:xfrm>
          <a:prstGeom prst="roundRect">
            <a:avLst>
              <a:gd name="adj" fmla="val 6957"/>
            </a:avLst>
          </a:prstGeom>
          <a:solidFill>
            <a:srgbClr val="FFFFFF"/>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8" name="Text 6"/>
          <p:cNvSpPr/>
          <p:nvPr/>
        </p:nvSpPr>
        <p:spPr>
          <a:xfrm>
            <a:off x="3435858" y="1585570"/>
            <a:ext cx="2448306" cy="546811"/>
          </a:xfrm>
          <a:prstGeom prst="rect">
            <a:avLst/>
          </a:prstGeom>
          <a:noFill/>
          <a:ln/>
        </p:spPr>
        <p:txBody>
          <a:bodyPr wrap="square" lIns="0" tIns="0" rIns="0" bIns="0" rtlCol="0" anchor="ctr"/>
          <a:lstStyle/>
          <a:p>
            <a:pPr algn="l" indent="0" marL="0">
              <a:buNone/>
            </a:pPr>
            <a:r>
              <a:rPr lang="en-US" sz="2200" b="1" dirty="0">
                <a:solidFill>
                  <a:srgbClr val="1E2761"/>
                </a:solidFill>
                <a:latin typeface="Cambria" pitchFamily="34" charset="0"/>
                <a:ea typeface="Cambria" pitchFamily="34" charset="-122"/>
                <a:cs typeface="Cambria" pitchFamily="34" charset="-120"/>
              </a:rPr>
              <a:t>1,000</a:t>
            </a:r>
            <a:endParaRPr lang="en-US" sz="2200" dirty="0"/>
          </a:p>
        </p:txBody>
      </p:sp>
      <p:sp>
        <p:nvSpPr>
          <p:cNvPr id="9" name="Text 7"/>
          <p:cNvSpPr/>
          <p:nvPr/>
        </p:nvSpPr>
        <p:spPr>
          <a:xfrm>
            <a:off x="3435858" y="2132381"/>
            <a:ext cx="2448306" cy="294437"/>
          </a:xfrm>
          <a:prstGeom prst="rect">
            <a:avLst/>
          </a:prstGeom>
          <a:noFill/>
          <a:ln/>
        </p:spPr>
        <p:txBody>
          <a:bodyPr wrap="square" lIns="0" tIns="0" rIns="0" bIns="0" rtlCol="0" anchor="ctr"/>
          <a:lstStyle/>
          <a:p>
            <a:pPr algn="l" indent="0" marL="0">
              <a:buNone/>
            </a:pPr>
            <a:r>
              <a:rPr lang="en-US" sz="950" spc="50" kern="0" dirty="0">
                <a:solidFill>
                  <a:srgbClr val="5B6785"/>
                </a:solidFill>
                <a:latin typeface="Calibri" pitchFamily="34" charset="0"/>
                <a:ea typeface="Calibri" pitchFamily="34" charset="-122"/>
                <a:cs typeface="Calibri" pitchFamily="34" charset="-120"/>
              </a:rPr>
              <a:t>CUSTOMERS</a:t>
            </a:r>
            <a:endParaRPr lang="en-US" sz="950" dirty="0"/>
          </a:p>
        </p:txBody>
      </p:sp>
      <p:sp>
        <p:nvSpPr>
          <p:cNvPr id="10" name="Shape 8"/>
          <p:cNvSpPr/>
          <p:nvPr/>
        </p:nvSpPr>
        <p:spPr>
          <a:xfrm>
            <a:off x="6195060" y="1417320"/>
            <a:ext cx="2667762" cy="1051560"/>
          </a:xfrm>
          <a:prstGeom prst="roundRect">
            <a:avLst>
              <a:gd name="adj" fmla="val 6957"/>
            </a:avLst>
          </a:prstGeom>
          <a:solidFill>
            <a:srgbClr val="FFFFFF"/>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11" name="Text 9"/>
          <p:cNvSpPr/>
          <p:nvPr/>
        </p:nvSpPr>
        <p:spPr>
          <a:xfrm>
            <a:off x="6304788" y="1585570"/>
            <a:ext cx="2448306" cy="546811"/>
          </a:xfrm>
          <a:prstGeom prst="rect">
            <a:avLst/>
          </a:prstGeom>
          <a:noFill/>
          <a:ln/>
        </p:spPr>
        <p:txBody>
          <a:bodyPr wrap="square" lIns="0" tIns="0" rIns="0" bIns="0" rtlCol="0" anchor="ctr"/>
          <a:lstStyle/>
          <a:p>
            <a:pPr algn="l" indent="0" marL="0">
              <a:buNone/>
            </a:pPr>
            <a:r>
              <a:rPr lang="en-US" sz="2200" b="1" dirty="0">
                <a:solidFill>
                  <a:srgbClr val="1E2761"/>
                </a:solidFill>
                <a:latin typeface="Cambria" pitchFamily="34" charset="0"/>
                <a:ea typeface="Cambria" pitchFamily="34" charset="-122"/>
                <a:cs typeface="Cambria" pitchFamily="34" charset="-120"/>
              </a:rPr>
              <a:t>50</a:t>
            </a:r>
            <a:endParaRPr lang="en-US" sz="2200" dirty="0"/>
          </a:p>
        </p:txBody>
      </p:sp>
      <p:sp>
        <p:nvSpPr>
          <p:cNvPr id="12" name="Text 10"/>
          <p:cNvSpPr/>
          <p:nvPr/>
        </p:nvSpPr>
        <p:spPr>
          <a:xfrm>
            <a:off x="6304788" y="2132381"/>
            <a:ext cx="2448306" cy="294437"/>
          </a:xfrm>
          <a:prstGeom prst="rect">
            <a:avLst/>
          </a:prstGeom>
          <a:noFill/>
          <a:ln/>
        </p:spPr>
        <p:txBody>
          <a:bodyPr wrap="square" lIns="0" tIns="0" rIns="0" bIns="0" rtlCol="0" anchor="ctr"/>
          <a:lstStyle/>
          <a:p>
            <a:pPr algn="l" indent="0" marL="0">
              <a:buNone/>
            </a:pPr>
            <a:r>
              <a:rPr lang="en-US" sz="950" spc="50" kern="0" dirty="0">
                <a:solidFill>
                  <a:srgbClr val="5B6785"/>
                </a:solidFill>
                <a:latin typeface="Calibri" pitchFamily="34" charset="0"/>
                <a:ea typeface="Calibri" pitchFamily="34" charset="-122"/>
                <a:cs typeface="Calibri" pitchFamily="34" charset="-120"/>
              </a:rPr>
              <a:t>PRODUCTS</a:t>
            </a:r>
            <a:endParaRPr lang="en-US" sz="950" dirty="0"/>
          </a:p>
        </p:txBody>
      </p:sp>
      <p:sp>
        <p:nvSpPr>
          <p:cNvPr id="13" name="Shape 11"/>
          <p:cNvSpPr/>
          <p:nvPr/>
        </p:nvSpPr>
        <p:spPr>
          <a:xfrm>
            <a:off x="9063990" y="1417320"/>
            <a:ext cx="2667762" cy="1051560"/>
          </a:xfrm>
          <a:prstGeom prst="roundRect">
            <a:avLst>
              <a:gd name="adj" fmla="val 6957"/>
            </a:avLst>
          </a:prstGeom>
          <a:solidFill>
            <a:srgbClr val="FFFFFF"/>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14" name="Text 12"/>
          <p:cNvSpPr/>
          <p:nvPr/>
        </p:nvSpPr>
        <p:spPr>
          <a:xfrm>
            <a:off x="9173718" y="1585570"/>
            <a:ext cx="2448306" cy="546811"/>
          </a:xfrm>
          <a:prstGeom prst="rect">
            <a:avLst/>
          </a:prstGeom>
          <a:noFill/>
          <a:ln/>
        </p:spPr>
        <p:txBody>
          <a:bodyPr wrap="square" lIns="0" tIns="0" rIns="0" bIns="0" rtlCol="0" anchor="ctr"/>
          <a:lstStyle/>
          <a:p>
            <a:pPr algn="l" indent="0" marL="0">
              <a:buNone/>
            </a:pPr>
            <a:r>
              <a:rPr lang="en-US" sz="2200" b="1" dirty="0">
                <a:solidFill>
                  <a:srgbClr val="1E2761"/>
                </a:solidFill>
                <a:latin typeface="Cambria" pitchFamily="34" charset="0"/>
                <a:ea typeface="Cambria" pitchFamily="34" charset="-122"/>
                <a:cs typeface="Cambria" pitchFamily="34" charset="-120"/>
              </a:rPr>
              <a:t>4</a:t>
            </a:r>
            <a:endParaRPr lang="en-US" sz="2200" dirty="0"/>
          </a:p>
        </p:txBody>
      </p:sp>
      <p:sp>
        <p:nvSpPr>
          <p:cNvPr id="15" name="Text 13"/>
          <p:cNvSpPr/>
          <p:nvPr/>
        </p:nvSpPr>
        <p:spPr>
          <a:xfrm>
            <a:off x="9173718" y="2132381"/>
            <a:ext cx="2448306" cy="294437"/>
          </a:xfrm>
          <a:prstGeom prst="rect">
            <a:avLst/>
          </a:prstGeom>
          <a:noFill/>
          <a:ln/>
        </p:spPr>
        <p:txBody>
          <a:bodyPr wrap="square" lIns="0" tIns="0" rIns="0" bIns="0" rtlCol="0" anchor="ctr"/>
          <a:lstStyle/>
          <a:p>
            <a:pPr algn="l" indent="0" marL="0">
              <a:buNone/>
            </a:pPr>
            <a:r>
              <a:rPr lang="en-US" sz="950" spc="50" kern="0" dirty="0">
                <a:solidFill>
                  <a:srgbClr val="5B6785"/>
                </a:solidFill>
                <a:latin typeface="Calibri" pitchFamily="34" charset="0"/>
                <a:ea typeface="Calibri" pitchFamily="34" charset="-122"/>
                <a:cs typeface="Calibri" pitchFamily="34" charset="-120"/>
              </a:rPr>
              <a:t>REGIONS</a:t>
            </a:r>
            <a:endParaRPr lang="en-US" sz="950" dirty="0"/>
          </a:p>
        </p:txBody>
      </p:sp>
      <p:sp>
        <p:nvSpPr>
          <p:cNvPr id="16" name="Shape 14"/>
          <p:cNvSpPr/>
          <p:nvPr/>
        </p:nvSpPr>
        <p:spPr>
          <a:xfrm>
            <a:off x="457200" y="2670048"/>
            <a:ext cx="2667762" cy="1051560"/>
          </a:xfrm>
          <a:prstGeom prst="roundRect">
            <a:avLst>
              <a:gd name="adj" fmla="val 6957"/>
            </a:avLst>
          </a:prstGeom>
          <a:solidFill>
            <a:srgbClr val="FFFFFF"/>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17" name="Text 15"/>
          <p:cNvSpPr/>
          <p:nvPr/>
        </p:nvSpPr>
        <p:spPr>
          <a:xfrm>
            <a:off x="566928" y="2838298"/>
            <a:ext cx="2448306" cy="546811"/>
          </a:xfrm>
          <a:prstGeom prst="rect">
            <a:avLst/>
          </a:prstGeom>
          <a:noFill/>
          <a:ln/>
        </p:spPr>
        <p:txBody>
          <a:bodyPr wrap="square" lIns="0" tIns="0" rIns="0" bIns="0" rtlCol="0" anchor="ctr"/>
          <a:lstStyle/>
          <a:p>
            <a:pPr algn="l" indent="0" marL="0">
              <a:buNone/>
            </a:pPr>
            <a:r>
              <a:rPr lang="en-US" sz="2200" b="1" dirty="0">
                <a:solidFill>
                  <a:srgbClr val="1E2761"/>
                </a:solidFill>
                <a:latin typeface="Cambria" pitchFamily="34" charset="0"/>
                <a:ea typeface="Cambria" pitchFamily="34" charset="-122"/>
                <a:cs typeface="Cambria" pitchFamily="34" charset="-120"/>
              </a:rPr>
              <a:t>2</a:t>
            </a:r>
            <a:endParaRPr lang="en-US" sz="2200" dirty="0"/>
          </a:p>
        </p:txBody>
      </p:sp>
      <p:sp>
        <p:nvSpPr>
          <p:cNvPr id="18" name="Text 16"/>
          <p:cNvSpPr/>
          <p:nvPr/>
        </p:nvSpPr>
        <p:spPr>
          <a:xfrm>
            <a:off x="566928" y="3385109"/>
            <a:ext cx="2448306" cy="294437"/>
          </a:xfrm>
          <a:prstGeom prst="rect">
            <a:avLst/>
          </a:prstGeom>
          <a:noFill/>
          <a:ln/>
        </p:spPr>
        <p:txBody>
          <a:bodyPr wrap="square" lIns="0" tIns="0" rIns="0" bIns="0" rtlCol="0" anchor="ctr"/>
          <a:lstStyle/>
          <a:p>
            <a:pPr algn="l" indent="0" marL="0">
              <a:buNone/>
            </a:pPr>
            <a:r>
              <a:rPr lang="en-US" sz="950" spc="50" kern="0" dirty="0">
                <a:solidFill>
                  <a:srgbClr val="5B6785"/>
                </a:solidFill>
                <a:latin typeface="Calibri" pitchFamily="34" charset="0"/>
                <a:ea typeface="Calibri" pitchFamily="34" charset="-122"/>
                <a:cs typeface="Calibri" pitchFamily="34" charset="-120"/>
              </a:rPr>
              <a:t>SALES CHANNELS</a:t>
            </a:r>
            <a:endParaRPr lang="en-US" sz="950" dirty="0"/>
          </a:p>
        </p:txBody>
      </p:sp>
      <p:sp>
        <p:nvSpPr>
          <p:cNvPr id="19" name="Shape 17"/>
          <p:cNvSpPr/>
          <p:nvPr/>
        </p:nvSpPr>
        <p:spPr>
          <a:xfrm>
            <a:off x="3326130" y="2670048"/>
            <a:ext cx="2667762" cy="1051560"/>
          </a:xfrm>
          <a:prstGeom prst="roundRect">
            <a:avLst>
              <a:gd name="adj" fmla="val 6957"/>
            </a:avLst>
          </a:prstGeom>
          <a:solidFill>
            <a:srgbClr val="FFFFFF"/>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20" name="Text 18"/>
          <p:cNvSpPr/>
          <p:nvPr/>
        </p:nvSpPr>
        <p:spPr>
          <a:xfrm>
            <a:off x="3435858" y="2838298"/>
            <a:ext cx="2448306" cy="546811"/>
          </a:xfrm>
          <a:prstGeom prst="rect">
            <a:avLst/>
          </a:prstGeom>
          <a:noFill/>
          <a:ln/>
        </p:spPr>
        <p:txBody>
          <a:bodyPr wrap="square" lIns="0" tIns="0" rIns="0" bIns="0" rtlCol="0" anchor="ctr"/>
          <a:lstStyle/>
          <a:p>
            <a:pPr algn="l" indent="0" marL="0">
              <a:buNone/>
            </a:pPr>
            <a:r>
              <a:rPr lang="en-US" sz="2200" b="1" dirty="0">
                <a:solidFill>
                  <a:srgbClr val="1E2761"/>
                </a:solidFill>
                <a:latin typeface="Cambria" pitchFamily="34" charset="0"/>
                <a:ea typeface="Cambria" pitchFamily="34" charset="-122"/>
                <a:cs typeface="Cambria" pitchFamily="34" charset="-120"/>
              </a:rPr>
              <a:t>3</a:t>
            </a:r>
            <a:endParaRPr lang="en-US" sz="2200" dirty="0"/>
          </a:p>
        </p:txBody>
      </p:sp>
      <p:sp>
        <p:nvSpPr>
          <p:cNvPr id="21" name="Text 19"/>
          <p:cNvSpPr/>
          <p:nvPr/>
        </p:nvSpPr>
        <p:spPr>
          <a:xfrm>
            <a:off x="3435858" y="3385109"/>
            <a:ext cx="2448306" cy="294437"/>
          </a:xfrm>
          <a:prstGeom prst="rect">
            <a:avLst/>
          </a:prstGeom>
          <a:noFill/>
          <a:ln/>
        </p:spPr>
        <p:txBody>
          <a:bodyPr wrap="square" lIns="0" tIns="0" rIns="0" bIns="0" rtlCol="0" anchor="ctr"/>
          <a:lstStyle/>
          <a:p>
            <a:pPr algn="l" indent="0" marL="0">
              <a:buNone/>
            </a:pPr>
            <a:r>
              <a:rPr lang="en-US" sz="950" spc="50" kern="0" dirty="0">
                <a:solidFill>
                  <a:srgbClr val="5B6785"/>
                </a:solidFill>
                <a:latin typeface="Calibri" pitchFamily="34" charset="0"/>
                <a:ea typeface="Calibri" pitchFamily="34" charset="-122"/>
                <a:cs typeface="Calibri" pitchFamily="34" charset="-120"/>
              </a:rPr>
              <a:t>CUSTOMER SEGMENTS</a:t>
            </a:r>
            <a:endParaRPr lang="en-US" sz="950" dirty="0"/>
          </a:p>
        </p:txBody>
      </p:sp>
      <p:sp>
        <p:nvSpPr>
          <p:cNvPr id="22" name="Shape 20"/>
          <p:cNvSpPr/>
          <p:nvPr/>
        </p:nvSpPr>
        <p:spPr>
          <a:xfrm>
            <a:off x="6195060" y="2670048"/>
            <a:ext cx="2667762" cy="1051560"/>
          </a:xfrm>
          <a:prstGeom prst="roundRect">
            <a:avLst>
              <a:gd name="adj" fmla="val 6957"/>
            </a:avLst>
          </a:prstGeom>
          <a:solidFill>
            <a:srgbClr val="FFFFFF"/>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23" name="Text 21"/>
          <p:cNvSpPr/>
          <p:nvPr/>
        </p:nvSpPr>
        <p:spPr>
          <a:xfrm>
            <a:off x="6304788" y="2838298"/>
            <a:ext cx="2448306" cy="546811"/>
          </a:xfrm>
          <a:prstGeom prst="rect">
            <a:avLst/>
          </a:prstGeom>
          <a:noFill/>
          <a:ln/>
        </p:spPr>
        <p:txBody>
          <a:bodyPr wrap="square" lIns="0" tIns="0" rIns="0" bIns="0" rtlCol="0" anchor="ctr"/>
          <a:lstStyle/>
          <a:p>
            <a:pPr algn="l" indent="0" marL="0">
              <a:buNone/>
            </a:pPr>
            <a:r>
              <a:rPr lang="en-US" sz="1400" b="1" dirty="0">
                <a:solidFill>
                  <a:srgbClr val="1E2761"/>
                </a:solidFill>
                <a:latin typeface="Cambria" pitchFamily="34" charset="0"/>
                <a:ea typeface="Cambria" pitchFamily="34" charset="-122"/>
                <a:cs typeface="Cambria" pitchFamily="34" charset="-120"/>
              </a:rPr>
              <a:t>Jan 2023 – Dec 2025</a:t>
            </a:r>
            <a:endParaRPr lang="en-US" sz="1400" dirty="0"/>
          </a:p>
        </p:txBody>
      </p:sp>
      <p:sp>
        <p:nvSpPr>
          <p:cNvPr id="24" name="Text 22"/>
          <p:cNvSpPr/>
          <p:nvPr/>
        </p:nvSpPr>
        <p:spPr>
          <a:xfrm>
            <a:off x="6304788" y="3385109"/>
            <a:ext cx="2448306" cy="294437"/>
          </a:xfrm>
          <a:prstGeom prst="rect">
            <a:avLst/>
          </a:prstGeom>
          <a:noFill/>
          <a:ln/>
        </p:spPr>
        <p:txBody>
          <a:bodyPr wrap="square" lIns="0" tIns="0" rIns="0" bIns="0" rtlCol="0" anchor="ctr"/>
          <a:lstStyle/>
          <a:p>
            <a:pPr algn="l" indent="0" marL="0">
              <a:buNone/>
            </a:pPr>
            <a:r>
              <a:rPr lang="en-US" sz="950" spc="50" kern="0" dirty="0">
                <a:solidFill>
                  <a:srgbClr val="5B6785"/>
                </a:solidFill>
                <a:latin typeface="Calibri" pitchFamily="34" charset="0"/>
                <a:ea typeface="Calibri" pitchFamily="34" charset="-122"/>
                <a:cs typeface="Calibri" pitchFamily="34" charset="-120"/>
              </a:rPr>
              <a:t>TIME SPAN</a:t>
            </a:r>
            <a:endParaRPr lang="en-US" sz="950" dirty="0"/>
          </a:p>
        </p:txBody>
      </p:sp>
      <p:sp>
        <p:nvSpPr>
          <p:cNvPr id="25" name="Text 23"/>
          <p:cNvSpPr/>
          <p:nvPr/>
        </p:nvSpPr>
        <p:spPr>
          <a:xfrm>
            <a:off x="457200" y="3794760"/>
            <a:ext cx="10607040" cy="320040"/>
          </a:xfrm>
          <a:prstGeom prst="rect">
            <a:avLst/>
          </a:prstGeom>
          <a:noFill/>
          <a:ln/>
        </p:spPr>
        <p:txBody>
          <a:bodyPr wrap="square" lIns="0" tIns="0" rIns="0" bIns="0" rtlCol="0" anchor="ctr"/>
          <a:lstStyle/>
          <a:p>
            <a:pPr indent="0" marL="0">
              <a:buNone/>
            </a:pPr>
            <a:r>
              <a:rPr lang="en-US" sz="1200" i="1" dirty="0">
                <a:solidFill>
                  <a:srgbClr val="5B6785"/>
                </a:solidFill>
                <a:latin typeface="Calibri" pitchFamily="34" charset="0"/>
                <a:ea typeface="Calibri" pitchFamily="34" charset="-122"/>
                <a:cs typeface="Calibri" pitchFamily="34" charset="-120"/>
              </a:rPr>
              <a:t>Synthetic transactional retail dataset — modeled to reflect realistic multi-category retail behaviour.</a:t>
            </a:r>
            <a:endParaRPr lang="en-US" sz="1200" dirty="0"/>
          </a:p>
        </p:txBody>
      </p:sp>
      <p:sp>
        <p:nvSpPr>
          <p:cNvPr id="26" name="Text 24"/>
          <p:cNvSpPr/>
          <p:nvPr/>
        </p:nvSpPr>
        <p:spPr>
          <a:xfrm>
            <a:off x="457200" y="4343400"/>
            <a:ext cx="5486400" cy="274320"/>
          </a:xfrm>
          <a:prstGeom prst="rect">
            <a:avLst/>
          </a:prstGeom>
          <a:noFill/>
          <a:ln/>
        </p:spPr>
        <p:txBody>
          <a:bodyPr wrap="square" lIns="0" tIns="0" rIns="0" bIns="0" rtlCol="0" anchor="ctr"/>
          <a:lstStyle/>
          <a:p>
            <a:pPr indent="0" marL="0">
              <a:buNone/>
            </a:pPr>
            <a:r>
              <a:rPr lang="en-US" sz="1100" b="1" spc="150" kern="0" dirty="0">
                <a:solidFill>
                  <a:srgbClr val="1E2761"/>
                </a:solidFill>
                <a:latin typeface="Calibri" pitchFamily="34" charset="0"/>
                <a:ea typeface="Calibri" pitchFamily="34" charset="-122"/>
                <a:cs typeface="Calibri" pitchFamily="34" charset="-120"/>
              </a:rPr>
              <a:t>ANALYTICAL DIMENSIONS</a:t>
            </a:r>
            <a:endParaRPr lang="en-US" sz="1100" dirty="0"/>
          </a:p>
        </p:txBody>
      </p:sp>
      <p:sp>
        <p:nvSpPr>
          <p:cNvPr id="27" name="Shape 25"/>
          <p:cNvSpPr/>
          <p:nvPr/>
        </p:nvSpPr>
        <p:spPr>
          <a:xfrm>
            <a:off x="1056132" y="4800600"/>
            <a:ext cx="1572768" cy="566928"/>
          </a:xfrm>
          <a:prstGeom prst="roundRect">
            <a:avLst>
              <a:gd name="adj" fmla="val 16129"/>
            </a:avLst>
          </a:prstGeom>
          <a:solidFill>
            <a:srgbClr val="1E2761"/>
          </a:solidFill>
          <a:ln/>
        </p:spPr>
      </p:sp>
      <p:sp>
        <p:nvSpPr>
          <p:cNvPr id="28" name="Text 26"/>
          <p:cNvSpPr/>
          <p:nvPr/>
        </p:nvSpPr>
        <p:spPr>
          <a:xfrm>
            <a:off x="1056132" y="4800600"/>
            <a:ext cx="157276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Customer</a:t>
            </a:r>
            <a:endParaRPr lang="en-US" sz="1200" dirty="0"/>
          </a:p>
        </p:txBody>
      </p:sp>
      <p:sp>
        <p:nvSpPr>
          <p:cNvPr id="29" name="Text 27"/>
          <p:cNvSpPr/>
          <p:nvPr/>
        </p:nvSpPr>
        <p:spPr>
          <a:xfrm>
            <a:off x="2500884" y="4800600"/>
            <a:ext cx="256032" cy="566928"/>
          </a:xfrm>
          <a:prstGeom prst="rect">
            <a:avLst/>
          </a:prstGeom>
          <a:noFill/>
          <a:ln/>
        </p:spPr>
        <p:txBody>
          <a:bodyPr wrap="square" lIns="0" tIns="0" rIns="0" bIns="0" rtlCol="0" anchor="ctr"/>
          <a:lstStyle/>
          <a:p>
            <a:pPr algn="ctr" indent="0" marL="0">
              <a:buNone/>
            </a:pPr>
            <a:r>
              <a:rPr lang="en-US" sz="1400" b="1" dirty="0">
                <a:solidFill>
                  <a:srgbClr val="5B6785"/>
                </a:solidFill>
              </a:rPr>
              <a:t>→</a:t>
            </a:r>
            <a:endParaRPr lang="en-US" sz="1400" dirty="0"/>
          </a:p>
        </p:txBody>
      </p:sp>
      <p:sp>
        <p:nvSpPr>
          <p:cNvPr id="30" name="Shape 28"/>
          <p:cNvSpPr/>
          <p:nvPr/>
        </p:nvSpPr>
        <p:spPr>
          <a:xfrm>
            <a:off x="2756916" y="4800600"/>
            <a:ext cx="1572768" cy="566928"/>
          </a:xfrm>
          <a:prstGeom prst="roundRect">
            <a:avLst>
              <a:gd name="adj" fmla="val 16129"/>
            </a:avLst>
          </a:prstGeom>
          <a:solidFill>
            <a:srgbClr val="1E2761"/>
          </a:solidFill>
          <a:ln/>
        </p:spPr>
      </p:sp>
      <p:sp>
        <p:nvSpPr>
          <p:cNvPr id="31" name="Text 29"/>
          <p:cNvSpPr/>
          <p:nvPr/>
        </p:nvSpPr>
        <p:spPr>
          <a:xfrm>
            <a:off x="2756916" y="4800600"/>
            <a:ext cx="157276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Product</a:t>
            </a:r>
            <a:endParaRPr lang="en-US" sz="1200" dirty="0"/>
          </a:p>
        </p:txBody>
      </p:sp>
      <p:sp>
        <p:nvSpPr>
          <p:cNvPr id="32" name="Text 30"/>
          <p:cNvSpPr/>
          <p:nvPr/>
        </p:nvSpPr>
        <p:spPr>
          <a:xfrm>
            <a:off x="4201668" y="4800600"/>
            <a:ext cx="256032" cy="566928"/>
          </a:xfrm>
          <a:prstGeom prst="rect">
            <a:avLst/>
          </a:prstGeom>
          <a:noFill/>
          <a:ln/>
        </p:spPr>
        <p:txBody>
          <a:bodyPr wrap="square" lIns="0" tIns="0" rIns="0" bIns="0" rtlCol="0" anchor="ctr"/>
          <a:lstStyle/>
          <a:p>
            <a:pPr algn="ctr" indent="0" marL="0">
              <a:buNone/>
            </a:pPr>
            <a:r>
              <a:rPr lang="en-US" sz="1400" b="1" dirty="0">
                <a:solidFill>
                  <a:srgbClr val="5B6785"/>
                </a:solidFill>
              </a:rPr>
              <a:t>→</a:t>
            </a:r>
            <a:endParaRPr lang="en-US" sz="1400" dirty="0"/>
          </a:p>
        </p:txBody>
      </p:sp>
      <p:sp>
        <p:nvSpPr>
          <p:cNvPr id="33" name="Shape 31"/>
          <p:cNvSpPr/>
          <p:nvPr/>
        </p:nvSpPr>
        <p:spPr>
          <a:xfrm>
            <a:off x="4457700" y="4800600"/>
            <a:ext cx="1572768" cy="566928"/>
          </a:xfrm>
          <a:prstGeom prst="roundRect">
            <a:avLst>
              <a:gd name="adj" fmla="val 16129"/>
            </a:avLst>
          </a:prstGeom>
          <a:solidFill>
            <a:srgbClr val="1E2761"/>
          </a:solidFill>
          <a:ln/>
        </p:spPr>
      </p:sp>
      <p:sp>
        <p:nvSpPr>
          <p:cNvPr id="34" name="Text 32"/>
          <p:cNvSpPr/>
          <p:nvPr/>
        </p:nvSpPr>
        <p:spPr>
          <a:xfrm>
            <a:off x="4457700" y="4800600"/>
            <a:ext cx="157276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Region</a:t>
            </a:r>
            <a:endParaRPr lang="en-US" sz="1200" dirty="0"/>
          </a:p>
        </p:txBody>
      </p:sp>
      <p:sp>
        <p:nvSpPr>
          <p:cNvPr id="35" name="Text 33"/>
          <p:cNvSpPr/>
          <p:nvPr/>
        </p:nvSpPr>
        <p:spPr>
          <a:xfrm>
            <a:off x="5902452" y="4800600"/>
            <a:ext cx="256032" cy="566928"/>
          </a:xfrm>
          <a:prstGeom prst="rect">
            <a:avLst/>
          </a:prstGeom>
          <a:noFill/>
          <a:ln/>
        </p:spPr>
        <p:txBody>
          <a:bodyPr wrap="square" lIns="0" tIns="0" rIns="0" bIns="0" rtlCol="0" anchor="ctr"/>
          <a:lstStyle/>
          <a:p>
            <a:pPr algn="ctr" indent="0" marL="0">
              <a:buNone/>
            </a:pPr>
            <a:r>
              <a:rPr lang="en-US" sz="1400" b="1" dirty="0">
                <a:solidFill>
                  <a:srgbClr val="5B6785"/>
                </a:solidFill>
              </a:rPr>
              <a:t>→</a:t>
            </a:r>
            <a:endParaRPr lang="en-US" sz="1400" dirty="0"/>
          </a:p>
        </p:txBody>
      </p:sp>
      <p:sp>
        <p:nvSpPr>
          <p:cNvPr id="36" name="Shape 34"/>
          <p:cNvSpPr/>
          <p:nvPr/>
        </p:nvSpPr>
        <p:spPr>
          <a:xfrm>
            <a:off x="6158484" y="4800600"/>
            <a:ext cx="1572768" cy="566928"/>
          </a:xfrm>
          <a:prstGeom prst="roundRect">
            <a:avLst>
              <a:gd name="adj" fmla="val 16129"/>
            </a:avLst>
          </a:prstGeom>
          <a:solidFill>
            <a:srgbClr val="1E2761"/>
          </a:solidFill>
          <a:ln/>
        </p:spPr>
      </p:sp>
      <p:sp>
        <p:nvSpPr>
          <p:cNvPr id="37" name="Text 35"/>
          <p:cNvSpPr/>
          <p:nvPr/>
        </p:nvSpPr>
        <p:spPr>
          <a:xfrm>
            <a:off x="6158484" y="4800600"/>
            <a:ext cx="157276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Channel</a:t>
            </a:r>
            <a:endParaRPr lang="en-US" sz="1200" dirty="0"/>
          </a:p>
        </p:txBody>
      </p:sp>
      <p:sp>
        <p:nvSpPr>
          <p:cNvPr id="38" name="Text 36"/>
          <p:cNvSpPr/>
          <p:nvPr/>
        </p:nvSpPr>
        <p:spPr>
          <a:xfrm>
            <a:off x="7603236" y="4800600"/>
            <a:ext cx="256032" cy="566928"/>
          </a:xfrm>
          <a:prstGeom prst="rect">
            <a:avLst/>
          </a:prstGeom>
          <a:noFill/>
          <a:ln/>
        </p:spPr>
        <p:txBody>
          <a:bodyPr wrap="square" lIns="0" tIns="0" rIns="0" bIns="0" rtlCol="0" anchor="ctr"/>
          <a:lstStyle/>
          <a:p>
            <a:pPr algn="ctr" indent="0" marL="0">
              <a:buNone/>
            </a:pPr>
            <a:r>
              <a:rPr lang="en-US" sz="1400" b="1" dirty="0">
                <a:solidFill>
                  <a:srgbClr val="5B6785"/>
                </a:solidFill>
              </a:rPr>
              <a:t>→</a:t>
            </a:r>
            <a:endParaRPr lang="en-US" sz="1400" dirty="0"/>
          </a:p>
        </p:txBody>
      </p:sp>
      <p:sp>
        <p:nvSpPr>
          <p:cNvPr id="39" name="Shape 37"/>
          <p:cNvSpPr/>
          <p:nvPr/>
        </p:nvSpPr>
        <p:spPr>
          <a:xfrm>
            <a:off x="7859268" y="4800600"/>
            <a:ext cx="1572768" cy="566928"/>
          </a:xfrm>
          <a:prstGeom prst="roundRect">
            <a:avLst>
              <a:gd name="adj" fmla="val 16129"/>
            </a:avLst>
          </a:prstGeom>
          <a:solidFill>
            <a:srgbClr val="1E2761"/>
          </a:solidFill>
          <a:ln/>
        </p:spPr>
      </p:sp>
      <p:sp>
        <p:nvSpPr>
          <p:cNvPr id="40" name="Text 38"/>
          <p:cNvSpPr/>
          <p:nvPr/>
        </p:nvSpPr>
        <p:spPr>
          <a:xfrm>
            <a:off x="7859268" y="4800600"/>
            <a:ext cx="157276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p>
        </p:txBody>
      </p:sp>
      <p:sp>
        <p:nvSpPr>
          <p:cNvPr id="41" name="Text 39"/>
          <p:cNvSpPr/>
          <p:nvPr/>
        </p:nvSpPr>
        <p:spPr>
          <a:xfrm>
            <a:off x="9304020" y="4800600"/>
            <a:ext cx="256032" cy="566928"/>
          </a:xfrm>
          <a:prstGeom prst="rect">
            <a:avLst/>
          </a:prstGeom>
          <a:noFill/>
          <a:ln/>
        </p:spPr>
        <p:txBody>
          <a:bodyPr wrap="square" lIns="0" tIns="0" rIns="0" bIns="0" rtlCol="0" anchor="ctr"/>
          <a:lstStyle/>
          <a:p>
            <a:pPr algn="ctr" indent="0" marL="0">
              <a:buNone/>
            </a:pPr>
            <a:r>
              <a:rPr lang="en-US" sz="1400" b="1" dirty="0">
                <a:solidFill>
                  <a:srgbClr val="5B6785"/>
                </a:solidFill>
              </a:rPr>
              <a:t>→</a:t>
            </a:r>
            <a:endParaRPr lang="en-US" sz="1400" dirty="0"/>
          </a:p>
        </p:txBody>
      </p:sp>
      <p:sp>
        <p:nvSpPr>
          <p:cNvPr id="42" name="Shape 40"/>
          <p:cNvSpPr/>
          <p:nvPr/>
        </p:nvSpPr>
        <p:spPr>
          <a:xfrm>
            <a:off x="9560052" y="4800600"/>
            <a:ext cx="1572768" cy="566928"/>
          </a:xfrm>
          <a:prstGeom prst="roundRect">
            <a:avLst>
              <a:gd name="adj" fmla="val 16129"/>
            </a:avLst>
          </a:prstGeom>
          <a:solidFill>
            <a:srgbClr val="D99B2B"/>
          </a:solidFill>
          <a:ln/>
        </p:spPr>
      </p:sp>
      <p:sp>
        <p:nvSpPr>
          <p:cNvPr id="43" name="Text 41"/>
          <p:cNvSpPr/>
          <p:nvPr/>
        </p:nvSpPr>
        <p:spPr>
          <a:xfrm>
            <a:off x="9560052" y="4800600"/>
            <a:ext cx="157276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Profitability</a:t>
            </a:r>
            <a:endParaRPr lang="en-US" sz="1200" dirty="0"/>
          </a:p>
        </p:txBody>
      </p:sp>
      <p:sp>
        <p:nvSpPr>
          <p:cNvPr id="44" name="Text 4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850" dirty="0">
                <a:solidFill>
                  <a:srgbClr val="5B6785"/>
                </a:solidFill>
                <a:latin typeface="Calibri" pitchFamily="34" charset="0"/>
                <a:ea typeface="Calibri" pitchFamily="34" charset="-122"/>
                <a:cs typeface="Calibri" pitchFamily="34" charset="-120"/>
              </a:rPr>
              <a:t>NexaMart Customer Profitability &amp; Revenue Intelligence</a:t>
            </a:r>
            <a:endParaRPr lang="en-US" sz="850" dirty="0"/>
          </a:p>
        </p:txBody>
      </p:sp>
      <p:sp>
        <p:nvSpPr>
          <p:cNvPr id="45" name="Text 4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850" dirty="0">
                <a:solidFill>
                  <a:srgbClr val="5B6785"/>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indent="0" marL="0">
              <a:buNone/>
            </a:pPr>
            <a:r>
              <a:rPr lang="en-US" sz="1150" b="1" spc="200" kern="0" dirty="0">
                <a:solidFill>
                  <a:srgbClr val="D99B2B"/>
                </a:solidFill>
                <a:latin typeface="Calibri" pitchFamily="34" charset="0"/>
                <a:ea typeface="Calibri" pitchFamily="34" charset="-122"/>
                <a:cs typeface="Calibri" pitchFamily="34" charset="-120"/>
              </a:rPr>
              <a:t>METHODOLOGY</a:t>
            </a:r>
            <a:endParaRPr lang="en-US" sz="1150" dirty="0"/>
          </a:p>
        </p:txBody>
      </p:sp>
      <p:sp>
        <p:nvSpPr>
          <p:cNvPr id="3" name="Text 1"/>
          <p:cNvSpPr/>
          <p:nvPr/>
        </p:nvSpPr>
        <p:spPr>
          <a:xfrm>
            <a:off x="457200" y="56692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End-to-End Analytical Workflow</a:t>
            </a:r>
            <a:endParaRPr lang="en-US" sz="3000" dirty="0"/>
          </a:p>
        </p:txBody>
      </p:sp>
      <p:sp>
        <p:nvSpPr>
          <p:cNvPr id="4" name="Shape 2"/>
          <p:cNvSpPr/>
          <p:nvPr/>
        </p:nvSpPr>
        <p:spPr>
          <a:xfrm>
            <a:off x="699516" y="2286000"/>
            <a:ext cx="1691640" cy="1417320"/>
          </a:xfrm>
          <a:prstGeom prst="roundRect">
            <a:avLst>
              <a:gd name="adj" fmla="val 6452"/>
            </a:avLst>
          </a:prstGeom>
          <a:solidFill>
            <a:srgbClr val="1E2761"/>
          </a:solidFill>
          <a:ln/>
          <a:effectLst>
            <a:outerShdw sx="100000" sy="100000" kx="0" ky="0" algn="bl" rotWithShape="0" blurRad="76200" dist="25400" dir="5400000">
              <a:srgbClr val="1E2761">
                <a:alpha val="18000"/>
              </a:srgbClr>
            </a:outerShdw>
          </a:effectLst>
        </p:spPr>
      </p:sp>
      <p:sp>
        <p:nvSpPr>
          <p:cNvPr id="5" name="Text 3"/>
          <p:cNvSpPr/>
          <p:nvPr/>
        </p:nvSpPr>
        <p:spPr>
          <a:xfrm>
            <a:off x="790956" y="2432304"/>
            <a:ext cx="1508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Python</a:t>
            </a:r>
            <a:endParaRPr lang="en-US" sz="1500" dirty="0"/>
          </a:p>
        </p:txBody>
      </p:sp>
      <p:sp>
        <p:nvSpPr>
          <p:cNvPr id="6" name="Text 4"/>
          <p:cNvSpPr/>
          <p:nvPr/>
        </p:nvSpPr>
        <p:spPr>
          <a:xfrm>
            <a:off x="809244" y="2852928"/>
            <a:ext cx="1472184" cy="758952"/>
          </a:xfrm>
          <a:prstGeom prst="rect">
            <a:avLst/>
          </a:prstGeom>
          <a:noFill/>
          <a:ln/>
        </p:spPr>
        <p:txBody>
          <a:bodyPr wrap="square" lIns="0" tIns="0" rIns="0" bIns="0" rtlCol="0" anchor="t"/>
          <a:lstStyle/>
          <a:p>
            <a:pPr algn="ctr" indent="0" marL="0">
              <a:lnSpc>
                <a:spcPct val="110000"/>
              </a:lnSpc>
              <a:buNone/>
            </a:pPr>
            <a:r>
              <a:rPr lang="en-US" sz="950" dirty="0">
                <a:solidFill>
                  <a:srgbClr val="CADCFC"/>
                </a:solidFill>
                <a:latin typeface="Calibri" pitchFamily="34" charset="0"/>
                <a:ea typeface="Calibri" pitchFamily="34" charset="-122"/>
                <a:cs typeface="Calibri" pitchFamily="34" charset="-120"/>
              </a:rPr>
              <a:t>Data generation, preparation and validation</a:t>
            </a:r>
            <a:endParaRPr lang="en-US" sz="950" dirty="0"/>
          </a:p>
        </p:txBody>
      </p:sp>
      <p:sp>
        <p:nvSpPr>
          <p:cNvPr id="7" name="Text 5"/>
          <p:cNvSpPr/>
          <p:nvPr/>
        </p:nvSpPr>
        <p:spPr>
          <a:xfrm>
            <a:off x="2391156" y="2286000"/>
            <a:ext cx="128016" cy="1417320"/>
          </a:xfrm>
          <a:prstGeom prst="rect">
            <a:avLst/>
          </a:prstGeom>
          <a:noFill/>
          <a:ln/>
        </p:spPr>
        <p:txBody>
          <a:bodyPr wrap="square" lIns="0" tIns="0" rIns="0" bIns="0" rtlCol="0" anchor="ctr"/>
          <a:lstStyle/>
          <a:p>
            <a:pPr algn="ctr" indent="0" marL="0">
              <a:buNone/>
            </a:pPr>
            <a:r>
              <a:rPr lang="en-US" sz="1600" b="1" dirty="0">
                <a:solidFill>
                  <a:srgbClr val="5B6785"/>
                </a:solidFill>
              </a:rPr>
              <a:t>→</a:t>
            </a:r>
            <a:endParaRPr lang="en-US" sz="1600" dirty="0"/>
          </a:p>
        </p:txBody>
      </p:sp>
      <p:sp>
        <p:nvSpPr>
          <p:cNvPr id="8" name="Shape 6"/>
          <p:cNvSpPr/>
          <p:nvPr/>
        </p:nvSpPr>
        <p:spPr>
          <a:xfrm>
            <a:off x="2519172" y="2286000"/>
            <a:ext cx="1691640" cy="1417320"/>
          </a:xfrm>
          <a:prstGeom prst="roundRect">
            <a:avLst>
              <a:gd name="adj" fmla="val 6452"/>
            </a:avLst>
          </a:prstGeom>
          <a:solidFill>
            <a:srgbClr val="1E2761"/>
          </a:solidFill>
          <a:ln/>
          <a:effectLst>
            <a:outerShdw sx="100000" sy="100000" kx="0" ky="0" algn="bl" rotWithShape="0" blurRad="76200" dist="25400" dir="5400000">
              <a:srgbClr val="1E2761">
                <a:alpha val="18000"/>
              </a:srgbClr>
            </a:outerShdw>
          </a:effectLst>
        </p:spPr>
      </p:sp>
      <p:sp>
        <p:nvSpPr>
          <p:cNvPr id="9" name="Text 7"/>
          <p:cNvSpPr/>
          <p:nvPr/>
        </p:nvSpPr>
        <p:spPr>
          <a:xfrm>
            <a:off x="2610612" y="2432304"/>
            <a:ext cx="1508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Excel</a:t>
            </a:r>
            <a:endParaRPr lang="en-US" sz="1500" dirty="0"/>
          </a:p>
        </p:txBody>
      </p:sp>
      <p:sp>
        <p:nvSpPr>
          <p:cNvPr id="10" name="Text 8"/>
          <p:cNvSpPr/>
          <p:nvPr/>
        </p:nvSpPr>
        <p:spPr>
          <a:xfrm>
            <a:off x="2628900" y="2852928"/>
            <a:ext cx="1472184" cy="758952"/>
          </a:xfrm>
          <a:prstGeom prst="rect">
            <a:avLst/>
          </a:prstGeom>
          <a:noFill/>
          <a:ln/>
        </p:spPr>
        <p:txBody>
          <a:bodyPr wrap="square" lIns="0" tIns="0" rIns="0" bIns="0" rtlCol="0" anchor="t"/>
          <a:lstStyle/>
          <a:p>
            <a:pPr algn="ctr" indent="0" marL="0">
              <a:lnSpc>
                <a:spcPct val="110000"/>
              </a:lnSpc>
              <a:buNone/>
            </a:pPr>
            <a:r>
              <a:rPr lang="en-US" sz="950" dirty="0">
                <a:solidFill>
                  <a:srgbClr val="CADCFC"/>
                </a:solidFill>
                <a:latin typeface="Calibri" pitchFamily="34" charset="0"/>
                <a:ea typeface="Calibri" pitchFamily="34" charset="-122"/>
                <a:cs typeface="Calibri" pitchFamily="34" charset="-120"/>
              </a:rPr>
              <a:t>Raw data inspection</a:t>
            </a:r>
            <a:endParaRPr lang="en-US" sz="950" dirty="0"/>
          </a:p>
        </p:txBody>
      </p:sp>
      <p:sp>
        <p:nvSpPr>
          <p:cNvPr id="11" name="Text 9"/>
          <p:cNvSpPr/>
          <p:nvPr/>
        </p:nvSpPr>
        <p:spPr>
          <a:xfrm>
            <a:off x="4210812" y="2286000"/>
            <a:ext cx="128016" cy="1417320"/>
          </a:xfrm>
          <a:prstGeom prst="rect">
            <a:avLst/>
          </a:prstGeom>
          <a:noFill/>
          <a:ln/>
        </p:spPr>
        <p:txBody>
          <a:bodyPr wrap="square" lIns="0" tIns="0" rIns="0" bIns="0" rtlCol="0" anchor="ctr"/>
          <a:lstStyle/>
          <a:p>
            <a:pPr algn="ctr" indent="0" marL="0">
              <a:buNone/>
            </a:pPr>
            <a:r>
              <a:rPr lang="en-US" sz="1600" b="1" dirty="0">
                <a:solidFill>
                  <a:srgbClr val="5B6785"/>
                </a:solidFill>
              </a:rPr>
              <a:t>→</a:t>
            </a:r>
            <a:endParaRPr lang="en-US" sz="1600" dirty="0"/>
          </a:p>
        </p:txBody>
      </p:sp>
      <p:sp>
        <p:nvSpPr>
          <p:cNvPr id="12" name="Shape 10"/>
          <p:cNvSpPr/>
          <p:nvPr/>
        </p:nvSpPr>
        <p:spPr>
          <a:xfrm>
            <a:off x="4338828" y="2286000"/>
            <a:ext cx="1691640" cy="1417320"/>
          </a:xfrm>
          <a:prstGeom prst="roundRect">
            <a:avLst>
              <a:gd name="adj" fmla="val 6452"/>
            </a:avLst>
          </a:prstGeom>
          <a:solidFill>
            <a:srgbClr val="1E2761"/>
          </a:solidFill>
          <a:ln/>
          <a:effectLst>
            <a:outerShdw sx="100000" sy="100000" kx="0" ky="0" algn="bl" rotWithShape="0" blurRad="76200" dist="25400" dir="5400000">
              <a:srgbClr val="1E2761">
                <a:alpha val="18000"/>
              </a:srgbClr>
            </a:outerShdw>
          </a:effectLst>
        </p:spPr>
      </p:sp>
      <p:sp>
        <p:nvSpPr>
          <p:cNvPr id="13" name="Text 11"/>
          <p:cNvSpPr/>
          <p:nvPr/>
        </p:nvSpPr>
        <p:spPr>
          <a:xfrm>
            <a:off x="4430268" y="2432304"/>
            <a:ext cx="1508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SQL</a:t>
            </a:r>
            <a:endParaRPr lang="en-US" sz="1500" dirty="0"/>
          </a:p>
        </p:txBody>
      </p:sp>
      <p:sp>
        <p:nvSpPr>
          <p:cNvPr id="14" name="Text 12"/>
          <p:cNvSpPr/>
          <p:nvPr/>
        </p:nvSpPr>
        <p:spPr>
          <a:xfrm>
            <a:off x="4448556" y="2852928"/>
            <a:ext cx="1472184" cy="758952"/>
          </a:xfrm>
          <a:prstGeom prst="rect">
            <a:avLst/>
          </a:prstGeom>
          <a:noFill/>
          <a:ln/>
        </p:spPr>
        <p:txBody>
          <a:bodyPr wrap="square" lIns="0" tIns="0" rIns="0" bIns="0" rtlCol="0" anchor="t"/>
          <a:lstStyle/>
          <a:p>
            <a:pPr algn="ctr" indent="0" marL="0">
              <a:lnSpc>
                <a:spcPct val="110000"/>
              </a:lnSpc>
              <a:buNone/>
            </a:pPr>
            <a:r>
              <a:rPr lang="en-US" sz="950" dirty="0">
                <a:solidFill>
                  <a:srgbClr val="CADCFC"/>
                </a:solidFill>
                <a:latin typeface="Calibri" pitchFamily="34" charset="0"/>
                <a:ea typeface="Calibri" pitchFamily="34" charset="-122"/>
                <a:cs typeface="Calibri" pitchFamily="34" charset="-120"/>
              </a:rPr>
              <a:t>Transformation, validation and business analysis</a:t>
            </a:r>
            <a:endParaRPr lang="en-US" sz="950" dirty="0"/>
          </a:p>
        </p:txBody>
      </p:sp>
      <p:sp>
        <p:nvSpPr>
          <p:cNvPr id="15" name="Text 13"/>
          <p:cNvSpPr/>
          <p:nvPr/>
        </p:nvSpPr>
        <p:spPr>
          <a:xfrm>
            <a:off x="6030468" y="2286000"/>
            <a:ext cx="128016" cy="1417320"/>
          </a:xfrm>
          <a:prstGeom prst="rect">
            <a:avLst/>
          </a:prstGeom>
          <a:noFill/>
          <a:ln/>
        </p:spPr>
        <p:txBody>
          <a:bodyPr wrap="square" lIns="0" tIns="0" rIns="0" bIns="0" rtlCol="0" anchor="ctr"/>
          <a:lstStyle/>
          <a:p>
            <a:pPr algn="ctr" indent="0" marL="0">
              <a:buNone/>
            </a:pPr>
            <a:r>
              <a:rPr lang="en-US" sz="1600" b="1" dirty="0">
                <a:solidFill>
                  <a:srgbClr val="5B6785"/>
                </a:solidFill>
              </a:rPr>
              <a:t>→</a:t>
            </a:r>
            <a:endParaRPr lang="en-US" sz="1600" dirty="0"/>
          </a:p>
        </p:txBody>
      </p:sp>
      <p:sp>
        <p:nvSpPr>
          <p:cNvPr id="16" name="Shape 14"/>
          <p:cNvSpPr/>
          <p:nvPr/>
        </p:nvSpPr>
        <p:spPr>
          <a:xfrm>
            <a:off x="6158484" y="2286000"/>
            <a:ext cx="1691640" cy="1417320"/>
          </a:xfrm>
          <a:prstGeom prst="roundRect">
            <a:avLst>
              <a:gd name="adj" fmla="val 6452"/>
            </a:avLst>
          </a:prstGeom>
          <a:solidFill>
            <a:srgbClr val="1E2761"/>
          </a:solidFill>
          <a:ln/>
          <a:effectLst>
            <a:outerShdw sx="100000" sy="100000" kx="0" ky="0" algn="bl" rotWithShape="0" blurRad="76200" dist="25400" dir="5400000">
              <a:srgbClr val="1E2761">
                <a:alpha val="18000"/>
              </a:srgbClr>
            </a:outerShdw>
          </a:effectLst>
        </p:spPr>
      </p:sp>
      <p:sp>
        <p:nvSpPr>
          <p:cNvPr id="17" name="Text 15"/>
          <p:cNvSpPr/>
          <p:nvPr/>
        </p:nvSpPr>
        <p:spPr>
          <a:xfrm>
            <a:off x="6249924" y="2432304"/>
            <a:ext cx="1508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Power BI</a:t>
            </a:r>
            <a:endParaRPr lang="en-US" sz="1500" dirty="0"/>
          </a:p>
        </p:txBody>
      </p:sp>
      <p:sp>
        <p:nvSpPr>
          <p:cNvPr id="18" name="Text 16"/>
          <p:cNvSpPr/>
          <p:nvPr/>
        </p:nvSpPr>
        <p:spPr>
          <a:xfrm>
            <a:off x="6268212" y="2852928"/>
            <a:ext cx="1472184" cy="758952"/>
          </a:xfrm>
          <a:prstGeom prst="rect">
            <a:avLst/>
          </a:prstGeom>
          <a:noFill/>
          <a:ln/>
        </p:spPr>
        <p:txBody>
          <a:bodyPr wrap="square" lIns="0" tIns="0" rIns="0" bIns="0" rtlCol="0" anchor="t"/>
          <a:lstStyle/>
          <a:p>
            <a:pPr algn="ctr" indent="0" marL="0">
              <a:lnSpc>
                <a:spcPct val="110000"/>
              </a:lnSpc>
              <a:buNone/>
            </a:pPr>
            <a:r>
              <a:rPr lang="en-US" sz="950" dirty="0">
                <a:solidFill>
                  <a:srgbClr val="CADCFC"/>
                </a:solidFill>
                <a:latin typeface="Calibri" pitchFamily="34" charset="0"/>
                <a:ea typeface="Calibri" pitchFamily="34" charset="-122"/>
                <a:cs typeface="Calibri" pitchFamily="34" charset="-120"/>
              </a:rPr>
              <a:t>DAX modelling, dashboards and interactive analysis</a:t>
            </a:r>
            <a:endParaRPr lang="en-US" sz="950" dirty="0"/>
          </a:p>
        </p:txBody>
      </p:sp>
      <p:sp>
        <p:nvSpPr>
          <p:cNvPr id="19" name="Text 17"/>
          <p:cNvSpPr/>
          <p:nvPr/>
        </p:nvSpPr>
        <p:spPr>
          <a:xfrm>
            <a:off x="7850124" y="2286000"/>
            <a:ext cx="128016" cy="1417320"/>
          </a:xfrm>
          <a:prstGeom prst="rect">
            <a:avLst/>
          </a:prstGeom>
          <a:noFill/>
          <a:ln/>
        </p:spPr>
        <p:txBody>
          <a:bodyPr wrap="square" lIns="0" tIns="0" rIns="0" bIns="0" rtlCol="0" anchor="ctr"/>
          <a:lstStyle/>
          <a:p>
            <a:pPr algn="ctr" indent="0" marL="0">
              <a:buNone/>
            </a:pPr>
            <a:r>
              <a:rPr lang="en-US" sz="1600" b="1" dirty="0">
                <a:solidFill>
                  <a:srgbClr val="5B6785"/>
                </a:solidFill>
              </a:rPr>
              <a:t>→</a:t>
            </a:r>
            <a:endParaRPr lang="en-US" sz="1600" dirty="0"/>
          </a:p>
        </p:txBody>
      </p:sp>
      <p:sp>
        <p:nvSpPr>
          <p:cNvPr id="20" name="Shape 18"/>
          <p:cNvSpPr/>
          <p:nvPr/>
        </p:nvSpPr>
        <p:spPr>
          <a:xfrm>
            <a:off x="7978140" y="2286000"/>
            <a:ext cx="1691640" cy="1417320"/>
          </a:xfrm>
          <a:prstGeom prst="roundRect">
            <a:avLst>
              <a:gd name="adj" fmla="val 6452"/>
            </a:avLst>
          </a:prstGeom>
          <a:solidFill>
            <a:srgbClr val="D99B2B"/>
          </a:solidFill>
          <a:ln/>
          <a:effectLst>
            <a:outerShdw sx="100000" sy="100000" kx="0" ky="0" algn="bl" rotWithShape="0" blurRad="76200" dist="25400" dir="5400000">
              <a:srgbClr val="1E2761">
                <a:alpha val="18000"/>
              </a:srgbClr>
            </a:outerShdw>
          </a:effectLst>
        </p:spPr>
      </p:sp>
      <p:sp>
        <p:nvSpPr>
          <p:cNvPr id="21" name="Text 19"/>
          <p:cNvSpPr/>
          <p:nvPr/>
        </p:nvSpPr>
        <p:spPr>
          <a:xfrm>
            <a:off x="8069580" y="2432304"/>
            <a:ext cx="1508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Business Insights</a:t>
            </a:r>
            <a:endParaRPr lang="en-US" sz="1250" dirty="0"/>
          </a:p>
        </p:txBody>
      </p:sp>
      <p:sp>
        <p:nvSpPr>
          <p:cNvPr id="22" name="Text 20"/>
          <p:cNvSpPr/>
          <p:nvPr/>
        </p:nvSpPr>
        <p:spPr>
          <a:xfrm>
            <a:off x="8087868" y="2852928"/>
            <a:ext cx="1472184" cy="758952"/>
          </a:xfrm>
          <a:prstGeom prst="rect">
            <a:avLst/>
          </a:prstGeom>
          <a:noFill/>
          <a:ln/>
        </p:spPr>
        <p:txBody>
          <a:bodyPr wrap="square" lIns="0" tIns="0" rIns="0" bIns="0" rtlCol="0" anchor="t"/>
          <a:lstStyle/>
          <a:p>
            <a:pPr algn="ctr" indent="0" marL="0">
              <a:lnSpc>
                <a:spcPct val="110000"/>
              </a:lnSpc>
              <a:buNone/>
            </a:pPr>
            <a:r>
              <a:rPr lang="en-US" sz="950" dirty="0">
                <a:solidFill>
                  <a:srgbClr val="3B2B00"/>
                </a:solidFill>
                <a:latin typeface="Calibri" pitchFamily="34" charset="0"/>
                <a:ea typeface="Calibri" pitchFamily="34" charset="-122"/>
                <a:cs typeface="Calibri" pitchFamily="34" charset="-120"/>
              </a:rPr>
              <a:t>Findings synthesized into strategic themes</a:t>
            </a:r>
            <a:endParaRPr lang="en-US" sz="950" dirty="0"/>
          </a:p>
        </p:txBody>
      </p:sp>
      <p:sp>
        <p:nvSpPr>
          <p:cNvPr id="23" name="Text 21"/>
          <p:cNvSpPr/>
          <p:nvPr/>
        </p:nvSpPr>
        <p:spPr>
          <a:xfrm>
            <a:off x="9669780" y="2286000"/>
            <a:ext cx="128016" cy="1417320"/>
          </a:xfrm>
          <a:prstGeom prst="rect">
            <a:avLst/>
          </a:prstGeom>
          <a:noFill/>
          <a:ln/>
        </p:spPr>
        <p:txBody>
          <a:bodyPr wrap="square" lIns="0" tIns="0" rIns="0" bIns="0" rtlCol="0" anchor="ctr"/>
          <a:lstStyle/>
          <a:p>
            <a:pPr algn="ctr" indent="0" marL="0">
              <a:buNone/>
            </a:pPr>
            <a:r>
              <a:rPr lang="en-US" sz="1600" b="1" dirty="0">
                <a:solidFill>
                  <a:srgbClr val="5B6785"/>
                </a:solidFill>
              </a:rPr>
              <a:t>→</a:t>
            </a:r>
            <a:endParaRPr lang="en-US" sz="1600" dirty="0"/>
          </a:p>
        </p:txBody>
      </p:sp>
      <p:sp>
        <p:nvSpPr>
          <p:cNvPr id="24" name="Shape 22"/>
          <p:cNvSpPr/>
          <p:nvPr/>
        </p:nvSpPr>
        <p:spPr>
          <a:xfrm>
            <a:off x="9797796" y="2286000"/>
            <a:ext cx="1691640" cy="1417320"/>
          </a:xfrm>
          <a:prstGeom prst="roundRect">
            <a:avLst>
              <a:gd name="adj" fmla="val 6452"/>
            </a:avLst>
          </a:prstGeom>
          <a:solidFill>
            <a:srgbClr val="D99B2B"/>
          </a:solidFill>
          <a:ln/>
          <a:effectLst>
            <a:outerShdw sx="100000" sy="100000" kx="0" ky="0" algn="bl" rotWithShape="0" blurRad="76200" dist="25400" dir="5400000">
              <a:srgbClr val="1E2761">
                <a:alpha val="18000"/>
              </a:srgbClr>
            </a:outerShdw>
          </a:effectLst>
        </p:spPr>
      </p:sp>
      <p:sp>
        <p:nvSpPr>
          <p:cNvPr id="25" name="Text 23"/>
          <p:cNvSpPr/>
          <p:nvPr/>
        </p:nvSpPr>
        <p:spPr>
          <a:xfrm>
            <a:off x="9889236" y="2432304"/>
            <a:ext cx="1508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Recommendations</a:t>
            </a:r>
            <a:endParaRPr lang="en-US" sz="1250" dirty="0"/>
          </a:p>
        </p:txBody>
      </p:sp>
      <p:sp>
        <p:nvSpPr>
          <p:cNvPr id="26" name="Text 24"/>
          <p:cNvSpPr/>
          <p:nvPr/>
        </p:nvSpPr>
        <p:spPr>
          <a:xfrm>
            <a:off x="9907524" y="2852928"/>
            <a:ext cx="1472184" cy="758952"/>
          </a:xfrm>
          <a:prstGeom prst="rect">
            <a:avLst/>
          </a:prstGeom>
          <a:noFill/>
          <a:ln/>
        </p:spPr>
        <p:txBody>
          <a:bodyPr wrap="square" lIns="0" tIns="0" rIns="0" bIns="0" rtlCol="0" anchor="t"/>
          <a:lstStyle/>
          <a:p>
            <a:pPr algn="ctr" indent="0" marL="0">
              <a:lnSpc>
                <a:spcPct val="110000"/>
              </a:lnSpc>
              <a:buNone/>
            </a:pPr>
            <a:r>
              <a:rPr lang="en-US" sz="950" dirty="0">
                <a:solidFill>
                  <a:srgbClr val="3B2B00"/>
                </a:solidFill>
                <a:latin typeface="Calibri" pitchFamily="34" charset="0"/>
                <a:ea typeface="Calibri" pitchFamily="34" charset="-122"/>
                <a:cs typeface="Calibri" pitchFamily="34" charset="-120"/>
              </a:rPr>
              <a:t>Actionable guidance for management</a:t>
            </a:r>
            <a:endParaRPr lang="en-US" sz="950" dirty="0"/>
          </a:p>
        </p:txBody>
      </p:sp>
      <p:sp>
        <p:nvSpPr>
          <p:cNvPr id="27" name="Text 25"/>
          <p:cNvSpPr/>
          <p:nvPr/>
        </p:nvSpPr>
        <p:spPr>
          <a:xfrm>
            <a:off x="457200" y="4160520"/>
            <a:ext cx="10607040" cy="365760"/>
          </a:xfrm>
          <a:prstGeom prst="rect">
            <a:avLst/>
          </a:prstGeom>
          <a:noFill/>
          <a:ln/>
        </p:spPr>
        <p:txBody>
          <a:bodyPr wrap="square" lIns="0" tIns="0" rIns="0" bIns="0" rtlCol="0" anchor="ctr"/>
          <a:lstStyle/>
          <a:p>
            <a:pPr algn="ctr" indent="0" marL="0">
              <a:buNone/>
            </a:pPr>
            <a:r>
              <a:rPr lang="en-US" sz="1250" i="1" dirty="0">
                <a:solidFill>
                  <a:srgbClr val="5B6785"/>
                </a:solidFill>
                <a:latin typeface="Calibri" pitchFamily="34" charset="0"/>
                <a:ea typeface="Calibri" pitchFamily="34" charset="-122"/>
                <a:cs typeface="Calibri" pitchFamily="34" charset="-120"/>
              </a:rPr>
              <a:t>Four tools, one narrative: raw transactions become validated data, then modeled metrics, then decisions.</a:t>
            </a:r>
            <a:endParaRPr lang="en-US" sz="1250" dirty="0"/>
          </a:p>
        </p:txBody>
      </p:sp>
      <p:sp>
        <p:nvSpPr>
          <p:cNvPr id="28" name="Text 26"/>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850" dirty="0">
                <a:solidFill>
                  <a:srgbClr val="5B6785"/>
                </a:solidFill>
                <a:latin typeface="Calibri" pitchFamily="34" charset="0"/>
                <a:ea typeface="Calibri" pitchFamily="34" charset="-122"/>
                <a:cs typeface="Calibri" pitchFamily="34" charset="-120"/>
              </a:rPr>
              <a:t>NexaMart Customer Profitability &amp; Revenue Intelligence</a:t>
            </a:r>
            <a:endParaRPr lang="en-US" sz="850" dirty="0"/>
          </a:p>
        </p:txBody>
      </p:sp>
      <p:sp>
        <p:nvSpPr>
          <p:cNvPr id="29" name="Text 27"/>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850" dirty="0">
                <a:solidFill>
                  <a:srgbClr val="5B6785"/>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indent="0" marL="0">
              <a:buNone/>
            </a:pPr>
            <a:r>
              <a:rPr lang="en-US" sz="1150" b="1" spc="200" kern="0" dirty="0">
                <a:solidFill>
                  <a:srgbClr val="D99B2B"/>
                </a:solidFill>
                <a:latin typeface="Calibri" pitchFamily="34" charset="0"/>
                <a:ea typeface="Calibri" pitchFamily="34" charset="-122"/>
                <a:cs typeface="Calibri" pitchFamily="34" charset="-120"/>
              </a:rPr>
              <a:t>DATA ARCHITECTURE</a:t>
            </a:r>
            <a:endParaRPr lang="en-US" sz="1150" dirty="0"/>
          </a:p>
        </p:txBody>
      </p:sp>
      <p:sp>
        <p:nvSpPr>
          <p:cNvPr id="3" name="Text 1"/>
          <p:cNvSpPr/>
          <p:nvPr/>
        </p:nvSpPr>
        <p:spPr>
          <a:xfrm>
            <a:off x="457200" y="56692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Data Model &amp; Analytical Architecture</a:t>
            </a:r>
            <a:endParaRPr lang="en-US" sz="3000" dirty="0"/>
          </a:p>
        </p:txBody>
      </p:sp>
      <p:sp>
        <p:nvSpPr>
          <p:cNvPr id="4" name="Shape 2"/>
          <p:cNvSpPr/>
          <p:nvPr/>
        </p:nvSpPr>
        <p:spPr>
          <a:xfrm>
            <a:off x="3977640" y="3520440"/>
            <a:ext cx="0" cy="-1515618"/>
          </a:xfrm>
          <a:prstGeom prst="line">
            <a:avLst/>
          </a:prstGeom>
          <a:noFill/>
          <a:ln w="19050">
            <a:solidFill>
              <a:srgbClr val="CADCFC"/>
            </a:solidFill>
            <a:prstDash val="solid"/>
          </a:ln>
        </p:spPr>
      </p:sp>
      <p:sp>
        <p:nvSpPr>
          <p:cNvPr id="5" name="Shape 3"/>
          <p:cNvSpPr/>
          <p:nvPr/>
        </p:nvSpPr>
        <p:spPr>
          <a:xfrm>
            <a:off x="3977640" y="3520440"/>
            <a:ext cx="1544193" cy="-757809"/>
          </a:xfrm>
          <a:prstGeom prst="line">
            <a:avLst/>
          </a:prstGeom>
          <a:noFill/>
          <a:ln w="19050">
            <a:solidFill>
              <a:srgbClr val="CADCFC"/>
            </a:solidFill>
            <a:prstDash val="solid"/>
          </a:ln>
        </p:spPr>
      </p:sp>
      <p:sp>
        <p:nvSpPr>
          <p:cNvPr id="6" name="Shape 4"/>
          <p:cNvSpPr/>
          <p:nvPr/>
        </p:nvSpPr>
        <p:spPr>
          <a:xfrm>
            <a:off x="3977640" y="3520440"/>
            <a:ext cx="1544193" cy="757809"/>
          </a:xfrm>
          <a:prstGeom prst="line">
            <a:avLst/>
          </a:prstGeom>
          <a:noFill/>
          <a:ln w="19050">
            <a:solidFill>
              <a:srgbClr val="CADCFC"/>
            </a:solidFill>
            <a:prstDash val="solid"/>
          </a:ln>
        </p:spPr>
      </p:sp>
      <p:sp>
        <p:nvSpPr>
          <p:cNvPr id="7" name="Shape 5"/>
          <p:cNvSpPr/>
          <p:nvPr/>
        </p:nvSpPr>
        <p:spPr>
          <a:xfrm>
            <a:off x="3977640" y="3520440"/>
            <a:ext cx="0" cy="1515618"/>
          </a:xfrm>
          <a:prstGeom prst="line">
            <a:avLst/>
          </a:prstGeom>
          <a:noFill/>
          <a:ln w="19050">
            <a:solidFill>
              <a:srgbClr val="CADCFC"/>
            </a:solidFill>
            <a:prstDash val="solid"/>
          </a:ln>
        </p:spPr>
      </p:sp>
      <p:sp>
        <p:nvSpPr>
          <p:cNvPr id="8" name="Shape 6"/>
          <p:cNvSpPr/>
          <p:nvPr/>
        </p:nvSpPr>
        <p:spPr>
          <a:xfrm>
            <a:off x="3977640" y="3520440"/>
            <a:ext cx="-1544193" cy="757809"/>
          </a:xfrm>
          <a:prstGeom prst="line">
            <a:avLst/>
          </a:prstGeom>
          <a:noFill/>
          <a:ln w="19050">
            <a:solidFill>
              <a:srgbClr val="CADCFC"/>
            </a:solidFill>
            <a:prstDash val="solid"/>
          </a:ln>
        </p:spPr>
      </p:sp>
      <p:sp>
        <p:nvSpPr>
          <p:cNvPr id="9" name="Shape 7"/>
          <p:cNvSpPr/>
          <p:nvPr/>
        </p:nvSpPr>
        <p:spPr>
          <a:xfrm>
            <a:off x="3977640" y="3520440"/>
            <a:ext cx="-1544193" cy="-757809"/>
          </a:xfrm>
          <a:prstGeom prst="line">
            <a:avLst/>
          </a:prstGeom>
          <a:noFill/>
          <a:ln w="19050">
            <a:solidFill>
              <a:srgbClr val="CADCFC"/>
            </a:solidFill>
            <a:prstDash val="solid"/>
          </a:ln>
        </p:spPr>
      </p:sp>
      <p:sp>
        <p:nvSpPr>
          <p:cNvPr id="10" name="Shape 8"/>
          <p:cNvSpPr/>
          <p:nvPr/>
        </p:nvSpPr>
        <p:spPr>
          <a:xfrm>
            <a:off x="2834640" y="3086100"/>
            <a:ext cx="2286000" cy="868680"/>
          </a:xfrm>
          <a:prstGeom prst="roundRect">
            <a:avLst>
              <a:gd name="adj" fmla="val 10526"/>
            </a:avLst>
          </a:prstGeom>
          <a:solidFill>
            <a:srgbClr val="1E2761"/>
          </a:solidFill>
          <a:ln/>
          <a:effectLst>
            <a:outerShdw sx="100000" sy="100000" kx="0" ky="0" algn="bl" rotWithShape="0" blurRad="76200" dist="25400" dir="5400000">
              <a:srgbClr val="1E2761">
                <a:alpha val="20000"/>
              </a:srgbClr>
            </a:outerShdw>
          </a:effectLst>
        </p:spPr>
      </p:sp>
      <p:sp>
        <p:nvSpPr>
          <p:cNvPr id="11" name="Text 9"/>
          <p:cNvSpPr/>
          <p:nvPr/>
        </p:nvSpPr>
        <p:spPr>
          <a:xfrm>
            <a:off x="2834640" y="3086100"/>
            <a:ext cx="2286000" cy="868680"/>
          </a:xfrm>
          <a:prstGeom prst="rect">
            <a:avLst/>
          </a:prstGeom>
          <a:noFill/>
          <a:ln/>
        </p:spPr>
        <p:txBody>
          <a:bodyPr wrap="square" lIns="0" tIns="0" rIns="0" bIns="0" rtlCol="0" anchor="ctr"/>
          <a:lstStyle/>
          <a:p>
            <a:pPr algn="ctr" indent="0" marL="0">
              <a:lnSpc>
                <a:spcPct val="105000"/>
              </a:lnSpc>
              <a:buNone/>
            </a:pPr>
            <a:r>
              <a:rPr lang="en-US" sz="1250" b="1" dirty="0">
                <a:solidFill>
                  <a:srgbClr val="FFFFFF"/>
                </a:solidFill>
                <a:latin typeface="Cambria" pitchFamily="34" charset="0"/>
                <a:ea typeface="Cambria" pitchFamily="34" charset="-122"/>
                <a:cs typeface="Cambria" pitchFamily="34" charset="-120"/>
              </a:rPr>
              <a:t>fact_customer_</a:t>
            </a:r>
            <a:endParaRPr lang="en-US" sz="1250" dirty="0"/>
          </a:p>
          <a:p>
            <a:pPr algn="ctr" indent="0" marL="0">
              <a:lnSpc>
                <a:spcPct val="105000"/>
              </a:lnSpc>
              <a:buNone/>
            </a:pPr>
            <a:r>
              <a:rPr lang="en-US" sz="1250" b="1" dirty="0">
                <a:solidFill>
                  <a:srgbClr val="FFFFFF"/>
                </a:solidFill>
                <a:latin typeface="Cambria" pitchFamily="34" charset="0"/>
                <a:ea typeface="Cambria" pitchFamily="34" charset="-122"/>
                <a:cs typeface="Cambria" pitchFamily="34" charset="-120"/>
              </a:rPr>
              <a:t>profitability</a:t>
            </a:r>
            <a:endParaRPr lang="en-US" sz="1250" dirty="0"/>
          </a:p>
        </p:txBody>
      </p:sp>
      <p:sp>
        <p:nvSpPr>
          <p:cNvPr id="12" name="Shape 10"/>
          <p:cNvSpPr/>
          <p:nvPr/>
        </p:nvSpPr>
        <p:spPr>
          <a:xfrm>
            <a:off x="3268980" y="1767078"/>
            <a:ext cx="1417320" cy="475488"/>
          </a:xfrm>
          <a:prstGeom prst="roundRect">
            <a:avLst>
              <a:gd name="adj" fmla="val 15385"/>
            </a:avLst>
          </a:prstGeom>
          <a:solidFill>
            <a:srgbClr val="EEF3FC"/>
          </a:solidFill>
          <a:ln w="15875">
            <a:solidFill>
              <a:srgbClr val="CADCFC"/>
            </a:solidFill>
            <a:prstDash val="solid"/>
          </a:ln>
        </p:spPr>
      </p:sp>
      <p:sp>
        <p:nvSpPr>
          <p:cNvPr id="13" name="Text 11"/>
          <p:cNvSpPr/>
          <p:nvPr/>
        </p:nvSpPr>
        <p:spPr>
          <a:xfrm>
            <a:off x="3268980" y="1767078"/>
            <a:ext cx="1417320" cy="47548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Customer</a:t>
            </a:r>
            <a:endParaRPr lang="en-US" sz="1100" dirty="0"/>
          </a:p>
        </p:txBody>
      </p:sp>
      <p:sp>
        <p:nvSpPr>
          <p:cNvPr id="14" name="Shape 12"/>
          <p:cNvSpPr/>
          <p:nvPr/>
        </p:nvSpPr>
        <p:spPr>
          <a:xfrm>
            <a:off x="4813173" y="2524887"/>
            <a:ext cx="1417320" cy="475488"/>
          </a:xfrm>
          <a:prstGeom prst="roundRect">
            <a:avLst>
              <a:gd name="adj" fmla="val 15385"/>
            </a:avLst>
          </a:prstGeom>
          <a:solidFill>
            <a:srgbClr val="EEF3FC"/>
          </a:solidFill>
          <a:ln w="15875">
            <a:solidFill>
              <a:srgbClr val="CADCFC"/>
            </a:solidFill>
            <a:prstDash val="solid"/>
          </a:ln>
        </p:spPr>
      </p:sp>
      <p:sp>
        <p:nvSpPr>
          <p:cNvPr id="15" name="Text 13"/>
          <p:cNvSpPr/>
          <p:nvPr/>
        </p:nvSpPr>
        <p:spPr>
          <a:xfrm>
            <a:off x="4813173" y="2524887"/>
            <a:ext cx="1417320" cy="47548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Product</a:t>
            </a:r>
            <a:endParaRPr lang="en-US" sz="1100" dirty="0"/>
          </a:p>
        </p:txBody>
      </p:sp>
      <p:sp>
        <p:nvSpPr>
          <p:cNvPr id="16" name="Shape 14"/>
          <p:cNvSpPr/>
          <p:nvPr/>
        </p:nvSpPr>
        <p:spPr>
          <a:xfrm>
            <a:off x="4813173" y="4040505"/>
            <a:ext cx="1417320" cy="475488"/>
          </a:xfrm>
          <a:prstGeom prst="roundRect">
            <a:avLst>
              <a:gd name="adj" fmla="val 15385"/>
            </a:avLst>
          </a:prstGeom>
          <a:solidFill>
            <a:srgbClr val="EEF3FC"/>
          </a:solidFill>
          <a:ln w="15875">
            <a:solidFill>
              <a:srgbClr val="CADCFC"/>
            </a:solidFill>
            <a:prstDash val="solid"/>
          </a:ln>
        </p:spPr>
      </p:sp>
      <p:sp>
        <p:nvSpPr>
          <p:cNvPr id="17" name="Text 15"/>
          <p:cNvSpPr/>
          <p:nvPr/>
        </p:nvSpPr>
        <p:spPr>
          <a:xfrm>
            <a:off x="4813173" y="4040505"/>
            <a:ext cx="1417320" cy="47548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Category</a:t>
            </a:r>
            <a:endParaRPr lang="en-US" sz="1100" dirty="0"/>
          </a:p>
        </p:txBody>
      </p:sp>
      <p:sp>
        <p:nvSpPr>
          <p:cNvPr id="18" name="Shape 16"/>
          <p:cNvSpPr/>
          <p:nvPr/>
        </p:nvSpPr>
        <p:spPr>
          <a:xfrm>
            <a:off x="3268980" y="4798314"/>
            <a:ext cx="1417320" cy="475488"/>
          </a:xfrm>
          <a:prstGeom prst="roundRect">
            <a:avLst>
              <a:gd name="adj" fmla="val 15385"/>
            </a:avLst>
          </a:prstGeom>
          <a:solidFill>
            <a:srgbClr val="EEF3FC"/>
          </a:solidFill>
          <a:ln w="15875">
            <a:solidFill>
              <a:srgbClr val="CADCFC"/>
            </a:solidFill>
            <a:prstDash val="solid"/>
          </a:ln>
        </p:spPr>
      </p:sp>
      <p:sp>
        <p:nvSpPr>
          <p:cNvPr id="19" name="Text 17"/>
          <p:cNvSpPr/>
          <p:nvPr/>
        </p:nvSpPr>
        <p:spPr>
          <a:xfrm>
            <a:off x="3268980" y="4798314"/>
            <a:ext cx="1417320" cy="47548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Region</a:t>
            </a:r>
            <a:endParaRPr lang="en-US" sz="1100" dirty="0"/>
          </a:p>
        </p:txBody>
      </p:sp>
      <p:sp>
        <p:nvSpPr>
          <p:cNvPr id="20" name="Shape 18"/>
          <p:cNvSpPr/>
          <p:nvPr/>
        </p:nvSpPr>
        <p:spPr>
          <a:xfrm>
            <a:off x="1724787" y="4040505"/>
            <a:ext cx="1417320" cy="475488"/>
          </a:xfrm>
          <a:prstGeom prst="roundRect">
            <a:avLst>
              <a:gd name="adj" fmla="val 15385"/>
            </a:avLst>
          </a:prstGeom>
          <a:solidFill>
            <a:srgbClr val="EEF3FC"/>
          </a:solidFill>
          <a:ln w="15875">
            <a:solidFill>
              <a:srgbClr val="CADCFC"/>
            </a:solidFill>
            <a:prstDash val="solid"/>
          </a:ln>
        </p:spPr>
      </p:sp>
      <p:sp>
        <p:nvSpPr>
          <p:cNvPr id="21" name="Text 19"/>
          <p:cNvSpPr/>
          <p:nvPr/>
        </p:nvSpPr>
        <p:spPr>
          <a:xfrm>
            <a:off x="1724787" y="4040505"/>
            <a:ext cx="1417320" cy="47548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Sales Channel</a:t>
            </a:r>
            <a:endParaRPr lang="en-US" sz="1100" dirty="0"/>
          </a:p>
        </p:txBody>
      </p:sp>
      <p:sp>
        <p:nvSpPr>
          <p:cNvPr id="22" name="Shape 20"/>
          <p:cNvSpPr/>
          <p:nvPr/>
        </p:nvSpPr>
        <p:spPr>
          <a:xfrm>
            <a:off x="1724787" y="2524887"/>
            <a:ext cx="1417320" cy="475488"/>
          </a:xfrm>
          <a:prstGeom prst="roundRect">
            <a:avLst>
              <a:gd name="adj" fmla="val 15385"/>
            </a:avLst>
          </a:prstGeom>
          <a:solidFill>
            <a:srgbClr val="EEF3FC"/>
          </a:solidFill>
          <a:ln w="15875">
            <a:solidFill>
              <a:srgbClr val="CADCFC"/>
            </a:solidFill>
            <a:prstDash val="solid"/>
          </a:ln>
        </p:spPr>
      </p:sp>
      <p:sp>
        <p:nvSpPr>
          <p:cNvPr id="23" name="Text 21"/>
          <p:cNvSpPr/>
          <p:nvPr/>
        </p:nvSpPr>
        <p:spPr>
          <a:xfrm>
            <a:off x="1724787" y="2524887"/>
            <a:ext cx="1417320" cy="47548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Time</a:t>
            </a:r>
            <a:endParaRPr lang="en-US" sz="1100" dirty="0"/>
          </a:p>
        </p:txBody>
      </p:sp>
      <p:sp>
        <p:nvSpPr>
          <p:cNvPr id="24" name="Shape 22"/>
          <p:cNvSpPr/>
          <p:nvPr/>
        </p:nvSpPr>
        <p:spPr>
          <a:xfrm>
            <a:off x="7863840" y="1371600"/>
            <a:ext cx="3886200" cy="3246120"/>
          </a:xfrm>
          <a:prstGeom prst="roundRect">
            <a:avLst>
              <a:gd name="adj" fmla="val 2817"/>
            </a:avLst>
          </a:prstGeom>
          <a:solidFill>
            <a:srgbClr val="FFFFFF"/>
          </a:solidFill>
          <a:ln w="12700">
            <a:solidFill>
              <a:srgbClr val="DCE3F2"/>
            </a:solidFill>
            <a:prstDash val="solid"/>
          </a:ln>
        </p:spPr>
      </p:sp>
      <p:sp>
        <p:nvSpPr>
          <p:cNvPr id="25" name="Text 23"/>
          <p:cNvSpPr/>
          <p:nvPr/>
        </p:nvSpPr>
        <p:spPr>
          <a:xfrm>
            <a:off x="8092440" y="1536192"/>
            <a:ext cx="3474720" cy="274320"/>
          </a:xfrm>
          <a:prstGeom prst="rect">
            <a:avLst/>
          </a:prstGeom>
          <a:noFill/>
          <a:ln/>
        </p:spPr>
        <p:txBody>
          <a:bodyPr wrap="square" lIns="0" tIns="0" rIns="0" bIns="0" rtlCol="0" anchor="ctr"/>
          <a:lstStyle/>
          <a:p>
            <a:pPr indent="0" marL="0">
              <a:buNone/>
            </a:pPr>
            <a:r>
              <a:rPr lang="en-US" sz="1100" b="1" spc="150" kern="0" dirty="0">
                <a:solidFill>
                  <a:srgbClr val="1E2761"/>
                </a:solidFill>
                <a:latin typeface="Calibri" pitchFamily="34" charset="0"/>
                <a:ea typeface="Calibri" pitchFamily="34" charset="-122"/>
                <a:cs typeface="Calibri" pitchFamily="34" charset="-120"/>
              </a:rPr>
              <a:t>CORE METRICS</a:t>
            </a:r>
            <a:endParaRPr lang="en-US" sz="1100" dirty="0"/>
          </a:p>
        </p:txBody>
      </p:sp>
      <p:sp>
        <p:nvSpPr>
          <p:cNvPr id="26" name="Text 24"/>
          <p:cNvSpPr/>
          <p:nvPr/>
        </p:nvSpPr>
        <p:spPr>
          <a:xfrm>
            <a:off x="8092440" y="1874520"/>
            <a:ext cx="3474720" cy="329184"/>
          </a:xfrm>
          <a:prstGeom prst="rect">
            <a:avLst/>
          </a:prstGeom>
          <a:noFill/>
          <a:ln/>
        </p:spPr>
        <p:txBody>
          <a:bodyPr wrap="square" lIns="0" tIns="0" rIns="0" bIns="0" rtlCol="0" anchor="ctr"/>
          <a:lstStyle/>
          <a:p>
            <a:pPr indent="0" marL="0">
              <a:buNone/>
            </a:pPr>
            <a:r>
              <a:rPr lang="en-US" sz="1300" dirty="0">
                <a:solidFill>
                  <a:srgbClr val="44506B"/>
                </a:solidFill>
                <a:latin typeface="Calibri" pitchFamily="34" charset="0"/>
                <a:ea typeface="Calibri" pitchFamily="34" charset="-122"/>
                <a:cs typeface="Calibri" pitchFamily="34" charset="-120"/>
              </a:rPr>
              <a:t>•  Revenue</a:t>
            </a:r>
            <a:endParaRPr lang="en-US" sz="1300" dirty="0"/>
          </a:p>
        </p:txBody>
      </p:sp>
      <p:sp>
        <p:nvSpPr>
          <p:cNvPr id="27" name="Text 25"/>
          <p:cNvSpPr/>
          <p:nvPr/>
        </p:nvSpPr>
        <p:spPr>
          <a:xfrm>
            <a:off x="8092440" y="2258568"/>
            <a:ext cx="3474720" cy="329184"/>
          </a:xfrm>
          <a:prstGeom prst="rect">
            <a:avLst/>
          </a:prstGeom>
          <a:noFill/>
          <a:ln/>
        </p:spPr>
        <p:txBody>
          <a:bodyPr wrap="square" lIns="0" tIns="0" rIns="0" bIns="0" rtlCol="0" anchor="ctr"/>
          <a:lstStyle/>
          <a:p>
            <a:pPr indent="0" marL="0">
              <a:buNone/>
            </a:pPr>
            <a:r>
              <a:rPr lang="en-US" sz="1300" dirty="0">
                <a:solidFill>
                  <a:srgbClr val="44506B"/>
                </a:solidFill>
                <a:latin typeface="Calibri" pitchFamily="34" charset="0"/>
                <a:ea typeface="Calibri" pitchFamily="34" charset="-122"/>
                <a:cs typeface="Calibri" pitchFamily="34" charset="-120"/>
              </a:rPr>
              <a:t>•  COGS</a:t>
            </a:r>
            <a:endParaRPr lang="en-US" sz="1300" dirty="0"/>
          </a:p>
        </p:txBody>
      </p:sp>
      <p:sp>
        <p:nvSpPr>
          <p:cNvPr id="28" name="Text 26"/>
          <p:cNvSpPr/>
          <p:nvPr/>
        </p:nvSpPr>
        <p:spPr>
          <a:xfrm>
            <a:off x="8092440" y="2642616"/>
            <a:ext cx="3474720" cy="329184"/>
          </a:xfrm>
          <a:prstGeom prst="rect">
            <a:avLst/>
          </a:prstGeom>
          <a:noFill/>
          <a:ln/>
        </p:spPr>
        <p:txBody>
          <a:bodyPr wrap="square" lIns="0" tIns="0" rIns="0" bIns="0" rtlCol="0" anchor="ctr"/>
          <a:lstStyle/>
          <a:p>
            <a:pPr indent="0" marL="0">
              <a:buNone/>
            </a:pPr>
            <a:r>
              <a:rPr lang="en-US" sz="1300" dirty="0">
                <a:solidFill>
                  <a:srgbClr val="44506B"/>
                </a:solidFill>
                <a:latin typeface="Calibri" pitchFamily="34" charset="0"/>
                <a:ea typeface="Calibri" pitchFamily="34" charset="-122"/>
                <a:cs typeface="Calibri" pitchFamily="34" charset="-120"/>
              </a:rPr>
              <a:t>•  Gross Profit</a:t>
            </a:r>
            <a:endParaRPr lang="en-US" sz="1300" dirty="0"/>
          </a:p>
        </p:txBody>
      </p:sp>
      <p:sp>
        <p:nvSpPr>
          <p:cNvPr id="29" name="Text 27"/>
          <p:cNvSpPr/>
          <p:nvPr/>
        </p:nvSpPr>
        <p:spPr>
          <a:xfrm>
            <a:off x="8092440" y="3026664"/>
            <a:ext cx="3474720" cy="329184"/>
          </a:xfrm>
          <a:prstGeom prst="rect">
            <a:avLst/>
          </a:prstGeom>
          <a:noFill/>
          <a:ln/>
        </p:spPr>
        <p:txBody>
          <a:bodyPr wrap="square" lIns="0" tIns="0" rIns="0" bIns="0" rtlCol="0" anchor="ctr"/>
          <a:lstStyle/>
          <a:p>
            <a:pPr indent="0" marL="0">
              <a:buNone/>
            </a:pPr>
            <a:r>
              <a:rPr lang="en-US" sz="1300" dirty="0">
                <a:solidFill>
                  <a:srgbClr val="44506B"/>
                </a:solidFill>
                <a:latin typeface="Calibri" pitchFamily="34" charset="0"/>
                <a:ea typeface="Calibri" pitchFamily="34" charset="-122"/>
                <a:cs typeface="Calibri" pitchFamily="34" charset="-120"/>
              </a:rPr>
              <a:t>•  Gross Margin</a:t>
            </a:r>
            <a:endParaRPr lang="en-US" sz="1300" dirty="0"/>
          </a:p>
        </p:txBody>
      </p:sp>
      <p:sp>
        <p:nvSpPr>
          <p:cNvPr id="30" name="Text 28"/>
          <p:cNvSpPr/>
          <p:nvPr/>
        </p:nvSpPr>
        <p:spPr>
          <a:xfrm>
            <a:off x="8092440" y="3410712"/>
            <a:ext cx="3474720" cy="329184"/>
          </a:xfrm>
          <a:prstGeom prst="rect">
            <a:avLst/>
          </a:prstGeom>
          <a:noFill/>
          <a:ln/>
        </p:spPr>
        <p:txBody>
          <a:bodyPr wrap="square" lIns="0" tIns="0" rIns="0" bIns="0" rtlCol="0" anchor="ctr"/>
          <a:lstStyle/>
          <a:p>
            <a:pPr indent="0" marL="0">
              <a:buNone/>
            </a:pPr>
            <a:r>
              <a:rPr lang="en-US" sz="1300" dirty="0">
                <a:solidFill>
                  <a:srgbClr val="44506B"/>
                </a:solidFill>
                <a:latin typeface="Calibri" pitchFamily="34" charset="0"/>
                <a:ea typeface="Calibri" pitchFamily="34" charset="-122"/>
                <a:cs typeface="Calibri" pitchFamily="34" charset="-120"/>
              </a:rPr>
              <a:t>•  Discount</a:t>
            </a:r>
            <a:endParaRPr lang="en-US" sz="1300" dirty="0"/>
          </a:p>
        </p:txBody>
      </p:sp>
      <p:sp>
        <p:nvSpPr>
          <p:cNvPr id="31" name="Shape 29"/>
          <p:cNvSpPr/>
          <p:nvPr/>
        </p:nvSpPr>
        <p:spPr>
          <a:xfrm>
            <a:off x="8092440" y="3977640"/>
            <a:ext cx="3429000" cy="0"/>
          </a:xfrm>
          <a:prstGeom prst="line">
            <a:avLst/>
          </a:prstGeom>
          <a:noFill/>
          <a:ln w="12700">
            <a:solidFill>
              <a:srgbClr val="DCE3F2"/>
            </a:solidFill>
            <a:prstDash val="solid"/>
          </a:ln>
        </p:spPr>
      </p:sp>
      <p:sp>
        <p:nvSpPr>
          <p:cNvPr id="32" name="Text 30"/>
          <p:cNvSpPr/>
          <p:nvPr/>
        </p:nvSpPr>
        <p:spPr>
          <a:xfrm>
            <a:off x="8092440" y="4069080"/>
            <a:ext cx="3474720" cy="502920"/>
          </a:xfrm>
          <a:prstGeom prst="rect">
            <a:avLst/>
          </a:prstGeom>
          <a:noFill/>
          <a:ln/>
        </p:spPr>
        <p:txBody>
          <a:bodyPr wrap="square" lIns="0" tIns="0" rIns="0" bIns="0" rtlCol="0" anchor="ctr"/>
          <a:lstStyle/>
          <a:p>
            <a:pPr indent="0" marL="0">
              <a:lnSpc>
                <a:spcPct val="115000"/>
              </a:lnSpc>
              <a:buNone/>
            </a:pPr>
            <a:r>
              <a:rPr lang="en-US" sz="1050" i="1" dirty="0">
                <a:solidFill>
                  <a:srgbClr val="5B6785"/>
                </a:solidFill>
                <a:latin typeface="Calibri" pitchFamily="34" charset="0"/>
                <a:ea typeface="Calibri" pitchFamily="34" charset="-122"/>
                <a:cs typeface="Calibri" pitchFamily="34" charset="-120"/>
              </a:rPr>
              <a:t>Grain: one row per transaction / order.</a:t>
            </a:r>
            <a:endParaRPr lang="en-US" sz="1050" dirty="0"/>
          </a:p>
          <a:p>
            <a:pPr indent="0" marL="0">
              <a:lnSpc>
                <a:spcPct val="115000"/>
              </a:lnSpc>
              <a:buNone/>
            </a:pPr>
            <a:r>
              <a:rPr lang="en-US" sz="1050" i="1" dirty="0">
                <a:solidFill>
                  <a:srgbClr val="5B6785"/>
                </a:solidFill>
                <a:latin typeface="Calibri" pitchFamily="34" charset="0"/>
                <a:ea typeface="Calibri" pitchFamily="34" charset="-122"/>
                <a:cs typeface="Calibri" pitchFamily="34" charset="-120"/>
              </a:rPr>
              <a:t>Order_ID is the transaction identifier.</a:t>
            </a:r>
            <a:endParaRPr lang="en-US" sz="1050" dirty="0"/>
          </a:p>
        </p:txBody>
      </p:sp>
      <p:sp>
        <p:nvSpPr>
          <p:cNvPr id="33" name="Text 31"/>
          <p:cNvSpPr/>
          <p:nvPr/>
        </p:nvSpPr>
        <p:spPr>
          <a:xfrm>
            <a:off x="457200" y="5806440"/>
            <a:ext cx="11247120" cy="457200"/>
          </a:xfrm>
          <a:prstGeom prst="rect">
            <a:avLst/>
          </a:prstGeom>
          <a:noFill/>
          <a:ln/>
        </p:spPr>
        <p:txBody>
          <a:bodyPr wrap="square" lIns="0" tIns="0" rIns="0" bIns="0" rtlCol="0" anchor="ctr"/>
          <a:lstStyle/>
          <a:p>
            <a:pPr algn="ctr" indent="0" marL="0">
              <a:buNone/>
            </a:pPr>
            <a:r>
              <a:rPr lang="en-US" sz="1150" i="1" dirty="0">
                <a:solidFill>
                  <a:srgbClr val="5B6785"/>
                </a:solidFill>
                <a:latin typeface="Calibri" pitchFamily="34" charset="0"/>
                <a:ea typeface="Calibri" pitchFamily="34" charset="-122"/>
                <a:cs typeface="Calibri" pitchFamily="34" charset="-120"/>
              </a:rPr>
              <a:t>A single fact table at order grain, joined to six dimensions — enabling profitability analysis by any combination of customer, product, region, channel and time.</a:t>
            </a:r>
            <a:endParaRPr lang="en-US" sz="1150" dirty="0"/>
          </a:p>
        </p:txBody>
      </p:sp>
      <p:sp>
        <p:nvSpPr>
          <p:cNvPr id="34" name="Text 3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850" dirty="0">
                <a:solidFill>
                  <a:srgbClr val="5B6785"/>
                </a:solidFill>
                <a:latin typeface="Calibri" pitchFamily="34" charset="0"/>
                <a:ea typeface="Calibri" pitchFamily="34" charset="-122"/>
                <a:cs typeface="Calibri" pitchFamily="34" charset="-120"/>
              </a:rPr>
              <a:t>NexaMart Customer Profitability &amp; Revenue Intelligence</a:t>
            </a:r>
            <a:endParaRPr lang="en-US" sz="850" dirty="0"/>
          </a:p>
        </p:txBody>
      </p:sp>
      <p:sp>
        <p:nvSpPr>
          <p:cNvPr id="35" name="Text 3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850" dirty="0">
                <a:solidFill>
                  <a:srgbClr val="5B6785"/>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indent="0" marL="0">
              <a:buNone/>
            </a:pPr>
            <a:r>
              <a:rPr lang="en-US" sz="1150" b="1" spc="200" kern="0" dirty="0">
                <a:solidFill>
                  <a:srgbClr val="D99B2B"/>
                </a:solidFill>
                <a:latin typeface="Calibri" pitchFamily="34" charset="0"/>
                <a:ea typeface="Calibri" pitchFamily="34" charset="-122"/>
                <a:cs typeface="Calibri" pitchFamily="34" charset="-120"/>
              </a:rPr>
              <a:t>EXECUTIVE SUMMARY</a:t>
            </a:r>
            <a:endParaRPr lang="en-US" sz="1150" dirty="0"/>
          </a:p>
        </p:txBody>
      </p:sp>
      <p:sp>
        <p:nvSpPr>
          <p:cNvPr id="3" name="Text 1"/>
          <p:cNvSpPr/>
          <p:nvPr/>
        </p:nvSpPr>
        <p:spPr>
          <a:xfrm>
            <a:off x="457200" y="56692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Executive Business Performance</a:t>
            </a:r>
            <a:endParaRPr lang="en-US" sz="3000" dirty="0"/>
          </a:p>
        </p:txBody>
      </p:sp>
      <p:sp>
        <p:nvSpPr>
          <p:cNvPr id="4" name="Shape 2"/>
          <p:cNvSpPr/>
          <p:nvPr/>
        </p:nvSpPr>
        <p:spPr>
          <a:xfrm>
            <a:off x="457200" y="1371600"/>
            <a:ext cx="2681478" cy="960120"/>
          </a:xfrm>
          <a:prstGeom prst="roundRect">
            <a:avLst>
              <a:gd name="adj" fmla="val 7619"/>
            </a:avLst>
          </a:prstGeom>
          <a:solidFill>
            <a:srgbClr val="FFFFFF"/>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5" name="Text 3"/>
          <p:cNvSpPr/>
          <p:nvPr/>
        </p:nvSpPr>
        <p:spPr>
          <a:xfrm>
            <a:off x="566928" y="1525219"/>
            <a:ext cx="2462022" cy="499262"/>
          </a:xfrm>
          <a:prstGeom prst="rect">
            <a:avLst/>
          </a:prstGeom>
          <a:noFill/>
          <a:ln/>
        </p:spPr>
        <p:txBody>
          <a:bodyPr wrap="square" lIns="0" tIns="0" rIns="0" bIns="0" rtlCol="0" anchor="ctr"/>
          <a:lstStyle/>
          <a:p>
            <a:pPr algn="l" indent="0" marL="0">
              <a:buNone/>
            </a:pPr>
            <a:r>
              <a:rPr lang="en-US" sz="1700" b="1" dirty="0">
                <a:solidFill>
                  <a:srgbClr val="1E2761"/>
                </a:solidFill>
                <a:latin typeface="Cambria" pitchFamily="34" charset="0"/>
                <a:ea typeface="Cambria" pitchFamily="34" charset="-122"/>
                <a:cs typeface="Cambria" pitchFamily="34" charset="-120"/>
              </a:rPr>
              <a:t>₹174.38M</a:t>
            </a:r>
            <a:endParaRPr lang="en-US" sz="1700" dirty="0"/>
          </a:p>
        </p:txBody>
      </p:sp>
      <p:sp>
        <p:nvSpPr>
          <p:cNvPr id="6" name="Text 4"/>
          <p:cNvSpPr/>
          <p:nvPr/>
        </p:nvSpPr>
        <p:spPr>
          <a:xfrm>
            <a:off x="566928" y="2024482"/>
            <a:ext cx="2462022" cy="268834"/>
          </a:xfrm>
          <a:prstGeom prst="rect">
            <a:avLst/>
          </a:prstGeom>
          <a:noFill/>
          <a:ln/>
        </p:spPr>
        <p:txBody>
          <a:bodyPr wrap="square" lIns="0" tIns="0" rIns="0" bIns="0" rtlCol="0" anchor="ctr"/>
          <a:lstStyle/>
          <a:p>
            <a:pPr algn="l" indent="0" marL="0">
              <a:buNone/>
            </a:pPr>
            <a:r>
              <a:rPr lang="en-US" sz="950" spc="50" kern="0" dirty="0">
                <a:solidFill>
                  <a:srgbClr val="5B6785"/>
                </a:solidFill>
                <a:latin typeface="Calibri" pitchFamily="34" charset="0"/>
                <a:ea typeface="Calibri" pitchFamily="34" charset="-122"/>
                <a:cs typeface="Calibri" pitchFamily="34" charset="-120"/>
              </a:rPr>
              <a:t>REVENUE</a:t>
            </a:r>
            <a:endParaRPr lang="en-US" sz="950" dirty="0"/>
          </a:p>
        </p:txBody>
      </p:sp>
      <p:sp>
        <p:nvSpPr>
          <p:cNvPr id="7" name="Shape 5"/>
          <p:cNvSpPr/>
          <p:nvPr/>
        </p:nvSpPr>
        <p:spPr>
          <a:xfrm>
            <a:off x="3321558" y="1371600"/>
            <a:ext cx="2681478" cy="960120"/>
          </a:xfrm>
          <a:prstGeom prst="roundRect">
            <a:avLst>
              <a:gd name="adj" fmla="val 7619"/>
            </a:avLst>
          </a:prstGeom>
          <a:solidFill>
            <a:srgbClr val="FFFFFF"/>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8" name="Text 6"/>
          <p:cNvSpPr/>
          <p:nvPr/>
        </p:nvSpPr>
        <p:spPr>
          <a:xfrm>
            <a:off x="3431286" y="1525219"/>
            <a:ext cx="2462022" cy="499262"/>
          </a:xfrm>
          <a:prstGeom prst="rect">
            <a:avLst/>
          </a:prstGeom>
          <a:noFill/>
          <a:ln/>
        </p:spPr>
        <p:txBody>
          <a:bodyPr wrap="square" lIns="0" tIns="0" rIns="0" bIns="0" rtlCol="0" anchor="ctr"/>
          <a:lstStyle/>
          <a:p>
            <a:pPr algn="l" indent="0" marL="0">
              <a:buNone/>
            </a:pPr>
            <a:r>
              <a:rPr lang="en-US" sz="1700" b="1" dirty="0">
                <a:solidFill>
                  <a:srgbClr val="1E2761"/>
                </a:solidFill>
                <a:latin typeface="Cambria" pitchFamily="34" charset="0"/>
                <a:ea typeface="Cambria" pitchFamily="34" charset="-122"/>
                <a:cs typeface="Cambria" pitchFamily="34" charset="-120"/>
              </a:rPr>
              <a:t>₹46.92M</a:t>
            </a:r>
            <a:endParaRPr lang="en-US" sz="1700" dirty="0"/>
          </a:p>
        </p:txBody>
      </p:sp>
      <p:sp>
        <p:nvSpPr>
          <p:cNvPr id="9" name="Text 7"/>
          <p:cNvSpPr/>
          <p:nvPr/>
        </p:nvSpPr>
        <p:spPr>
          <a:xfrm>
            <a:off x="3431286" y="2024482"/>
            <a:ext cx="2462022" cy="268834"/>
          </a:xfrm>
          <a:prstGeom prst="rect">
            <a:avLst/>
          </a:prstGeom>
          <a:noFill/>
          <a:ln/>
        </p:spPr>
        <p:txBody>
          <a:bodyPr wrap="square" lIns="0" tIns="0" rIns="0" bIns="0" rtlCol="0" anchor="ctr"/>
          <a:lstStyle/>
          <a:p>
            <a:pPr algn="l" indent="0" marL="0">
              <a:buNone/>
            </a:pPr>
            <a:r>
              <a:rPr lang="en-US" sz="950" spc="50" kern="0" dirty="0">
                <a:solidFill>
                  <a:srgbClr val="5B6785"/>
                </a:solidFill>
                <a:latin typeface="Calibri" pitchFamily="34" charset="0"/>
                <a:ea typeface="Calibri" pitchFamily="34" charset="-122"/>
                <a:cs typeface="Calibri" pitchFamily="34" charset="-120"/>
              </a:rPr>
              <a:t>GROSS PROFIT</a:t>
            </a:r>
            <a:endParaRPr lang="en-US" sz="950" dirty="0"/>
          </a:p>
        </p:txBody>
      </p:sp>
      <p:sp>
        <p:nvSpPr>
          <p:cNvPr id="10" name="Shape 8"/>
          <p:cNvSpPr/>
          <p:nvPr/>
        </p:nvSpPr>
        <p:spPr>
          <a:xfrm>
            <a:off x="6185916" y="1371600"/>
            <a:ext cx="2681478" cy="960120"/>
          </a:xfrm>
          <a:prstGeom prst="roundRect">
            <a:avLst>
              <a:gd name="adj" fmla="val 7619"/>
            </a:avLst>
          </a:prstGeom>
          <a:solidFill>
            <a:srgbClr val="FFFFFF"/>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11" name="Text 9"/>
          <p:cNvSpPr/>
          <p:nvPr/>
        </p:nvSpPr>
        <p:spPr>
          <a:xfrm>
            <a:off x="6295644" y="1525219"/>
            <a:ext cx="2462022" cy="499262"/>
          </a:xfrm>
          <a:prstGeom prst="rect">
            <a:avLst/>
          </a:prstGeom>
          <a:noFill/>
          <a:ln/>
        </p:spPr>
        <p:txBody>
          <a:bodyPr wrap="square" lIns="0" tIns="0" rIns="0" bIns="0" rtlCol="0" anchor="ctr"/>
          <a:lstStyle/>
          <a:p>
            <a:pPr algn="l" indent="0" marL="0">
              <a:buNone/>
            </a:pPr>
            <a:r>
              <a:rPr lang="en-US" sz="1700" b="1" dirty="0">
                <a:solidFill>
                  <a:srgbClr val="1E2761"/>
                </a:solidFill>
                <a:latin typeface="Cambria" pitchFamily="34" charset="0"/>
                <a:ea typeface="Cambria" pitchFamily="34" charset="-122"/>
                <a:cs typeface="Cambria" pitchFamily="34" charset="-120"/>
              </a:rPr>
              <a:t>26.91%</a:t>
            </a:r>
            <a:endParaRPr lang="en-US" sz="1700" dirty="0"/>
          </a:p>
        </p:txBody>
      </p:sp>
      <p:sp>
        <p:nvSpPr>
          <p:cNvPr id="12" name="Text 10"/>
          <p:cNvSpPr/>
          <p:nvPr/>
        </p:nvSpPr>
        <p:spPr>
          <a:xfrm>
            <a:off x="6295644" y="2024482"/>
            <a:ext cx="2462022" cy="268834"/>
          </a:xfrm>
          <a:prstGeom prst="rect">
            <a:avLst/>
          </a:prstGeom>
          <a:noFill/>
          <a:ln/>
        </p:spPr>
        <p:txBody>
          <a:bodyPr wrap="square" lIns="0" tIns="0" rIns="0" bIns="0" rtlCol="0" anchor="ctr"/>
          <a:lstStyle/>
          <a:p>
            <a:pPr algn="l" indent="0" marL="0">
              <a:buNone/>
            </a:pPr>
            <a:r>
              <a:rPr lang="en-US" sz="950" spc="50" kern="0" dirty="0">
                <a:solidFill>
                  <a:srgbClr val="5B6785"/>
                </a:solidFill>
                <a:latin typeface="Calibri" pitchFamily="34" charset="0"/>
                <a:ea typeface="Calibri" pitchFamily="34" charset="-122"/>
                <a:cs typeface="Calibri" pitchFamily="34" charset="-120"/>
              </a:rPr>
              <a:t>GROSS MARGIN</a:t>
            </a:r>
            <a:endParaRPr lang="en-US" sz="950" dirty="0"/>
          </a:p>
        </p:txBody>
      </p:sp>
      <p:sp>
        <p:nvSpPr>
          <p:cNvPr id="13" name="Shape 11"/>
          <p:cNvSpPr/>
          <p:nvPr/>
        </p:nvSpPr>
        <p:spPr>
          <a:xfrm>
            <a:off x="9050274" y="1371600"/>
            <a:ext cx="2681478" cy="960120"/>
          </a:xfrm>
          <a:prstGeom prst="roundRect">
            <a:avLst>
              <a:gd name="adj" fmla="val 7619"/>
            </a:avLst>
          </a:prstGeom>
          <a:solidFill>
            <a:srgbClr val="FFFFFF"/>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14" name="Text 12"/>
          <p:cNvSpPr/>
          <p:nvPr/>
        </p:nvSpPr>
        <p:spPr>
          <a:xfrm>
            <a:off x="9160002" y="1525219"/>
            <a:ext cx="2462022" cy="499262"/>
          </a:xfrm>
          <a:prstGeom prst="rect">
            <a:avLst/>
          </a:prstGeom>
          <a:noFill/>
          <a:ln/>
        </p:spPr>
        <p:txBody>
          <a:bodyPr wrap="square" lIns="0" tIns="0" rIns="0" bIns="0" rtlCol="0" anchor="ctr"/>
          <a:lstStyle/>
          <a:p>
            <a:pPr algn="l" indent="0" marL="0">
              <a:buNone/>
            </a:pPr>
            <a:r>
              <a:rPr lang="en-US" sz="1700" b="1" dirty="0">
                <a:solidFill>
                  <a:srgbClr val="1E2761"/>
                </a:solidFill>
                <a:latin typeface="Cambria" pitchFamily="34" charset="0"/>
                <a:ea typeface="Cambria" pitchFamily="34" charset="-122"/>
                <a:cs typeface="Cambria" pitchFamily="34" charset="-120"/>
              </a:rPr>
              <a:t>10,000</a:t>
            </a:r>
            <a:endParaRPr lang="en-US" sz="1700" dirty="0"/>
          </a:p>
        </p:txBody>
      </p:sp>
      <p:sp>
        <p:nvSpPr>
          <p:cNvPr id="15" name="Text 13"/>
          <p:cNvSpPr/>
          <p:nvPr/>
        </p:nvSpPr>
        <p:spPr>
          <a:xfrm>
            <a:off x="9160002" y="2024482"/>
            <a:ext cx="2462022" cy="268834"/>
          </a:xfrm>
          <a:prstGeom prst="rect">
            <a:avLst/>
          </a:prstGeom>
          <a:noFill/>
          <a:ln/>
        </p:spPr>
        <p:txBody>
          <a:bodyPr wrap="square" lIns="0" tIns="0" rIns="0" bIns="0" rtlCol="0" anchor="ctr"/>
          <a:lstStyle/>
          <a:p>
            <a:pPr algn="l" indent="0" marL="0">
              <a:buNone/>
            </a:pPr>
            <a:r>
              <a:rPr lang="en-US" sz="950" spc="50" kern="0" dirty="0">
                <a:solidFill>
                  <a:srgbClr val="5B6785"/>
                </a:solidFill>
                <a:latin typeface="Calibri" pitchFamily="34" charset="0"/>
                <a:ea typeface="Calibri" pitchFamily="34" charset="-122"/>
                <a:cs typeface="Calibri" pitchFamily="34" charset="-120"/>
              </a:rPr>
              <a:t>ORDERS</a:t>
            </a:r>
            <a:endParaRPr lang="en-US" sz="950" dirty="0"/>
          </a:p>
        </p:txBody>
      </p:sp>
      <p:sp>
        <p:nvSpPr>
          <p:cNvPr id="16" name="Shape 14"/>
          <p:cNvSpPr/>
          <p:nvPr/>
        </p:nvSpPr>
        <p:spPr>
          <a:xfrm>
            <a:off x="457200" y="2514600"/>
            <a:ext cx="2681478" cy="960120"/>
          </a:xfrm>
          <a:prstGeom prst="roundRect">
            <a:avLst>
              <a:gd name="adj" fmla="val 7619"/>
            </a:avLst>
          </a:prstGeom>
          <a:solidFill>
            <a:srgbClr val="FFFFFF"/>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17" name="Text 15"/>
          <p:cNvSpPr/>
          <p:nvPr/>
        </p:nvSpPr>
        <p:spPr>
          <a:xfrm>
            <a:off x="566928" y="2668219"/>
            <a:ext cx="2462022" cy="499262"/>
          </a:xfrm>
          <a:prstGeom prst="rect">
            <a:avLst/>
          </a:prstGeom>
          <a:noFill/>
          <a:ln/>
        </p:spPr>
        <p:txBody>
          <a:bodyPr wrap="square" lIns="0" tIns="0" rIns="0" bIns="0" rtlCol="0" anchor="ctr"/>
          <a:lstStyle/>
          <a:p>
            <a:pPr algn="l" indent="0" marL="0">
              <a:buNone/>
            </a:pPr>
            <a:r>
              <a:rPr lang="en-US" sz="1700" b="1" dirty="0">
                <a:solidFill>
                  <a:srgbClr val="1E2761"/>
                </a:solidFill>
                <a:latin typeface="Cambria" pitchFamily="34" charset="0"/>
                <a:ea typeface="Cambria" pitchFamily="34" charset="-122"/>
                <a:cs typeface="Cambria" pitchFamily="34" charset="-120"/>
              </a:rPr>
              <a:t>998</a:t>
            </a:r>
            <a:endParaRPr lang="en-US" sz="1700" dirty="0"/>
          </a:p>
        </p:txBody>
      </p:sp>
      <p:sp>
        <p:nvSpPr>
          <p:cNvPr id="18" name="Text 16"/>
          <p:cNvSpPr/>
          <p:nvPr/>
        </p:nvSpPr>
        <p:spPr>
          <a:xfrm>
            <a:off x="566928" y="3167482"/>
            <a:ext cx="2462022" cy="268834"/>
          </a:xfrm>
          <a:prstGeom prst="rect">
            <a:avLst/>
          </a:prstGeom>
          <a:noFill/>
          <a:ln/>
        </p:spPr>
        <p:txBody>
          <a:bodyPr wrap="square" lIns="0" tIns="0" rIns="0" bIns="0" rtlCol="0" anchor="ctr"/>
          <a:lstStyle/>
          <a:p>
            <a:pPr algn="l" indent="0" marL="0">
              <a:buNone/>
            </a:pPr>
            <a:r>
              <a:rPr lang="en-US" sz="950" spc="50" kern="0" dirty="0">
                <a:solidFill>
                  <a:srgbClr val="5B6785"/>
                </a:solidFill>
                <a:latin typeface="Calibri" pitchFamily="34" charset="0"/>
                <a:ea typeface="Calibri" pitchFamily="34" charset="-122"/>
                <a:cs typeface="Calibri" pitchFamily="34" charset="-120"/>
              </a:rPr>
              <a:t>CUSTOMERS</a:t>
            </a:r>
            <a:endParaRPr lang="en-US" sz="950" dirty="0"/>
          </a:p>
        </p:txBody>
      </p:sp>
      <p:sp>
        <p:nvSpPr>
          <p:cNvPr id="19" name="Shape 17"/>
          <p:cNvSpPr/>
          <p:nvPr/>
        </p:nvSpPr>
        <p:spPr>
          <a:xfrm>
            <a:off x="3321558" y="2514600"/>
            <a:ext cx="2681478" cy="960120"/>
          </a:xfrm>
          <a:prstGeom prst="roundRect">
            <a:avLst>
              <a:gd name="adj" fmla="val 7619"/>
            </a:avLst>
          </a:prstGeom>
          <a:solidFill>
            <a:srgbClr val="FFFFFF"/>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20" name="Text 18"/>
          <p:cNvSpPr/>
          <p:nvPr/>
        </p:nvSpPr>
        <p:spPr>
          <a:xfrm>
            <a:off x="3431286" y="2668219"/>
            <a:ext cx="2462022" cy="499262"/>
          </a:xfrm>
          <a:prstGeom prst="rect">
            <a:avLst/>
          </a:prstGeom>
          <a:noFill/>
          <a:ln/>
        </p:spPr>
        <p:txBody>
          <a:bodyPr wrap="square" lIns="0" tIns="0" rIns="0" bIns="0" rtlCol="0" anchor="ctr"/>
          <a:lstStyle/>
          <a:p>
            <a:pPr algn="l" indent="0" marL="0">
              <a:buNone/>
            </a:pPr>
            <a:r>
              <a:rPr lang="en-US" sz="1700" b="1" dirty="0">
                <a:solidFill>
                  <a:srgbClr val="1E2761"/>
                </a:solidFill>
                <a:latin typeface="Cambria" pitchFamily="34" charset="0"/>
                <a:ea typeface="Cambria" pitchFamily="34" charset="-122"/>
                <a:cs typeface="Cambria" pitchFamily="34" charset="-120"/>
              </a:rPr>
              <a:t>₹194.14M</a:t>
            </a:r>
            <a:endParaRPr lang="en-US" sz="1700" dirty="0"/>
          </a:p>
        </p:txBody>
      </p:sp>
      <p:sp>
        <p:nvSpPr>
          <p:cNvPr id="21" name="Text 19"/>
          <p:cNvSpPr/>
          <p:nvPr/>
        </p:nvSpPr>
        <p:spPr>
          <a:xfrm>
            <a:off x="3431286" y="3167482"/>
            <a:ext cx="2462022" cy="268834"/>
          </a:xfrm>
          <a:prstGeom prst="rect">
            <a:avLst/>
          </a:prstGeom>
          <a:noFill/>
          <a:ln/>
        </p:spPr>
        <p:txBody>
          <a:bodyPr wrap="square" lIns="0" tIns="0" rIns="0" bIns="0" rtlCol="0" anchor="ctr"/>
          <a:lstStyle/>
          <a:p>
            <a:pPr algn="l" indent="0" marL="0">
              <a:buNone/>
            </a:pPr>
            <a:r>
              <a:rPr lang="en-US" sz="950" spc="50" kern="0" dirty="0">
                <a:solidFill>
                  <a:srgbClr val="5B6785"/>
                </a:solidFill>
                <a:latin typeface="Calibri" pitchFamily="34" charset="0"/>
                <a:ea typeface="Calibri" pitchFamily="34" charset="-122"/>
                <a:cs typeface="Calibri" pitchFamily="34" charset="-120"/>
              </a:rPr>
              <a:t>GROSS SALES</a:t>
            </a:r>
            <a:endParaRPr lang="en-US" sz="950" dirty="0"/>
          </a:p>
        </p:txBody>
      </p:sp>
      <p:sp>
        <p:nvSpPr>
          <p:cNvPr id="22" name="Shape 20"/>
          <p:cNvSpPr/>
          <p:nvPr/>
        </p:nvSpPr>
        <p:spPr>
          <a:xfrm>
            <a:off x="6185916" y="2514600"/>
            <a:ext cx="2681478" cy="960120"/>
          </a:xfrm>
          <a:prstGeom prst="roundRect">
            <a:avLst>
              <a:gd name="adj" fmla="val 7619"/>
            </a:avLst>
          </a:prstGeom>
          <a:solidFill>
            <a:srgbClr val="FFFFFF"/>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23" name="Text 21"/>
          <p:cNvSpPr/>
          <p:nvPr/>
        </p:nvSpPr>
        <p:spPr>
          <a:xfrm>
            <a:off x="6295644" y="2668219"/>
            <a:ext cx="2462022" cy="499262"/>
          </a:xfrm>
          <a:prstGeom prst="rect">
            <a:avLst/>
          </a:prstGeom>
          <a:noFill/>
          <a:ln/>
        </p:spPr>
        <p:txBody>
          <a:bodyPr wrap="square" lIns="0" tIns="0" rIns="0" bIns="0" rtlCol="0" anchor="ctr"/>
          <a:lstStyle/>
          <a:p>
            <a:pPr algn="l" indent="0" marL="0">
              <a:buNone/>
            </a:pPr>
            <a:r>
              <a:rPr lang="en-US" sz="1700" b="1" dirty="0">
                <a:solidFill>
                  <a:srgbClr val="1E2761"/>
                </a:solidFill>
                <a:latin typeface="Cambria" pitchFamily="34" charset="0"/>
                <a:ea typeface="Cambria" pitchFamily="34" charset="-122"/>
                <a:cs typeface="Cambria" pitchFamily="34" charset="-120"/>
              </a:rPr>
              <a:t>₹19.76M</a:t>
            </a:r>
            <a:endParaRPr lang="en-US" sz="1700" dirty="0"/>
          </a:p>
        </p:txBody>
      </p:sp>
      <p:sp>
        <p:nvSpPr>
          <p:cNvPr id="24" name="Text 22"/>
          <p:cNvSpPr/>
          <p:nvPr/>
        </p:nvSpPr>
        <p:spPr>
          <a:xfrm>
            <a:off x="6295644" y="3167482"/>
            <a:ext cx="2462022" cy="268834"/>
          </a:xfrm>
          <a:prstGeom prst="rect">
            <a:avLst/>
          </a:prstGeom>
          <a:noFill/>
          <a:ln/>
        </p:spPr>
        <p:txBody>
          <a:bodyPr wrap="square" lIns="0" tIns="0" rIns="0" bIns="0" rtlCol="0" anchor="ctr"/>
          <a:lstStyle/>
          <a:p>
            <a:pPr algn="l" indent="0" marL="0">
              <a:buNone/>
            </a:pPr>
            <a:r>
              <a:rPr lang="en-US" sz="950" spc="50" kern="0" dirty="0">
                <a:solidFill>
                  <a:srgbClr val="5B6785"/>
                </a:solidFill>
                <a:latin typeface="Calibri" pitchFamily="34" charset="0"/>
                <a:ea typeface="Calibri" pitchFamily="34" charset="-122"/>
                <a:cs typeface="Calibri" pitchFamily="34" charset="-120"/>
              </a:rPr>
              <a:t>DISCOUNT</a:t>
            </a:r>
            <a:endParaRPr lang="en-US" sz="950" dirty="0"/>
          </a:p>
        </p:txBody>
      </p:sp>
      <p:sp>
        <p:nvSpPr>
          <p:cNvPr id="25" name="Shape 23"/>
          <p:cNvSpPr/>
          <p:nvPr/>
        </p:nvSpPr>
        <p:spPr>
          <a:xfrm>
            <a:off x="722376" y="3611880"/>
            <a:ext cx="2514600" cy="777240"/>
          </a:xfrm>
          <a:prstGeom prst="roundRect">
            <a:avLst>
              <a:gd name="adj" fmla="val 10588"/>
            </a:avLst>
          </a:prstGeom>
          <a:solidFill>
            <a:srgbClr val="1E2761"/>
          </a:solidFill>
          <a:ln/>
        </p:spPr>
      </p:sp>
      <p:sp>
        <p:nvSpPr>
          <p:cNvPr id="26" name="Text 24"/>
          <p:cNvSpPr/>
          <p:nvPr/>
        </p:nvSpPr>
        <p:spPr>
          <a:xfrm>
            <a:off x="722376" y="3611880"/>
            <a:ext cx="2514600" cy="777240"/>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Calibri" pitchFamily="34" charset="0"/>
                <a:ea typeface="Calibri" pitchFamily="34" charset="-122"/>
                <a:cs typeface="Calibri" pitchFamily="34" charset="-120"/>
              </a:rPr>
              <a:t>Gross Sales</a:t>
            </a:r>
            <a:endParaRPr lang="en-US" sz="1300" dirty="0"/>
          </a:p>
          <a:p>
            <a:pPr algn="ctr" indent="0" marL="0">
              <a:lnSpc>
                <a:spcPct val="110000"/>
              </a:lnSpc>
              <a:buNone/>
            </a:pPr>
            <a:r>
              <a:rPr lang="en-US" sz="1300" b="1" dirty="0">
                <a:solidFill>
                  <a:srgbClr val="FFFFFF"/>
                </a:solidFill>
                <a:latin typeface="Calibri" pitchFamily="34" charset="0"/>
                <a:ea typeface="Calibri" pitchFamily="34" charset="-122"/>
                <a:cs typeface="Calibri" pitchFamily="34" charset="-120"/>
              </a:rPr>
              <a:t>₹194.14M</a:t>
            </a:r>
            <a:endParaRPr lang="en-US" sz="1300" dirty="0"/>
          </a:p>
        </p:txBody>
      </p:sp>
      <p:sp>
        <p:nvSpPr>
          <p:cNvPr id="27" name="Text 25"/>
          <p:cNvSpPr/>
          <p:nvPr/>
        </p:nvSpPr>
        <p:spPr>
          <a:xfrm>
            <a:off x="3236976" y="3611880"/>
            <a:ext cx="228600" cy="777240"/>
          </a:xfrm>
          <a:prstGeom prst="rect">
            <a:avLst/>
          </a:prstGeom>
          <a:noFill/>
          <a:ln/>
        </p:spPr>
        <p:txBody>
          <a:bodyPr wrap="square" lIns="0" tIns="0" rIns="0" bIns="0" rtlCol="0" anchor="ctr"/>
          <a:lstStyle/>
          <a:p>
            <a:pPr algn="ctr" indent="0" marL="0">
              <a:buNone/>
            </a:pPr>
            <a:r>
              <a:rPr lang="en-US" sz="1500" b="1" dirty="0">
                <a:solidFill>
                  <a:srgbClr val="5B6785"/>
                </a:solidFill>
              </a:rPr>
              <a:t>→</a:t>
            </a:r>
            <a:endParaRPr lang="en-US" sz="1500" dirty="0"/>
          </a:p>
        </p:txBody>
      </p:sp>
      <p:sp>
        <p:nvSpPr>
          <p:cNvPr id="28" name="Shape 26"/>
          <p:cNvSpPr/>
          <p:nvPr/>
        </p:nvSpPr>
        <p:spPr>
          <a:xfrm>
            <a:off x="3465576" y="3611880"/>
            <a:ext cx="2514600" cy="777240"/>
          </a:xfrm>
          <a:prstGeom prst="roundRect">
            <a:avLst>
              <a:gd name="adj" fmla="val 10588"/>
            </a:avLst>
          </a:prstGeom>
          <a:solidFill>
            <a:srgbClr val="1E2761"/>
          </a:solidFill>
          <a:ln/>
        </p:spPr>
      </p:sp>
      <p:sp>
        <p:nvSpPr>
          <p:cNvPr id="29" name="Text 27"/>
          <p:cNvSpPr/>
          <p:nvPr/>
        </p:nvSpPr>
        <p:spPr>
          <a:xfrm>
            <a:off x="3465576" y="3611880"/>
            <a:ext cx="2514600" cy="777240"/>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Calibri" pitchFamily="34" charset="0"/>
                <a:ea typeface="Calibri" pitchFamily="34" charset="-122"/>
                <a:cs typeface="Calibri" pitchFamily="34" charset="-120"/>
              </a:rPr>
              <a:t>Discount</a:t>
            </a:r>
            <a:endParaRPr lang="en-US" sz="1300" dirty="0"/>
          </a:p>
          <a:p>
            <a:pPr algn="ctr" indent="0" marL="0">
              <a:lnSpc>
                <a:spcPct val="110000"/>
              </a:lnSpc>
              <a:buNone/>
            </a:pPr>
            <a:r>
              <a:rPr lang="en-US" sz="1300" b="1" dirty="0">
                <a:solidFill>
                  <a:srgbClr val="FFFFFF"/>
                </a:solidFill>
                <a:latin typeface="Calibri" pitchFamily="34" charset="0"/>
                <a:ea typeface="Calibri" pitchFamily="34" charset="-122"/>
                <a:cs typeface="Calibri" pitchFamily="34" charset="-120"/>
              </a:rPr>
              <a:t>−₹19.76M</a:t>
            </a:r>
            <a:endParaRPr lang="en-US" sz="1300" dirty="0"/>
          </a:p>
        </p:txBody>
      </p:sp>
      <p:sp>
        <p:nvSpPr>
          <p:cNvPr id="30" name="Text 28"/>
          <p:cNvSpPr/>
          <p:nvPr/>
        </p:nvSpPr>
        <p:spPr>
          <a:xfrm>
            <a:off x="5980176" y="3611880"/>
            <a:ext cx="228600" cy="777240"/>
          </a:xfrm>
          <a:prstGeom prst="rect">
            <a:avLst/>
          </a:prstGeom>
          <a:noFill/>
          <a:ln/>
        </p:spPr>
        <p:txBody>
          <a:bodyPr wrap="square" lIns="0" tIns="0" rIns="0" bIns="0" rtlCol="0" anchor="ctr"/>
          <a:lstStyle/>
          <a:p>
            <a:pPr algn="ctr" indent="0" marL="0">
              <a:buNone/>
            </a:pPr>
            <a:r>
              <a:rPr lang="en-US" sz="1500" b="1" dirty="0">
                <a:solidFill>
                  <a:srgbClr val="5B6785"/>
                </a:solidFill>
              </a:rPr>
              <a:t>→</a:t>
            </a:r>
            <a:endParaRPr lang="en-US" sz="1500" dirty="0"/>
          </a:p>
        </p:txBody>
      </p:sp>
      <p:sp>
        <p:nvSpPr>
          <p:cNvPr id="31" name="Shape 29"/>
          <p:cNvSpPr/>
          <p:nvPr/>
        </p:nvSpPr>
        <p:spPr>
          <a:xfrm>
            <a:off x="6208776" y="3611880"/>
            <a:ext cx="2514600" cy="777240"/>
          </a:xfrm>
          <a:prstGeom prst="roundRect">
            <a:avLst>
              <a:gd name="adj" fmla="val 10588"/>
            </a:avLst>
          </a:prstGeom>
          <a:solidFill>
            <a:srgbClr val="1E2761"/>
          </a:solidFill>
          <a:ln/>
        </p:spPr>
      </p:sp>
      <p:sp>
        <p:nvSpPr>
          <p:cNvPr id="32" name="Text 30"/>
          <p:cNvSpPr/>
          <p:nvPr/>
        </p:nvSpPr>
        <p:spPr>
          <a:xfrm>
            <a:off x="6208776" y="3611880"/>
            <a:ext cx="2514600" cy="777240"/>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Calibri" pitchFamily="34" charset="0"/>
                <a:ea typeface="Calibri" pitchFamily="34" charset="-122"/>
                <a:cs typeface="Calibri" pitchFamily="34" charset="-120"/>
              </a:rPr>
              <a:t>Revenue</a:t>
            </a:r>
            <a:endParaRPr lang="en-US" sz="1300" dirty="0"/>
          </a:p>
          <a:p>
            <a:pPr algn="ctr" indent="0" marL="0">
              <a:lnSpc>
                <a:spcPct val="110000"/>
              </a:lnSpc>
              <a:buNone/>
            </a:pPr>
            <a:r>
              <a:rPr lang="en-US" sz="1300" b="1" dirty="0">
                <a:solidFill>
                  <a:srgbClr val="FFFFFF"/>
                </a:solidFill>
                <a:latin typeface="Calibri" pitchFamily="34" charset="0"/>
                <a:ea typeface="Calibri" pitchFamily="34" charset="-122"/>
                <a:cs typeface="Calibri" pitchFamily="34" charset="-120"/>
              </a:rPr>
              <a:t>₹174.38M</a:t>
            </a:r>
            <a:endParaRPr lang="en-US" sz="1300" dirty="0"/>
          </a:p>
        </p:txBody>
      </p:sp>
      <p:sp>
        <p:nvSpPr>
          <p:cNvPr id="33" name="Text 31"/>
          <p:cNvSpPr/>
          <p:nvPr/>
        </p:nvSpPr>
        <p:spPr>
          <a:xfrm>
            <a:off x="8723376" y="3611880"/>
            <a:ext cx="228600" cy="777240"/>
          </a:xfrm>
          <a:prstGeom prst="rect">
            <a:avLst/>
          </a:prstGeom>
          <a:noFill/>
          <a:ln/>
        </p:spPr>
        <p:txBody>
          <a:bodyPr wrap="square" lIns="0" tIns="0" rIns="0" bIns="0" rtlCol="0" anchor="ctr"/>
          <a:lstStyle/>
          <a:p>
            <a:pPr algn="ctr" indent="0" marL="0">
              <a:buNone/>
            </a:pPr>
            <a:r>
              <a:rPr lang="en-US" sz="1500" b="1" dirty="0">
                <a:solidFill>
                  <a:srgbClr val="5B6785"/>
                </a:solidFill>
              </a:rPr>
              <a:t>→</a:t>
            </a:r>
            <a:endParaRPr lang="en-US" sz="1500" dirty="0"/>
          </a:p>
        </p:txBody>
      </p:sp>
      <p:sp>
        <p:nvSpPr>
          <p:cNvPr id="34" name="Shape 32"/>
          <p:cNvSpPr/>
          <p:nvPr/>
        </p:nvSpPr>
        <p:spPr>
          <a:xfrm>
            <a:off x="8951976" y="3611880"/>
            <a:ext cx="2514600" cy="777240"/>
          </a:xfrm>
          <a:prstGeom prst="roundRect">
            <a:avLst>
              <a:gd name="adj" fmla="val 10588"/>
            </a:avLst>
          </a:prstGeom>
          <a:solidFill>
            <a:srgbClr val="D99B2B"/>
          </a:solidFill>
          <a:ln/>
        </p:spPr>
      </p:sp>
      <p:sp>
        <p:nvSpPr>
          <p:cNvPr id="35" name="Text 33"/>
          <p:cNvSpPr/>
          <p:nvPr/>
        </p:nvSpPr>
        <p:spPr>
          <a:xfrm>
            <a:off x="8951976" y="3611880"/>
            <a:ext cx="2514600" cy="777240"/>
          </a:xfrm>
          <a:prstGeom prst="rect">
            <a:avLst/>
          </a:prstGeom>
          <a:noFill/>
          <a:ln/>
        </p:spPr>
        <p:txBody>
          <a:bodyPr wrap="square" lIns="0" tIns="0" rIns="0" bIns="0" rtlCol="0" anchor="ctr"/>
          <a:lstStyle/>
          <a:p>
            <a:pPr algn="ctr" indent="0" marL="0">
              <a:lnSpc>
                <a:spcPct val="110000"/>
              </a:lnSpc>
              <a:buNone/>
            </a:pPr>
            <a:r>
              <a:rPr lang="en-US" sz="1300" b="1" dirty="0">
                <a:solidFill>
                  <a:srgbClr val="3B2B00"/>
                </a:solidFill>
                <a:latin typeface="Calibri" pitchFamily="34" charset="0"/>
                <a:ea typeface="Calibri" pitchFamily="34" charset="-122"/>
                <a:cs typeface="Calibri" pitchFamily="34" charset="-120"/>
              </a:rPr>
              <a:t>Gross Profit</a:t>
            </a:r>
            <a:endParaRPr lang="en-US" sz="1300" dirty="0"/>
          </a:p>
          <a:p>
            <a:pPr algn="ctr" indent="0" marL="0">
              <a:lnSpc>
                <a:spcPct val="110000"/>
              </a:lnSpc>
              <a:buNone/>
            </a:pPr>
            <a:r>
              <a:rPr lang="en-US" sz="1300" b="1" dirty="0">
                <a:solidFill>
                  <a:srgbClr val="3B2B00"/>
                </a:solidFill>
                <a:latin typeface="Calibri" pitchFamily="34" charset="0"/>
                <a:ea typeface="Calibri" pitchFamily="34" charset="-122"/>
                <a:cs typeface="Calibri" pitchFamily="34" charset="-120"/>
              </a:rPr>
              <a:t>₹46.92M</a:t>
            </a:r>
            <a:endParaRPr lang="en-US" sz="1300" dirty="0"/>
          </a:p>
        </p:txBody>
      </p:sp>
      <p:sp>
        <p:nvSpPr>
          <p:cNvPr id="36" name="Shape 34"/>
          <p:cNvSpPr/>
          <p:nvPr/>
        </p:nvSpPr>
        <p:spPr>
          <a:xfrm>
            <a:off x="457200" y="4800600"/>
            <a:ext cx="11274552" cy="868680"/>
          </a:xfrm>
          <a:prstGeom prst="roundRect">
            <a:avLst>
              <a:gd name="adj" fmla="val 8421"/>
            </a:avLst>
          </a:prstGeom>
          <a:solidFill>
            <a:srgbClr val="1E2761"/>
          </a:solidFill>
          <a:ln/>
        </p:spPr>
      </p:sp>
      <p:sp>
        <p:nvSpPr>
          <p:cNvPr id="37" name="Text 35"/>
          <p:cNvSpPr/>
          <p:nvPr/>
        </p:nvSpPr>
        <p:spPr>
          <a:xfrm>
            <a:off x="731520" y="4800600"/>
            <a:ext cx="10725912" cy="868680"/>
          </a:xfrm>
          <a:prstGeom prst="rect">
            <a:avLst/>
          </a:prstGeom>
          <a:noFill/>
          <a:ln/>
        </p:spPr>
        <p:txBody>
          <a:bodyPr wrap="square" lIns="0" tIns="0" rIns="0" bIns="0" rtlCol="0" anchor="ctr"/>
          <a:lstStyle/>
          <a:p>
            <a:pPr algn="l" indent="0" marL="0">
              <a:lnSpc>
                <a:spcPct val="115000"/>
              </a:lnSpc>
              <a:buNone/>
            </a:pPr>
            <a:r>
              <a:rPr lang="en-US" sz="1400" b="1" i="1" dirty="0">
                <a:solidFill>
                  <a:srgbClr val="D99B2B"/>
                </a:solidFill>
                <a:latin typeface="Calibri" pitchFamily="34" charset="0"/>
                <a:ea typeface="Calibri" pitchFamily="34" charset="-122"/>
                <a:cs typeface="Calibri" pitchFamily="34" charset="-120"/>
              </a:rPr>
              <a:t>EXECUTIVE INSIGHT  </a:t>
            </a:r>
            <a:pPr algn="l" indent="0" marL="0">
              <a:lnSpc>
                <a:spcPct val="115000"/>
              </a:lnSpc>
              <a:buNone/>
            </a:pPr>
            <a:r>
              <a:rPr lang="en-US" sz="1400" i="1" dirty="0">
                <a:solidFill>
                  <a:srgbClr val="FFFFFF"/>
                </a:solidFill>
                <a:latin typeface="Calibri" pitchFamily="34" charset="0"/>
                <a:ea typeface="Calibri" pitchFamily="34" charset="-122"/>
                <a:cs typeface="Calibri" pitchFamily="34" charset="-120"/>
              </a:rPr>
              <a:t>NexaMart has a strong revenue and gross-profit base, but profitability varies significantly across customers, products, regions and channels.</a:t>
            </a:r>
            <a:endParaRPr lang="en-US" sz="1400" dirty="0"/>
          </a:p>
        </p:txBody>
      </p:sp>
      <p:sp>
        <p:nvSpPr>
          <p:cNvPr id="38" name="Text 36"/>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850" dirty="0">
                <a:solidFill>
                  <a:srgbClr val="5B6785"/>
                </a:solidFill>
                <a:latin typeface="Calibri" pitchFamily="34" charset="0"/>
                <a:ea typeface="Calibri" pitchFamily="34" charset="-122"/>
                <a:cs typeface="Calibri" pitchFamily="34" charset="-120"/>
              </a:rPr>
              <a:t>NexaMart Customer Profitability &amp; Revenue Intelligence</a:t>
            </a:r>
            <a:endParaRPr lang="en-US" sz="850" dirty="0"/>
          </a:p>
        </p:txBody>
      </p:sp>
      <p:sp>
        <p:nvSpPr>
          <p:cNvPr id="39" name="Text 37"/>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850" dirty="0">
                <a:solidFill>
                  <a:srgbClr val="5B6785"/>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indent="0" marL="0">
              <a:buNone/>
            </a:pPr>
            <a:r>
              <a:rPr lang="en-US" sz="1150" b="1" spc="200" kern="0" dirty="0">
                <a:solidFill>
                  <a:srgbClr val="D99B2B"/>
                </a:solidFill>
                <a:latin typeface="Calibri" pitchFamily="34" charset="0"/>
                <a:ea typeface="Calibri" pitchFamily="34" charset="-122"/>
                <a:cs typeface="Calibri" pitchFamily="34" charset="-120"/>
              </a:rPr>
              <a:t>CUSTOMER VALUE</a:t>
            </a:r>
            <a:endParaRPr lang="en-US" sz="1150" dirty="0"/>
          </a:p>
        </p:txBody>
      </p:sp>
      <p:sp>
        <p:nvSpPr>
          <p:cNvPr id="3" name="Text 1"/>
          <p:cNvSpPr/>
          <p:nvPr/>
        </p:nvSpPr>
        <p:spPr>
          <a:xfrm>
            <a:off x="457200" y="56692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Customer &amp; Segment Profitability</a:t>
            </a:r>
            <a:endParaRPr lang="en-US" sz="3000" dirty="0"/>
          </a:p>
        </p:txBody>
      </p:sp>
      <p:sp>
        <p:nvSpPr>
          <p:cNvPr id="4" name="Text 2"/>
          <p:cNvSpPr/>
          <p:nvPr/>
        </p:nvSpPr>
        <p:spPr>
          <a:xfrm>
            <a:off x="457200" y="1325880"/>
            <a:ext cx="5486400" cy="274320"/>
          </a:xfrm>
          <a:prstGeom prst="rect">
            <a:avLst/>
          </a:prstGeom>
          <a:noFill/>
          <a:ln/>
        </p:spPr>
        <p:txBody>
          <a:bodyPr wrap="square" lIns="0" tIns="0" rIns="0" bIns="0" rtlCol="0" anchor="ctr"/>
          <a:lstStyle/>
          <a:p>
            <a:pPr indent="0" marL="0">
              <a:buNone/>
            </a:pPr>
            <a:r>
              <a:rPr lang="en-US" sz="1150" b="1" spc="100" kern="0" dirty="0">
                <a:solidFill>
                  <a:srgbClr val="1E2761"/>
                </a:solidFill>
                <a:latin typeface="Calibri" pitchFamily="34" charset="0"/>
                <a:ea typeface="Calibri" pitchFamily="34" charset="-122"/>
                <a:cs typeface="Calibri" pitchFamily="34" charset="-120"/>
              </a:rPr>
              <a:t>TOP CUSTOMERS BY GROSS PROFIT</a:t>
            </a:r>
            <a:endParaRPr lang="en-US" sz="1150" dirty="0"/>
          </a:p>
        </p:txBody>
      </p:sp>
      <p:graphicFrame>
        <p:nvGraphicFramePr>
          <p:cNvPr id="5" name="Chart 0" descr=""/>
          <p:cNvGraphicFramePr/>
          <p:nvPr/>
        </p:nvGraphicFramePr>
        <p:xfrm>
          <a:off x="457200" y="1645920"/>
          <a:ext cx="5577840" cy="28803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4572000"/>
            <a:ext cx="5577840" cy="365760"/>
          </a:xfrm>
          <a:prstGeom prst="rect">
            <a:avLst/>
          </a:prstGeom>
          <a:noFill/>
          <a:ln/>
        </p:spPr>
        <p:txBody>
          <a:bodyPr wrap="square" lIns="0" tIns="0" rIns="0" bIns="0" rtlCol="0" anchor="ctr"/>
          <a:lstStyle/>
          <a:p>
            <a:pPr indent="0" marL="0">
              <a:buNone/>
            </a:pPr>
            <a:r>
              <a:rPr lang="en-US" sz="1100" i="1" dirty="0">
                <a:solidFill>
                  <a:srgbClr val="5B6785"/>
                </a:solidFill>
                <a:latin typeface="Calibri" pitchFamily="34" charset="0"/>
                <a:ea typeface="Calibri" pitchFamily="34" charset="-122"/>
                <a:cs typeface="Calibri" pitchFamily="34" charset="-120"/>
              </a:rPr>
              <a:t>Top gross-profit customers are concentrated in the Corporate segment.</a:t>
            </a:r>
            <a:endParaRPr lang="en-US" sz="1100" dirty="0"/>
          </a:p>
        </p:txBody>
      </p:sp>
      <p:sp>
        <p:nvSpPr>
          <p:cNvPr id="7" name="Text 4"/>
          <p:cNvSpPr/>
          <p:nvPr/>
        </p:nvSpPr>
        <p:spPr>
          <a:xfrm>
            <a:off x="6355080" y="1325880"/>
            <a:ext cx="5394960" cy="274320"/>
          </a:xfrm>
          <a:prstGeom prst="rect">
            <a:avLst/>
          </a:prstGeom>
          <a:noFill/>
          <a:ln/>
        </p:spPr>
        <p:txBody>
          <a:bodyPr wrap="square" lIns="0" tIns="0" rIns="0" bIns="0" rtlCol="0" anchor="ctr"/>
          <a:lstStyle/>
          <a:p>
            <a:pPr indent="0" marL="0">
              <a:buNone/>
            </a:pPr>
            <a:r>
              <a:rPr lang="en-US" sz="1150" b="1" spc="100" kern="0" dirty="0">
                <a:solidFill>
                  <a:srgbClr val="1E2761"/>
                </a:solidFill>
                <a:latin typeface="Calibri" pitchFamily="34" charset="0"/>
                <a:ea typeface="Calibri" pitchFamily="34" charset="-122"/>
                <a:cs typeface="Calibri" pitchFamily="34" charset="-120"/>
              </a:rPr>
              <a:t>SEGMENT GROSS MARGIN</a:t>
            </a:r>
            <a:endParaRPr lang="en-US" sz="1150" dirty="0"/>
          </a:p>
        </p:txBody>
      </p:sp>
      <p:graphicFrame>
        <p:nvGraphicFramePr>
          <p:cNvPr id="8" name="Chart 1" descr=""/>
          <p:cNvGraphicFramePr/>
          <p:nvPr/>
        </p:nvGraphicFramePr>
        <p:xfrm>
          <a:off x="6355080" y="1645920"/>
          <a:ext cx="5394960" cy="2880360"/>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457200" y="5074920"/>
            <a:ext cx="11274552" cy="1234440"/>
          </a:xfrm>
          <a:prstGeom prst="roundRect">
            <a:avLst>
              <a:gd name="adj" fmla="val 5926"/>
            </a:avLst>
          </a:prstGeom>
          <a:solidFill>
            <a:srgbClr val="1E2761"/>
          </a:solidFill>
          <a:ln/>
        </p:spPr>
      </p:sp>
      <p:sp>
        <p:nvSpPr>
          <p:cNvPr id="10" name="Text 6"/>
          <p:cNvSpPr/>
          <p:nvPr/>
        </p:nvSpPr>
        <p:spPr>
          <a:xfrm>
            <a:off x="731520" y="5074920"/>
            <a:ext cx="10725912" cy="1234440"/>
          </a:xfrm>
          <a:prstGeom prst="rect">
            <a:avLst/>
          </a:prstGeom>
          <a:noFill/>
          <a:ln/>
        </p:spPr>
        <p:txBody>
          <a:bodyPr wrap="square" lIns="0" tIns="0" rIns="0" bIns="0" rtlCol="0" anchor="ctr"/>
          <a:lstStyle/>
          <a:p>
            <a:pPr algn="l" indent="0" marL="0">
              <a:lnSpc>
                <a:spcPct val="115000"/>
              </a:lnSpc>
              <a:buNone/>
            </a:pPr>
            <a:r>
              <a:rPr lang="en-US" sz="1300" b="1" i="1" dirty="0">
                <a:solidFill>
                  <a:srgbClr val="D99B2B"/>
                </a:solidFill>
                <a:latin typeface="Calibri" pitchFamily="34" charset="0"/>
                <a:ea typeface="Calibri" pitchFamily="34" charset="-122"/>
                <a:cs typeface="Calibri" pitchFamily="34" charset="-120"/>
              </a:rPr>
              <a:t>INSIGHT  </a:t>
            </a:r>
            <a:pPr algn="l" indent="0" marL="0">
              <a:lnSpc>
                <a:spcPct val="115000"/>
              </a:lnSpc>
              <a:buNone/>
            </a:pPr>
            <a:r>
              <a:rPr lang="en-US" sz="1300" i="1" dirty="0">
                <a:solidFill>
                  <a:srgbClr val="FFFFFF"/>
                </a:solidFill>
                <a:latin typeface="Calibri" pitchFamily="34" charset="0"/>
                <a:ea typeface="Calibri" pitchFamily="34" charset="-122"/>
                <a:cs typeface="Calibri" pitchFamily="34" charset="-120"/>
              </a:rPr>
              <a:t>Corporate customers generate strong absolute customer-level profit, while Consumer customers demonstrate higher margin efficiency — customer value and margin efficiency are two different lenses.</a:t>
            </a:r>
            <a:endParaRPr lang="en-US" sz="1300" dirty="0"/>
          </a:p>
        </p:txBody>
      </p:sp>
      <p:sp>
        <p:nvSpPr>
          <p:cNvPr id="11" name="Text 7"/>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850" dirty="0">
                <a:solidFill>
                  <a:srgbClr val="5B6785"/>
                </a:solidFill>
                <a:latin typeface="Calibri" pitchFamily="34" charset="0"/>
                <a:ea typeface="Calibri" pitchFamily="34" charset="-122"/>
                <a:cs typeface="Calibri" pitchFamily="34" charset="-120"/>
              </a:rPr>
              <a:t>NexaMart Customer Profitability &amp; Revenue Intelligence</a:t>
            </a:r>
            <a:endParaRPr lang="en-US" sz="850" dirty="0"/>
          </a:p>
        </p:txBody>
      </p:sp>
      <p:sp>
        <p:nvSpPr>
          <p:cNvPr id="12" name="Text 8"/>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850" dirty="0">
                <a:solidFill>
                  <a:srgbClr val="5B6785"/>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indent="0" marL="0">
              <a:buNone/>
            </a:pPr>
            <a:r>
              <a:rPr lang="en-US" sz="1150" b="1" spc="200" kern="0" dirty="0">
                <a:solidFill>
                  <a:srgbClr val="D99B2B"/>
                </a:solidFill>
                <a:latin typeface="Calibri" pitchFamily="34" charset="0"/>
                <a:ea typeface="Calibri" pitchFamily="34" charset="-122"/>
                <a:cs typeface="Calibri" pitchFamily="34" charset="-120"/>
              </a:rPr>
              <a:t>PRODUCT PERFORMANCE</a:t>
            </a:r>
            <a:endParaRPr lang="en-US" sz="1150" dirty="0"/>
          </a:p>
        </p:txBody>
      </p:sp>
      <p:sp>
        <p:nvSpPr>
          <p:cNvPr id="3" name="Text 1"/>
          <p:cNvSpPr/>
          <p:nvPr/>
        </p:nvSpPr>
        <p:spPr>
          <a:xfrm>
            <a:off x="457200" y="56692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Product &amp; Category Performance</a:t>
            </a:r>
            <a:endParaRPr lang="en-US" sz="3000" dirty="0"/>
          </a:p>
        </p:txBody>
      </p:sp>
      <p:sp>
        <p:nvSpPr>
          <p:cNvPr id="4" name="Text 2"/>
          <p:cNvSpPr/>
          <p:nvPr/>
        </p:nvSpPr>
        <p:spPr>
          <a:xfrm>
            <a:off x="457200" y="1280160"/>
            <a:ext cx="6400800" cy="274320"/>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CATEGORY: REVENUE vs GROSS PROFIT (₹M)</a:t>
            </a:r>
            <a:endParaRPr lang="en-US" sz="1100" dirty="0"/>
          </a:p>
        </p:txBody>
      </p:sp>
      <p:graphicFrame>
        <p:nvGraphicFramePr>
          <p:cNvPr id="5" name="Chart 0" descr=""/>
          <p:cNvGraphicFramePr/>
          <p:nvPr/>
        </p:nvGraphicFramePr>
        <p:xfrm>
          <a:off x="457200" y="1600200"/>
          <a:ext cx="6537960" cy="3017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269480" y="1280160"/>
            <a:ext cx="4480560" cy="274320"/>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TOP PRODUCTS BY GROSS PROFIT</a:t>
            </a:r>
            <a:endParaRPr lang="en-US" sz="1100" dirty="0"/>
          </a:p>
        </p:txBody>
      </p:sp>
      <p:sp>
        <p:nvSpPr>
          <p:cNvPr id="7" name="Shape 4"/>
          <p:cNvSpPr/>
          <p:nvPr/>
        </p:nvSpPr>
        <p:spPr>
          <a:xfrm>
            <a:off x="7269480" y="1627632"/>
            <a:ext cx="4462272" cy="566928"/>
          </a:xfrm>
          <a:prstGeom prst="roundRect">
            <a:avLst>
              <a:gd name="adj" fmla="val 11290"/>
            </a:avLst>
          </a:prstGeom>
          <a:solidFill>
            <a:srgbClr val="EEF3FC"/>
          </a:solidFill>
          <a:ln w="12700">
            <a:solidFill>
              <a:srgbClr val="DCE3F2"/>
            </a:solidFill>
            <a:prstDash val="solid"/>
          </a:ln>
        </p:spPr>
      </p:sp>
      <p:sp>
        <p:nvSpPr>
          <p:cNvPr id="8" name="Text 5"/>
          <p:cNvSpPr/>
          <p:nvPr/>
        </p:nvSpPr>
        <p:spPr>
          <a:xfrm>
            <a:off x="7406640" y="1627632"/>
            <a:ext cx="2377440" cy="56692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Exercise Bike</a:t>
            </a:r>
            <a:endParaRPr lang="en-US" sz="1200" dirty="0"/>
          </a:p>
        </p:txBody>
      </p:sp>
      <p:sp>
        <p:nvSpPr>
          <p:cNvPr id="9" name="Text 6"/>
          <p:cNvSpPr/>
          <p:nvPr/>
        </p:nvSpPr>
        <p:spPr>
          <a:xfrm>
            <a:off x="9646920" y="1627632"/>
            <a:ext cx="1188720" cy="566928"/>
          </a:xfrm>
          <a:prstGeom prst="rect">
            <a:avLst/>
          </a:prstGeom>
          <a:noFill/>
          <a:ln/>
        </p:spPr>
        <p:txBody>
          <a:bodyPr wrap="square" lIns="0" tIns="0" rIns="0" bIns="0" rtlCol="0" anchor="ctr"/>
          <a:lstStyle/>
          <a:p>
            <a:pPr algn="r" indent="0" marL="0">
              <a:buNone/>
            </a:pPr>
            <a:r>
              <a:rPr lang="en-US" sz="1100" dirty="0">
                <a:solidFill>
                  <a:srgbClr val="44506B"/>
                </a:solidFill>
                <a:latin typeface="Calibri" pitchFamily="34" charset="0"/>
                <a:ea typeface="Calibri" pitchFamily="34" charset="-122"/>
                <a:cs typeface="Calibri" pitchFamily="34" charset="-120"/>
              </a:rPr>
              <a:t>₹4.97M GP</a:t>
            </a:r>
            <a:endParaRPr lang="en-US" sz="1100" dirty="0"/>
          </a:p>
        </p:txBody>
      </p:sp>
      <p:sp>
        <p:nvSpPr>
          <p:cNvPr id="10" name="Text 7"/>
          <p:cNvSpPr/>
          <p:nvPr/>
        </p:nvSpPr>
        <p:spPr>
          <a:xfrm>
            <a:off x="7406640" y="1956816"/>
            <a:ext cx="4206240" cy="201168"/>
          </a:xfrm>
          <a:prstGeom prst="rect">
            <a:avLst/>
          </a:prstGeom>
          <a:noFill/>
          <a:ln/>
        </p:spPr>
        <p:txBody>
          <a:bodyPr wrap="square" lIns="0" tIns="0" rIns="0" bIns="0" rtlCol="0" anchor="ctr"/>
          <a:lstStyle/>
          <a:p>
            <a:pPr indent="0" marL="0">
              <a:buNone/>
            </a:pPr>
            <a:r>
              <a:rPr lang="en-US" sz="850" dirty="0">
                <a:solidFill>
                  <a:srgbClr val="5B6785"/>
                </a:solidFill>
                <a:latin typeface="Calibri" pitchFamily="34" charset="0"/>
                <a:ea typeface="Calibri" pitchFamily="34" charset="-122"/>
                <a:cs typeface="Calibri" pitchFamily="34" charset="-120"/>
              </a:rPr>
              <a:t>Margin 19.80%</a:t>
            </a:r>
            <a:endParaRPr lang="en-US" sz="850" dirty="0"/>
          </a:p>
        </p:txBody>
      </p:sp>
      <p:sp>
        <p:nvSpPr>
          <p:cNvPr id="11" name="Shape 8"/>
          <p:cNvSpPr/>
          <p:nvPr/>
        </p:nvSpPr>
        <p:spPr>
          <a:xfrm>
            <a:off x="7269480" y="2304288"/>
            <a:ext cx="4462272" cy="566928"/>
          </a:xfrm>
          <a:prstGeom prst="roundRect">
            <a:avLst>
              <a:gd name="adj" fmla="val 11290"/>
            </a:avLst>
          </a:prstGeom>
          <a:solidFill>
            <a:srgbClr val="EEF3FC"/>
          </a:solidFill>
          <a:ln w="12700">
            <a:solidFill>
              <a:srgbClr val="DCE3F2"/>
            </a:solidFill>
            <a:prstDash val="solid"/>
          </a:ln>
        </p:spPr>
      </p:sp>
      <p:sp>
        <p:nvSpPr>
          <p:cNvPr id="12" name="Text 9"/>
          <p:cNvSpPr/>
          <p:nvPr/>
        </p:nvSpPr>
        <p:spPr>
          <a:xfrm>
            <a:off x="7406640" y="2304288"/>
            <a:ext cx="2377440" cy="56692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Standing Desk</a:t>
            </a:r>
            <a:endParaRPr lang="en-US" sz="1200" dirty="0"/>
          </a:p>
        </p:txBody>
      </p:sp>
      <p:sp>
        <p:nvSpPr>
          <p:cNvPr id="13" name="Text 10"/>
          <p:cNvSpPr/>
          <p:nvPr/>
        </p:nvSpPr>
        <p:spPr>
          <a:xfrm>
            <a:off x="9646920" y="2304288"/>
            <a:ext cx="1188720" cy="566928"/>
          </a:xfrm>
          <a:prstGeom prst="rect">
            <a:avLst/>
          </a:prstGeom>
          <a:noFill/>
          <a:ln/>
        </p:spPr>
        <p:txBody>
          <a:bodyPr wrap="square" lIns="0" tIns="0" rIns="0" bIns="0" rtlCol="0" anchor="ctr"/>
          <a:lstStyle/>
          <a:p>
            <a:pPr algn="r" indent="0" marL="0">
              <a:buNone/>
            </a:pPr>
            <a:r>
              <a:rPr lang="en-US" sz="1100" dirty="0">
                <a:solidFill>
                  <a:srgbClr val="44506B"/>
                </a:solidFill>
                <a:latin typeface="Calibri" pitchFamily="34" charset="0"/>
                <a:ea typeface="Calibri" pitchFamily="34" charset="-122"/>
                <a:cs typeface="Calibri" pitchFamily="34" charset="-120"/>
              </a:rPr>
              <a:t>₹3.59M GP</a:t>
            </a:r>
            <a:endParaRPr lang="en-US" sz="1100" dirty="0"/>
          </a:p>
        </p:txBody>
      </p:sp>
      <p:sp>
        <p:nvSpPr>
          <p:cNvPr id="14" name="Text 11"/>
          <p:cNvSpPr/>
          <p:nvPr/>
        </p:nvSpPr>
        <p:spPr>
          <a:xfrm>
            <a:off x="7406640" y="2633472"/>
            <a:ext cx="4206240" cy="201168"/>
          </a:xfrm>
          <a:prstGeom prst="rect">
            <a:avLst/>
          </a:prstGeom>
          <a:noFill/>
          <a:ln/>
        </p:spPr>
        <p:txBody>
          <a:bodyPr wrap="square" lIns="0" tIns="0" rIns="0" bIns="0" rtlCol="0" anchor="ctr"/>
          <a:lstStyle/>
          <a:p>
            <a:pPr indent="0" marL="0">
              <a:buNone/>
            </a:pPr>
            <a:r>
              <a:rPr lang="en-US" sz="850" dirty="0">
                <a:solidFill>
                  <a:srgbClr val="5B6785"/>
                </a:solidFill>
                <a:latin typeface="Calibri" pitchFamily="34" charset="0"/>
                <a:ea typeface="Calibri" pitchFamily="34" charset="-122"/>
                <a:cs typeface="Calibri" pitchFamily="34" charset="-120"/>
              </a:rPr>
              <a:t>Margin 23.48%</a:t>
            </a:r>
            <a:endParaRPr lang="en-US" sz="850" dirty="0"/>
          </a:p>
        </p:txBody>
      </p:sp>
      <p:sp>
        <p:nvSpPr>
          <p:cNvPr id="15" name="Shape 12"/>
          <p:cNvSpPr/>
          <p:nvPr/>
        </p:nvSpPr>
        <p:spPr>
          <a:xfrm>
            <a:off x="7269480" y="2980944"/>
            <a:ext cx="4462272" cy="566928"/>
          </a:xfrm>
          <a:prstGeom prst="roundRect">
            <a:avLst>
              <a:gd name="adj" fmla="val 11290"/>
            </a:avLst>
          </a:prstGeom>
          <a:solidFill>
            <a:srgbClr val="EEF3FC"/>
          </a:solidFill>
          <a:ln w="12700">
            <a:solidFill>
              <a:srgbClr val="DCE3F2"/>
            </a:solidFill>
            <a:prstDash val="solid"/>
          </a:ln>
        </p:spPr>
      </p:sp>
      <p:sp>
        <p:nvSpPr>
          <p:cNvPr id="16" name="Text 13"/>
          <p:cNvSpPr/>
          <p:nvPr/>
        </p:nvSpPr>
        <p:spPr>
          <a:xfrm>
            <a:off x="7406640" y="2980944"/>
            <a:ext cx="2377440" cy="566928"/>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Exec. Office Chair</a:t>
            </a:r>
            <a:endParaRPr lang="en-US" sz="1200" dirty="0"/>
          </a:p>
        </p:txBody>
      </p:sp>
      <p:sp>
        <p:nvSpPr>
          <p:cNvPr id="17" name="Text 14"/>
          <p:cNvSpPr/>
          <p:nvPr/>
        </p:nvSpPr>
        <p:spPr>
          <a:xfrm>
            <a:off x="9646920" y="2980944"/>
            <a:ext cx="1188720" cy="566928"/>
          </a:xfrm>
          <a:prstGeom prst="rect">
            <a:avLst/>
          </a:prstGeom>
          <a:noFill/>
          <a:ln/>
        </p:spPr>
        <p:txBody>
          <a:bodyPr wrap="square" lIns="0" tIns="0" rIns="0" bIns="0" rtlCol="0" anchor="ctr"/>
          <a:lstStyle/>
          <a:p>
            <a:pPr algn="r" indent="0" marL="0">
              <a:buNone/>
            </a:pPr>
            <a:r>
              <a:rPr lang="en-US" sz="1100" dirty="0">
                <a:solidFill>
                  <a:srgbClr val="44506B"/>
                </a:solidFill>
                <a:latin typeface="Calibri" pitchFamily="34" charset="0"/>
                <a:ea typeface="Calibri" pitchFamily="34" charset="-122"/>
                <a:cs typeface="Calibri" pitchFamily="34" charset="-120"/>
              </a:rPr>
              <a:t>₹2.58M GP</a:t>
            </a:r>
            <a:endParaRPr lang="en-US" sz="1100" dirty="0"/>
          </a:p>
        </p:txBody>
      </p:sp>
      <p:sp>
        <p:nvSpPr>
          <p:cNvPr id="18" name="Text 15"/>
          <p:cNvSpPr/>
          <p:nvPr/>
        </p:nvSpPr>
        <p:spPr>
          <a:xfrm>
            <a:off x="7406640" y="3310128"/>
            <a:ext cx="4206240" cy="201168"/>
          </a:xfrm>
          <a:prstGeom prst="rect">
            <a:avLst/>
          </a:prstGeom>
          <a:noFill/>
          <a:ln/>
        </p:spPr>
        <p:txBody>
          <a:bodyPr wrap="square" lIns="0" tIns="0" rIns="0" bIns="0" rtlCol="0" anchor="ctr"/>
          <a:lstStyle/>
          <a:p>
            <a:pPr indent="0" marL="0">
              <a:buNone/>
            </a:pPr>
            <a:endParaRPr lang="en-US" sz="850" dirty="0"/>
          </a:p>
        </p:txBody>
      </p:sp>
      <p:sp>
        <p:nvSpPr>
          <p:cNvPr id="19" name="Text 16"/>
          <p:cNvSpPr/>
          <p:nvPr/>
        </p:nvSpPr>
        <p:spPr>
          <a:xfrm>
            <a:off x="7269480" y="3703320"/>
            <a:ext cx="4462272" cy="777240"/>
          </a:xfrm>
          <a:prstGeom prst="rect">
            <a:avLst/>
          </a:prstGeom>
          <a:noFill/>
          <a:ln/>
        </p:spPr>
        <p:txBody>
          <a:bodyPr wrap="square" lIns="0" tIns="0" rIns="0" bIns="0" rtlCol="0" anchor="ctr"/>
          <a:lstStyle/>
          <a:p>
            <a:pPr indent="0" marL="0">
              <a:lnSpc>
                <a:spcPct val="120000"/>
              </a:lnSpc>
              <a:buNone/>
            </a:pPr>
            <a:r>
              <a:rPr lang="en-US" sz="950" i="1" dirty="0">
                <a:solidFill>
                  <a:srgbClr val="5B6785"/>
                </a:solidFill>
                <a:latin typeface="Calibri" pitchFamily="34" charset="0"/>
                <a:ea typeface="Calibri" pitchFamily="34" charset="-122"/>
                <a:cs typeface="Calibri" pitchFamily="34" charset="-120"/>
              </a:rPr>
              <a:t>Furniture = largest scale   ·   Electronics = strong scale + margin combo   ·   Office Supplies = highest margin, smallest scale (38.74%)</a:t>
            </a:r>
            <a:endParaRPr lang="en-US" sz="950" dirty="0"/>
          </a:p>
        </p:txBody>
      </p:sp>
      <p:sp>
        <p:nvSpPr>
          <p:cNvPr id="20" name="Shape 17"/>
          <p:cNvSpPr/>
          <p:nvPr/>
        </p:nvSpPr>
        <p:spPr>
          <a:xfrm>
            <a:off x="457200" y="4892040"/>
            <a:ext cx="11274552" cy="914400"/>
          </a:xfrm>
          <a:prstGeom prst="roundRect">
            <a:avLst>
              <a:gd name="adj" fmla="val 8000"/>
            </a:avLst>
          </a:prstGeom>
          <a:solidFill>
            <a:srgbClr val="1E2761"/>
          </a:solidFill>
          <a:ln/>
        </p:spPr>
      </p:sp>
      <p:sp>
        <p:nvSpPr>
          <p:cNvPr id="21" name="Text 18"/>
          <p:cNvSpPr/>
          <p:nvPr/>
        </p:nvSpPr>
        <p:spPr>
          <a:xfrm>
            <a:off x="731520" y="4892040"/>
            <a:ext cx="10725912" cy="914400"/>
          </a:xfrm>
          <a:prstGeom prst="rect">
            <a:avLst/>
          </a:prstGeom>
          <a:noFill/>
          <a:ln/>
        </p:spPr>
        <p:txBody>
          <a:bodyPr wrap="square" lIns="0" tIns="0" rIns="0" bIns="0" rtlCol="0" anchor="ctr"/>
          <a:lstStyle/>
          <a:p>
            <a:pPr algn="l" indent="0" marL="0">
              <a:lnSpc>
                <a:spcPct val="115000"/>
              </a:lnSpc>
              <a:buNone/>
            </a:pPr>
            <a:r>
              <a:rPr lang="en-US" sz="1500" b="1" i="1" dirty="0">
                <a:solidFill>
                  <a:srgbClr val="D99B2B"/>
                </a:solidFill>
                <a:latin typeface="Calibri" pitchFamily="34" charset="0"/>
                <a:ea typeface="Calibri" pitchFamily="34" charset="-122"/>
                <a:cs typeface="Calibri" pitchFamily="34" charset="-120"/>
              </a:rPr>
              <a:t>KEY MESSAGE  </a:t>
            </a:r>
            <a:pPr algn="l" indent="0" marL="0">
              <a:lnSpc>
                <a:spcPct val="115000"/>
              </a:lnSpc>
              <a:buNone/>
            </a:pPr>
            <a:r>
              <a:rPr lang="en-US" sz="1500" i="1" dirty="0">
                <a:solidFill>
                  <a:srgbClr val="FFFFFF"/>
                </a:solidFill>
                <a:latin typeface="Calibri" pitchFamily="34" charset="0"/>
                <a:ea typeface="Calibri" pitchFamily="34" charset="-122"/>
                <a:cs typeface="Calibri" pitchFamily="34" charset="-120"/>
              </a:rPr>
              <a:t>Revenue leadership and margin leadership are not the same.</a:t>
            </a:r>
            <a:endParaRPr lang="en-US" sz="1500" dirty="0"/>
          </a:p>
        </p:txBody>
      </p:sp>
      <p:sp>
        <p:nvSpPr>
          <p:cNvPr id="22" name="Text 19"/>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850" dirty="0">
                <a:solidFill>
                  <a:srgbClr val="5B6785"/>
                </a:solidFill>
                <a:latin typeface="Calibri" pitchFamily="34" charset="0"/>
                <a:ea typeface="Calibri" pitchFamily="34" charset="-122"/>
                <a:cs typeface="Calibri" pitchFamily="34" charset="-120"/>
              </a:rPr>
              <a:t>NexaMart Customer Profitability &amp; Revenue Intelligence</a:t>
            </a:r>
            <a:endParaRPr lang="en-US" sz="850" dirty="0"/>
          </a:p>
        </p:txBody>
      </p:sp>
      <p:sp>
        <p:nvSpPr>
          <p:cNvPr id="23" name="Text 20"/>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850" dirty="0">
                <a:solidFill>
                  <a:srgbClr val="5B6785"/>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indent="0" marL="0">
              <a:buNone/>
            </a:pPr>
            <a:r>
              <a:rPr lang="en-US" sz="1150" b="1" spc="200" kern="0" dirty="0">
                <a:solidFill>
                  <a:srgbClr val="D99B2B"/>
                </a:solidFill>
                <a:latin typeface="Calibri" pitchFamily="34" charset="0"/>
                <a:ea typeface="Calibri" pitchFamily="34" charset="-122"/>
                <a:cs typeface="Calibri" pitchFamily="34" charset="-120"/>
              </a:rPr>
              <a:t>REGIONAL PERFORMANCE</a:t>
            </a:r>
            <a:endParaRPr lang="en-US" sz="1150" dirty="0"/>
          </a:p>
        </p:txBody>
      </p:sp>
      <p:sp>
        <p:nvSpPr>
          <p:cNvPr id="3" name="Text 1"/>
          <p:cNvSpPr/>
          <p:nvPr/>
        </p:nvSpPr>
        <p:spPr>
          <a:xfrm>
            <a:off x="457200" y="56692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Regional Performance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577840" cy="2423160"/>
        </p:xfrm>
        <a:graphic>
          <a:graphicData uri="http://schemas.openxmlformats.org/drawingml/2006/table">
            <a:tbl>
              <a:tblPr/>
              <a:tblGrid>
                <a:gridCol w="1097280"/>
                <a:gridCol w="1371600"/>
                <a:gridCol w="1508760"/>
                <a:gridCol w="777240"/>
                <a:gridCol w="822960"/>
              </a:tblGrid>
              <a:tr h="48463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Region</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Revenue (₹M)</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Gross Profit (₹M)</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Margin</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Orders</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1E2761"/>
                    </a:solidFill>
                  </a:tcPr>
                </a:tc>
              </a:tr>
              <a:tr h="484632">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South</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FFFFFF"/>
                    </a:solidFill>
                  </a:tcPr>
                </a:tc>
                <a:tc>
                  <a:txBody>
                    <a:bodyPr/>
                    <a:lstStyle/>
                    <a:p>
                      <a:pPr indent="0" marL="0">
                        <a:buNone/>
                      </a:pPr>
                      <a:r>
                        <a:rPr lang="en-US" sz="1150" dirty="0">
                          <a:solidFill>
                            <a:srgbClr val="44506B"/>
                          </a:solidFill>
                          <a:latin typeface="Calibri" pitchFamily="34" charset="0"/>
                          <a:ea typeface="Calibri" pitchFamily="34" charset="-122"/>
                          <a:cs typeface="Calibri" pitchFamily="34" charset="-120"/>
                        </a:rPr>
                        <a:t>69.83</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FFFFFF"/>
                    </a:solidFill>
                  </a:tcPr>
                </a:tc>
                <a:tc>
                  <a:txBody>
                    <a:bodyPr/>
                    <a:lstStyle/>
                    <a:p>
                      <a:pPr indent="0" marL="0">
                        <a:buNone/>
                      </a:pPr>
                      <a:r>
                        <a:rPr lang="en-US" sz="1150" dirty="0">
                          <a:solidFill>
                            <a:srgbClr val="44506B"/>
                          </a:solidFill>
                          <a:latin typeface="Calibri" pitchFamily="34" charset="0"/>
                          <a:ea typeface="Calibri" pitchFamily="34" charset="-122"/>
                          <a:cs typeface="Calibri" pitchFamily="34" charset="-120"/>
                        </a:rPr>
                        <a:t>18.45</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FFFFFF"/>
                    </a:solidFill>
                  </a:tcPr>
                </a:tc>
                <a:tc>
                  <a:txBody>
                    <a:bodyPr/>
                    <a:lstStyle/>
                    <a:p>
                      <a:pPr indent="0" marL="0">
                        <a:buNone/>
                      </a:pPr>
                      <a:r>
                        <a:rPr lang="en-US" sz="1150" dirty="0">
                          <a:solidFill>
                            <a:srgbClr val="44506B"/>
                          </a:solidFill>
                          <a:latin typeface="Calibri" pitchFamily="34" charset="0"/>
                          <a:ea typeface="Calibri" pitchFamily="34" charset="-122"/>
                          <a:cs typeface="Calibri" pitchFamily="34" charset="-120"/>
                        </a:rPr>
                        <a:t>26.43%</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FFFFFF"/>
                    </a:solidFill>
                  </a:tcPr>
                </a:tc>
                <a:tc>
                  <a:txBody>
                    <a:bodyPr/>
                    <a:lstStyle/>
                    <a:p>
                      <a:pPr indent="0" marL="0">
                        <a:buNone/>
                      </a:pPr>
                      <a:r>
                        <a:rPr lang="en-US" sz="1150" dirty="0">
                          <a:solidFill>
                            <a:srgbClr val="44506B"/>
                          </a:solidFill>
                          <a:latin typeface="Calibri" pitchFamily="34" charset="0"/>
                          <a:ea typeface="Calibri" pitchFamily="34" charset="-122"/>
                          <a:cs typeface="Calibri" pitchFamily="34" charset="-120"/>
                        </a:rPr>
                        <a:t>3,821</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FFFFFF"/>
                    </a:solidFill>
                  </a:tcPr>
                </a:tc>
              </a:tr>
              <a:tr h="484632">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North</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EEF3FC"/>
                    </a:solidFill>
                  </a:tcPr>
                </a:tc>
                <a:tc>
                  <a:txBody>
                    <a:bodyPr/>
                    <a:lstStyle/>
                    <a:p>
                      <a:pPr indent="0" marL="0">
                        <a:buNone/>
                      </a:pPr>
                      <a:r>
                        <a:rPr lang="en-US" sz="1150" dirty="0">
                          <a:solidFill>
                            <a:srgbClr val="44506B"/>
                          </a:solidFill>
                          <a:latin typeface="Calibri" pitchFamily="34" charset="0"/>
                          <a:ea typeface="Calibri" pitchFamily="34" charset="-122"/>
                          <a:cs typeface="Calibri" pitchFamily="34" charset="-120"/>
                        </a:rPr>
                        <a:t>44.07</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EEF3FC"/>
                    </a:solidFill>
                  </a:tcPr>
                </a:tc>
                <a:tc>
                  <a:txBody>
                    <a:bodyPr/>
                    <a:lstStyle/>
                    <a:p>
                      <a:pPr indent="0" marL="0">
                        <a:buNone/>
                      </a:pPr>
                      <a:r>
                        <a:rPr lang="en-US" sz="1150" dirty="0">
                          <a:solidFill>
                            <a:srgbClr val="44506B"/>
                          </a:solidFill>
                          <a:latin typeface="Calibri" pitchFamily="34" charset="0"/>
                          <a:ea typeface="Calibri" pitchFamily="34" charset="-122"/>
                          <a:cs typeface="Calibri" pitchFamily="34" charset="-120"/>
                        </a:rPr>
                        <a:t>11.98</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EEF3FC"/>
                    </a:solidFill>
                  </a:tcPr>
                </a:tc>
                <a:tc>
                  <a:txBody>
                    <a:bodyPr/>
                    <a:lstStyle/>
                    <a:p>
                      <a:pPr indent="0" marL="0">
                        <a:buNone/>
                      </a:pPr>
                      <a:r>
                        <a:rPr lang="en-US" sz="1150" dirty="0">
                          <a:solidFill>
                            <a:srgbClr val="44506B"/>
                          </a:solidFill>
                          <a:latin typeface="Calibri" pitchFamily="34" charset="0"/>
                          <a:ea typeface="Calibri" pitchFamily="34" charset="-122"/>
                          <a:cs typeface="Calibri" pitchFamily="34" charset="-120"/>
                        </a:rPr>
                        <a:t>27.19%</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EEF3FC"/>
                    </a:solidFill>
                  </a:tcPr>
                </a:tc>
                <a:tc>
                  <a:txBody>
                    <a:bodyPr/>
                    <a:lstStyle/>
                    <a:p>
                      <a:pPr indent="0" marL="0">
                        <a:buNone/>
                      </a:pPr>
                      <a:r>
                        <a:rPr lang="en-US" sz="1150" dirty="0">
                          <a:solidFill>
                            <a:srgbClr val="44506B"/>
                          </a:solidFill>
                          <a:latin typeface="Calibri" pitchFamily="34" charset="0"/>
                          <a:ea typeface="Calibri" pitchFamily="34" charset="-122"/>
                          <a:cs typeface="Calibri" pitchFamily="34" charset="-120"/>
                        </a:rPr>
                        <a:t>2,608</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EEF3FC"/>
                    </a:solidFill>
                  </a:tcPr>
                </a:tc>
              </a:tr>
              <a:tr h="484632">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West</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FFFFFF"/>
                    </a:solidFill>
                  </a:tcPr>
                </a:tc>
                <a:tc>
                  <a:txBody>
                    <a:bodyPr/>
                    <a:lstStyle/>
                    <a:p>
                      <a:pPr indent="0" marL="0">
                        <a:buNone/>
                      </a:pPr>
                      <a:r>
                        <a:rPr lang="en-US" sz="1150" dirty="0">
                          <a:solidFill>
                            <a:srgbClr val="44506B"/>
                          </a:solidFill>
                          <a:latin typeface="Calibri" pitchFamily="34" charset="0"/>
                          <a:ea typeface="Calibri" pitchFamily="34" charset="-122"/>
                          <a:cs typeface="Calibri" pitchFamily="34" charset="-120"/>
                        </a:rPr>
                        <a:t>38.50</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FFFFFF"/>
                    </a:solidFill>
                  </a:tcPr>
                </a:tc>
                <a:tc>
                  <a:txBody>
                    <a:bodyPr/>
                    <a:lstStyle/>
                    <a:p>
                      <a:pPr indent="0" marL="0">
                        <a:buNone/>
                      </a:pPr>
                      <a:r>
                        <a:rPr lang="en-US" sz="1150" dirty="0">
                          <a:solidFill>
                            <a:srgbClr val="44506B"/>
                          </a:solidFill>
                          <a:latin typeface="Calibri" pitchFamily="34" charset="0"/>
                          <a:ea typeface="Calibri" pitchFamily="34" charset="-122"/>
                          <a:cs typeface="Calibri" pitchFamily="34" charset="-120"/>
                        </a:rPr>
                        <a:t>10.59</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FFFFFF"/>
                    </a:solidFill>
                  </a:tcPr>
                </a:tc>
                <a:tc>
                  <a:txBody>
                    <a:bodyPr/>
                    <a:lstStyle/>
                    <a:p>
                      <a:pPr indent="0" marL="0">
                        <a:buNone/>
                      </a:pPr>
                      <a:r>
                        <a:rPr lang="en-US" sz="1150" dirty="0">
                          <a:solidFill>
                            <a:srgbClr val="44506B"/>
                          </a:solidFill>
                          <a:latin typeface="Calibri" pitchFamily="34" charset="0"/>
                          <a:ea typeface="Calibri" pitchFamily="34" charset="-122"/>
                          <a:cs typeface="Calibri" pitchFamily="34" charset="-120"/>
                        </a:rPr>
                        <a:t>27.50%</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FFFFFF"/>
                    </a:solidFill>
                  </a:tcPr>
                </a:tc>
                <a:tc>
                  <a:txBody>
                    <a:bodyPr/>
                    <a:lstStyle/>
                    <a:p>
                      <a:pPr indent="0" marL="0">
                        <a:buNone/>
                      </a:pPr>
                      <a:r>
                        <a:rPr lang="en-US" sz="1150" dirty="0">
                          <a:solidFill>
                            <a:srgbClr val="44506B"/>
                          </a:solidFill>
                          <a:latin typeface="Calibri" pitchFamily="34" charset="0"/>
                          <a:ea typeface="Calibri" pitchFamily="34" charset="-122"/>
                          <a:cs typeface="Calibri" pitchFamily="34" charset="-120"/>
                        </a:rPr>
                        <a:t>2,318</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FFFFFF"/>
                    </a:solidFill>
                  </a:tcPr>
                </a:tc>
              </a:tr>
              <a:tr h="484632">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East</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EEF3FC"/>
                    </a:solidFill>
                  </a:tcPr>
                </a:tc>
                <a:tc>
                  <a:txBody>
                    <a:bodyPr/>
                    <a:lstStyle/>
                    <a:p>
                      <a:pPr indent="0" marL="0">
                        <a:buNone/>
                      </a:pPr>
                      <a:r>
                        <a:rPr lang="en-US" sz="1150" dirty="0">
                          <a:solidFill>
                            <a:srgbClr val="44506B"/>
                          </a:solidFill>
                          <a:latin typeface="Calibri" pitchFamily="34" charset="0"/>
                          <a:ea typeface="Calibri" pitchFamily="34" charset="-122"/>
                          <a:cs typeface="Calibri" pitchFamily="34" charset="-120"/>
                        </a:rPr>
                        <a:t>21.98</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EEF3FC"/>
                    </a:solidFill>
                  </a:tcPr>
                </a:tc>
                <a:tc>
                  <a:txBody>
                    <a:bodyPr/>
                    <a:lstStyle/>
                    <a:p>
                      <a:pPr indent="0" marL="0">
                        <a:buNone/>
                      </a:pPr>
                      <a:r>
                        <a:rPr lang="en-US" sz="1150" dirty="0">
                          <a:solidFill>
                            <a:srgbClr val="44506B"/>
                          </a:solidFill>
                          <a:latin typeface="Calibri" pitchFamily="34" charset="0"/>
                          <a:ea typeface="Calibri" pitchFamily="34" charset="-122"/>
                          <a:cs typeface="Calibri" pitchFamily="34" charset="-120"/>
                        </a:rPr>
                        <a:t>5.89</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EEF3FC"/>
                    </a:solidFill>
                  </a:tcPr>
                </a:tc>
                <a:tc>
                  <a:txBody>
                    <a:bodyPr/>
                    <a:lstStyle/>
                    <a:p>
                      <a:pPr indent="0" marL="0">
                        <a:buNone/>
                      </a:pPr>
                      <a:r>
                        <a:rPr lang="en-US" sz="1150" dirty="0">
                          <a:solidFill>
                            <a:srgbClr val="44506B"/>
                          </a:solidFill>
                          <a:latin typeface="Calibri" pitchFamily="34" charset="0"/>
                          <a:ea typeface="Calibri" pitchFamily="34" charset="-122"/>
                          <a:cs typeface="Calibri" pitchFamily="34" charset="-120"/>
                        </a:rPr>
                        <a:t>26.82%</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EEF3FC"/>
                    </a:solidFill>
                  </a:tcPr>
                </a:tc>
                <a:tc>
                  <a:txBody>
                    <a:bodyPr/>
                    <a:lstStyle/>
                    <a:p>
                      <a:pPr indent="0" marL="0">
                        <a:buNone/>
                      </a:pPr>
                      <a:r>
                        <a:rPr lang="en-US" sz="1150" dirty="0">
                          <a:solidFill>
                            <a:srgbClr val="44506B"/>
                          </a:solidFill>
                          <a:latin typeface="Calibri" pitchFamily="34" charset="0"/>
                          <a:ea typeface="Calibri" pitchFamily="34" charset="-122"/>
                          <a:cs typeface="Calibri" pitchFamily="34" charset="-120"/>
                        </a:rPr>
                        <a:t>1,253</a:t>
                      </a:r>
                      <a:endParaRPr lang="en-US" sz="1150" dirty="0">
                        <a:latin typeface="Calibri" charset="0"/>
                        <a:ea typeface="Calibri" charset="0"/>
                        <a:cs typeface="Calibri" charset="0"/>
                      </a:endParaRPr>
                    </a:p>
                  </a:txBody>
                  <a:tcPr marL="91440" marR="91440" marT="45720" marB="45720" anchor="ctr">
                    <a:lnL w="9525" cap="flat" cmpd="sng" algn="ctr">
                      <a:solidFill>
                        <a:srgbClr val="DCE3F2"/>
                      </a:solidFill>
                      <a:prstDash val="solid"/>
                      <a:round/>
                      <a:headEnd type="none" w="med" len="med"/>
                      <a:tailEnd type="none" w="med" len="med"/>
                    </a:lnL>
                    <a:lnR w="9525" cap="flat" cmpd="sng" algn="ctr">
                      <a:solidFill>
                        <a:srgbClr val="DCE3F2"/>
                      </a:solidFill>
                      <a:prstDash val="solid"/>
                      <a:round/>
                      <a:headEnd type="none" w="med" len="med"/>
                      <a:tailEnd type="none" w="med" len="med"/>
                    </a:lnR>
                    <a:lnT w="9525" cap="flat" cmpd="sng" algn="ctr">
                      <a:solidFill>
                        <a:srgbClr val="DCE3F2"/>
                      </a:solidFill>
                      <a:prstDash val="solid"/>
                      <a:round/>
                      <a:headEnd type="none" w="med" len="med"/>
                      <a:tailEnd type="none" w="med" len="med"/>
                    </a:lnT>
                    <a:lnB w="9525" cap="flat" cmpd="sng" algn="ctr">
                      <a:solidFill>
                        <a:srgbClr val="DCE3F2"/>
                      </a:solidFill>
                      <a:prstDash val="solid"/>
                      <a:round/>
                      <a:headEnd type="none" w="med" len="med"/>
                      <a:tailEnd type="none" w="med" len="med"/>
                    </a:lnB>
                    <a:solidFill>
                      <a:srgbClr val="EEF3FC"/>
                    </a:solidFill>
                  </a:tcPr>
                </a:tc>
              </a:tr>
            </a:tbl>
          </a:graphicData>
        </a:graphic>
      </p:graphicFrame>
      <p:graphicFrame>
        <p:nvGraphicFramePr>
          <p:cNvPr id="5" name="Chart 0" descr=""/>
          <p:cNvGraphicFramePr/>
          <p:nvPr/>
        </p:nvGraphicFramePr>
        <p:xfrm>
          <a:off x="6355080" y="1417320"/>
          <a:ext cx="5394960" cy="246888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457200" y="4160520"/>
            <a:ext cx="11274552" cy="960120"/>
          </a:xfrm>
          <a:prstGeom prst="roundRect">
            <a:avLst>
              <a:gd name="adj" fmla="val 7619"/>
            </a:avLst>
          </a:prstGeom>
          <a:solidFill>
            <a:srgbClr val="1E2761"/>
          </a:solidFill>
          <a:ln/>
        </p:spPr>
      </p:sp>
      <p:sp>
        <p:nvSpPr>
          <p:cNvPr id="7" name="Text 3"/>
          <p:cNvSpPr/>
          <p:nvPr/>
        </p:nvSpPr>
        <p:spPr>
          <a:xfrm>
            <a:off x="731520" y="4160520"/>
            <a:ext cx="10725912" cy="960120"/>
          </a:xfrm>
          <a:prstGeom prst="rect">
            <a:avLst/>
          </a:prstGeom>
          <a:noFill/>
          <a:ln/>
        </p:spPr>
        <p:txBody>
          <a:bodyPr wrap="square" lIns="0" tIns="0" rIns="0" bIns="0" rtlCol="0" anchor="ctr"/>
          <a:lstStyle/>
          <a:p>
            <a:pPr algn="l" indent="0" marL="0">
              <a:lnSpc>
                <a:spcPct val="115000"/>
              </a:lnSpc>
              <a:buNone/>
            </a:pPr>
            <a:r>
              <a:rPr lang="en-US" sz="1500" b="1" i="1" dirty="0">
                <a:solidFill>
                  <a:srgbClr val="D99B2B"/>
                </a:solidFill>
                <a:latin typeface="Calibri" pitchFamily="34" charset="0"/>
                <a:ea typeface="Calibri" pitchFamily="34" charset="-122"/>
                <a:cs typeface="Calibri" pitchFamily="34" charset="-120"/>
              </a:rPr>
              <a:t>INSIGHT  </a:t>
            </a:r>
            <a:pPr algn="l" indent="0" marL="0">
              <a:lnSpc>
                <a:spcPct val="115000"/>
              </a:lnSpc>
              <a:buNone/>
            </a:pPr>
            <a:r>
              <a:rPr lang="en-US" sz="1500" i="1" dirty="0">
                <a:solidFill>
                  <a:srgbClr val="FFFFFF"/>
                </a:solidFill>
                <a:latin typeface="Calibri" pitchFamily="34" charset="0"/>
                <a:ea typeface="Calibri" pitchFamily="34" charset="-122"/>
                <a:cs typeface="Calibri" pitchFamily="34" charset="-120"/>
              </a:rPr>
              <a:t>South provides scale; West provides a margin-efficiency benchmark.</a:t>
            </a:r>
            <a:endParaRPr lang="en-US" sz="1500" dirty="0"/>
          </a:p>
        </p:txBody>
      </p:sp>
      <p:sp>
        <p:nvSpPr>
          <p:cNvPr id="8" name="Text 4"/>
          <p:cNvSpPr/>
          <p:nvPr/>
        </p:nvSpPr>
        <p:spPr>
          <a:xfrm>
            <a:off x="457200" y="5349240"/>
            <a:ext cx="11274552"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South </a:t>
            </a:r>
            <a:pPr indent="0" marL="0">
              <a:buNone/>
            </a:pPr>
            <a:r>
              <a:rPr lang="en-US" sz="1200" dirty="0">
                <a:solidFill>
                  <a:srgbClr val="44506B"/>
                </a:solidFill>
                <a:latin typeface="Calibri" pitchFamily="34" charset="0"/>
                <a:ea typeface="Calibri" pitchFamily="34" charset="-122"/>
                <a:cs typeface="Calibri" pitchFamily="34" charset="-120"/>
              </a:rPr>
              <a:t>= largest revenue and gross-profit contributor.     </a:t>
            </a:r>
            <a:pPr indent="0" marL="0">
              <a:buNone/>
            </a:pPr>
            <a:r>
              <a:rPr lang="en-US" sz="1200" b="1" dirty="0">
                <a:solidFill>
                  <a:srgbClr val="1E2761"/>
                </a:solidFill>
                <a:latin typeface="Calibri" pitchFamily="34" charset="0"/>
                <a:ea typeface="Calibri" pitchFamily="34" charset="-122"/>
                <a:cs typeface="Calibri" pitchFamily="34" charset="-120"/>
              </a:rPr>
              <a:t>West </a:t>
            </a:r>
            <a:pPr indent="0" marL="0">
              <a:buNone/>
            </a:pPr>
            <a:r>
              <a:rPr lang="en-US" sz="1200" dirty="0">
                <a:solidFill>
                  <a:srgbClr val="44506B"/>
                </a:solidFill>
                <a:latin typeface="Calibri" pitchFamily="34" charset="0"/>
                <a:ea typeface="Calibri" pitchFamily="34" charset="-122"/>
                <a:cs typeface="Calibri" pitchFamily="34" charset="-120"/>
              </a:rPr>
              <a:t>= highest gross margin at 27.50%.</a:t>
            </a:r>
            <a:endParaRPr lang="en-US" sz="1200" dirty="0"/>
          </a:p>
        </p:txBody>
      </p:sp>
      <p:sp>
        <p:nvSpPr>
          <p:cNvPr id="9" name="Text 5"/>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850" dirty="0">
                <a:solidFill>
                  <a:srgbClr val="5B6785"/>
                </a:solidFill>
                <a:latin typeface="Calibri" pitchFamily="34" charset="0"/>
                <a:ea typeface="Calibri" pitchFamily="34" charset="-122"/>
                <a:cs typeface="Calibri" pitchFamily="34" charset="-120"/>
              </a:rPr>
              <a:t>NexaMart Customer Profitability &amp; Revenue Intelligence</a:t>
            </a:r>
            <a:endParaRPr lang="en-US" sz="850" dirty="0"/>
          </a:p>
        </p:txBody>
      </p:sp>
      <p:sp>
        <p:nvSpPr>
          <p:cNvPr id="10" name="Text 6"/>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850" dirty="0">
                <a:solidFill>
                  <a:srgbClr val="5B6785"/>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indent="0" marL="0">
              <a:buNone/>
            </a:pPr>
            <a:r>
              <a:rPr lang="en-US" sz="1150" b="1" spc="200" kern="0" dirty="0">
                <a:solidFill>
                  <a:srgbClr val="D99B2B"/>
                </a:solidFill>
                <a:latin typeface="Calibri" pitchFamily="34" charset="0"/>
                <a:ea typeface="Calibri" pitchFamily="34" charset="-122"/>
                <a:cs typeface="Calibri" pitchFamily="34" charset="-120"/>
              </a:rPr>
              <a:t>CHANNEL PERFORMANCE</a:t>
            </a:r>
            <a:endParaRPr lang="en-US" sz="1150" dirty="0"/>
          </a:p>
        </p:txBody>
      </p:sp>
      <p:sp>
        <p:nvSpPr>
          <p:cNvPr id="3" name="Text 1"/>
          <p:cNvSpPr/>
          <p:nvPr/>
        </p:nvSpPr>
        <p:spPr>
          <a:xfrm>
            <a:off x="457200" y="56692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Sales Channel Performance</a:t>
            </a:r>
            <a:endParaRPr lang="en-US" sz="3000" dirty="0"/>
          </a:p>
        </p:txBody>
      </p:sp>
      <p:sp>
        <p:nvSpPr>
          <p:cNvPr id="4" name="Shape 2"/>
          <p:cNvSpPr/>
          <p:nvPr/>
        </p:nvSpPr>
        <p:spPr>
          <a:xfrm>
            <a:off x="470916" y="1417320"/>
            <a:ext cx="5440680" cy="3017520"/>
          </a:xfrm>
          <a:prstGeom prst="roundRect">
            <a:avLst>
              <a:gd name="adj" fmla="val 3030"/>
            </a:avLst>
          </a:prstGeom>
          <a:solidFill>
            <a:srgbClr val="FFFFFF"/>
          </a:solidFill>
          <a:ln w="15875">
            <a:solidFill>
              <a:srgbClr val="DCE3F2"/>
            </a:solidFill>
            <a:prstDash val="solid"/>
          </a:ln>
          <a:effectLst>
            <a:outerShdw sx="100000" sy="100000" kx="0" ky="0" algn="bl" rotWithShape="0" blurRad="101600" dist="38100" dir="5400000">
              <a:srgbClr val="1E2761">
                <a:alpha val="12000"/>
              </a:srgbClr>
            </a:outerShdw>
          </a:effectLst>
        </p:spPr>
      </p:sp>
      <p:sp>
        <p:nvSpPr>
          <p:cNvPr id="5" name="Text 3"/>
          <p:cNvSpPr/>
          <p:nvPr/>
        </p:nvSpPr>
        <p:spPr>
          <a:xfrm>
            <a:off x="790956" y="1645920"/>
            <a:ext cx="480060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STORE</a:t>
            </a:r>
            <a:endParaRPr lang="en-US" sz="1900" dirty="0"/>
          </a:p>
        </p:txBody>
      </p:sp>
      <p:sp>
        <p:nvSpPr>
          <p:cNvPr id="6" name="Shape 4"/>
          <p:cNvSpPr/>
          <p:nvPr/>
        </p:nvSpPr>
        <p:spPr>
          <a:xfrm>
            <a:off x="790956" y="2084832"/>
            <a:ext cx="2103120" cy="365760"/>
          </a:xfrm>
          <a:prstGeom prst="roundRect">
            <a:avLst>
              <a:gd name="adj" fmla="val 50000"/>
            </a:avLst>
          </a:prstGeom>
          <a:solidFill>
            <a:srgbClr val="EEF3FC"/>
          </a:solidFill>
          <a:ln/>
        </p:spPr>
      </p:sp>
      <p:sp>
        <p:nvSpPr>
          <p:cNvPr id="7" name="Text 5"/>
          <p:cNvSpPr/>
          <p:nvPr/>
        </p:nvSpPr>
        <p:spPr>
          <a:xfrm>
            <a:off x="790956" y="2084832"/>
            <a:ext cx="2103120" cy="3657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Leads in Scale</a:t>
            </a:r>
            <a:endParaRPr lang="en-US" sz="1050" dirty="0"/>
          </a:p>
        </p:txBody>
      </p:sp>
      <p:sp>
        <p:nvSpPr>
          <p:cNvPr id="8" name="Text 6"/>
          <p:cNvSpPr/>
          <p:nvPr/>
        </p:nvSpPr>
        <p:spPr>
          <a:xfrm>
            <a:off x="790956" y="2697480"/>
            <a:ext cx="2377440" cy="365760"/>
          </a:xfrm>
          <a:prstGeom prst="rect">
            <a:avLst/>
          </a:prstGeom>
          <a:noFill/>
          <a:ln/>
        </p:spPr>
        <p:txBody>
          <a:bodyPr wrap="square" lIns="0" tIns="0" rIns="0" bIns="0" rtlCol="0" anchor="ctr"/>
          <a:lstStyle/>
          <a:p>
            <a:pPr indent="0" marL="0">
              <a:buNone/>
            </a:pPr>
            <a:r>
              <a:rPr lang="en-US" sz="1200" dirty="0">
                <a:solidFill>
                  <a:srgbClr val="5B6785"/>
                </a:solidFill>
                <a:latin typeface="Calibri" pitchFamily="34" charset="0"/>
                <a:ea typeface="Calibri" pitchFamily="34" charset="-122"/>
                <a:cs typeface="Calibri" pitchFamily="34" charset="-120"/>
              </a:rPr>
              <a:t>Revenue</a:t>
            </a:r>
            <a:endParaRPr lang="en-US" sz="1200" dirty="0"/>
          </a:p>
        </p:txBody>
      </p:sp>
      <p:sp>
        <p:nvSpPr>
          <p:cNvPr id="9" name="Text 7"/>
          <p:cNvSpPr/>
          <p:nvPr/>
        </p:nvSpPr>
        <p:spPr>
          <a:xfrm>
            <a:off x="3305556" y="2697480"/>
            <a:ext cx="2286000" cy="365760"/>
          </a:xfrm>
          <a:prstGeom prst="rect">
            <a:avLst/>
          </a:prstGeom>
          <a:noFill/>
          <a:ln/>
        </p:spPr>
        <p:txBody>
          <a:bodyPr wrap="square" lIns="0" tIns="0" rIns="0" bIns="0" rtlCol="0" anchor="ctr"/>
          <a:lstStyle/>
          <a:p>
            <a:pPr algn="r" indent="0" marL="0">
              <a:buNone/>
            </a:pPr>
            <a:r>
              <a:rPr lang="en-US" sz="1500" b="1" dirty="0">
                <a:solidFill>
                  <a:srgbClr val="1E2761"/>
                </a:solidFill>
                <a:latin typeface="Cambria" pitchFamily="34" charset="0"/>
                <a:ea typeface="Cambria" pitchFamily="34" charset="-122"/>
                <a:cs typeface="Cambria" pitchFamily="34" charset="-120"/>
              </a:rPr>
              <a:t>₹92.33M</a:t>
            </a:r>
            <a:endParaRPr lang="en-US" sz="1500" dirty="0"/>
          </a:p>
        </p:txBody>
      </p:sp>
      <p:sp>
        <p:nvSpPr>
          <p:cNvPr id="10" name="Text 8"/>
          <p:cNvSpPr/>
          <p:nvPr/>
        </p:nvSpPr>
        <p:spPr>
          <a:xfrm>
            <a:off x="790956" y="3154680"/>
            <a:ext cx="2377440" cy="365760"/>
          </a:xfrm>
          <a:prstGeom prst="rect">
            <a:avLst/>
          </a:prstGeom>
          <a:noFill/>
          <a:ln/>
        </p:spPr>
        <p:txBody>
          <a:bodyPr wrap="square" lIns="0" tIns="0" rIns="0" bIns="0" rtlCol="0" anchor="ctr"/>
          <a:lstStyle/>
          <a:p>
            <a:pPr indent="0" marL="0">
              <a:buNone/>
            </a:pPr>
            <a:r>
              <a:rPr lang="en-US" sz="1200" dirty="0">
                <a:solidFill>
                  <a:srgbClr val="5B6785"/>
                </a:solidFill>
                <a:latin typeface="Calibri" pitchFamily="34" charset="0"/>
                <a:ea typeface="Calibri" pitchFamily="34" charset="-122"/>
                <a:cs typeface="Calibri" pitchFamily="34" charset="-120"/>
              </a:rPr>
              <a:t>Gross Profit</a:t>
            </a:r>
            <a:endParaRPr lang="en-US" sz="1200" dirty="0"/>
          </a:p>
        </p:txBody>
      </p:sp>
      <p:sp>
        <p:nvSpPr>
          <p:cNvPr id="11" name="Text 9"/>
          <p:cNvSpPr/>
          <p:nvPr/>
        </p:nvSpPr>
        <p:spPr>
          <a:xfrm>
            <a:off x="3305556" y="3154680"/>
            <a:ext cx="2286000" cy="365760"/>
          </a:xfrm>
          <a:prstGeom prst="rect">
            <a:avLst/>
          </a:prstGeom>
          <a:noFill/>
          <a:ln/>
        </p:spPr>
        <p:txBody>
          <a:bodyPr wrap="square" lIns="0" tIns="0" rIns="0" bIns="0" rtlCol="0" anchor="ctr"/>
          <a:lstStyle/>
          <a:p>
            <a:pPr algn="r" indent="0" marL="0">
              <a:buNone/>
            </a:pPr>
            <a:r>
              <a:rPr lang="en-US" sz="1500" b="1" dirty="0">
                <a:solidFill>
                  <a:srgbClr val="1E2761"/>
                </a:solidFill>
                <a:latin typeface="Cambria" pitchFamily="34" charset="0"/>
                <a:ea typeface="Cambria" pitchFamily="34" charset="-122"/>
                <a:cs typeface="Cambria" pitchFamily="34" charset="-120"/>
              </a:rPr>
              <a:t>₹24.36M</a:t>
            </a:r>
            <a:endParaRPr lang="en-US" sz="1500" dirty="0"/>
          </a:p>
        </p:txBody>
      </p:sp>
      <p:sp>
        <p:nvSpPr>
          <p:cNvPr id="12" name="Text 10"/>
          <p:cNvSpPr/>
          <p:nvPr/>
        </p:nvSpPr>
        <p:spPr>
          <a:xfrm>
            <a:off x="790956" y="3611880"/>
            <a:ext cx="2377440" cy="365760"/>
          </a:xfrm>
          <a:prstGeom prst="rect">
            <a:avLst/>
          </a:prstGeom>
          <a:noFill/>
          <a:ln/>
        </p:spPr>
        <p:txBody>
          <a:bodyPr wrap="square" lIns="0" tIns="0" rIns="0" bIns="0" rtlCol="0" anchor="ctr"/>
          <a:lstStyle/>
          <a:p>
            <a:pPr indent="0" marL="0">
              <a:buNone/>
            </a:pPr>
            <a:r>
              <a:rPr lang="en-US" sz="1200" dirty="0">
                <a:solidFill>
                  <a:srgbClr val="5B6785"/>
                </a:solidFill>
                <a:latin typeface="Calibri" pitchFamily="34" charset="0"/>
                <a:ea typeface="Calibri" pitchFamily="34" charset="-122"/>
                <a:cs typeface="Calibri" pitchFamily="34" charset="-120"/>
              </a:rPr>
              <a:t>Gross Margin</a:t>
            </a:r>
            <a:endParaRPr lang="en-US" sz="1200" dirty="0"/>
          </a:p>
        </p:txBody>
      </p:sp>
      <p:sp>
        <p:nvSpPr>
          <p:cNvPr id="13" name="Text 11"/>
          <p:cNvSpPr/>
          <p:nvPr/>
        </p:nvSpPr>
        <p:spPr>
          <a:xfrm>
            <a:off x="3305556" y="3611880"/>
            <a:ext cx="2286000" cy="365760"/>
          </a:xfrm>
          <a:prstGeom prst="rect">
            <a:avLst/>
          </a:prstGeom>
          <a:noFill/>
          <a:ln/>
        </p:spPr>
        <p:txBody>
          <a:bodyPr wrap="square" lIns="0" tIns="0" rIns="0" bIns="0" rtlCol="0" anchor="ctr"/>
          <a:lstStyle/>
          <a:p>
            <a:pPr algn="r" indent="0" marL="0">
              <a:buNone/>
            </a:pPr>
            <a:r>
              <a:rPr lang="en-US" sz="1500" b="1" dirty="0">
                <a:solidFill>
                  <a:srgbClr val="1E2761"/>
                </a:solidFill>
                <a:latin typeface="Cambria" pitchFamily="34" charset="0"/>
                <a:ea typeface="Cambria" pitchFamily="34" charset="-122"/>
                <a:cs typeface="Cambria" pitchFamily="34" charset="-120"/>
              </a:rPr>
              <a:t>26.39%</a:t>
            </a:r>
            <a:endParaRPr lang="en-US" sz="1500" dirty="0"/>
          </a:p>
        </p:txBody>
      </p:sp>
      <p:sp>
        <p:nvSpPr>
          <p:cNvPr id="14" name="Text 12"/>
          <p:cNvSpPr/>
          <p:nvPr/>
        </p:nvSpPr>
        <p:spPr>
          <a:xfrm>
            <a:off x="790956" y="4069080"/>
            <a:ext cx="2377440" cy="365760"/>
          </a:xfrm>
          <a:prstGeom prst="rect">
            <a:avLst/>
          </a:prstGeom>
          <a:noFill/>
          <a:ln/>
        </p:spPr>
        <p:txBody>
          <a:bodyPr wrap="square" lIns="0" tIns="0" rIns="0" bIns="0" rtlCol="0" anchor="ctr"/>
          <a:lstStyle/>
          <a:p>
            <a:pPr indent="0" marL="0">
              <a:buNone/>
            </a:pPr>
            <a:r>
              <a:rPr lang="en-US" sz="1200" dirty="0">
                <a:solidFill>
                  <a:srgbClr val="5B6785"/>
                </a:solidFill>
                <a:latin typeface="Calibri" pitchFamily="34" charset="0"/>
                <a:ea typeface="Calibri" pitchFamily="34" charset="-122"/>
                <a:cs typeface="Calibri" pitchFamily="34" charset="-120"/>
              </a:rPr>
              <a:t>Orders</a:t>
            </a:r>
            <a:endParaRPr lang="en-US" sz="1200" dirty="0"/>
          </a:p>
        </p:txBody>
      </p:sp>
      <p:sp>
        <p:nvSpPr>
          <p:cNvPr id="15" name="Text 13"/>
          <p:cNvSpPr/>
          <p:nvPr/>
        </p:nvSpPr>
        <p:spPr>
          <a:xfrm>
            <a:off x="3305556" y="4069080"/>
            <a:ext cx="2286000" cy="365760"/>
          </a:xfrm>
          <a:prstGeom prst="rect">
            <a:avLst/>
          </a:prstGeom>
          <a:noFill/>
          <a:ln/>
        </p:spPr>
        <p:txBody>
          <a:bodyPr wrap="square" lIns="0" tIns="0" rIns="0" bIns="0" rtlCol="0" anchor="ctr"/>
          <a:lstStyle/>
          <a:p>
            <a:pPr algn="r" indent="0" marL="0">
              <a:buNone/>
            </a:pPr>
            <a:r>
              <a:rPr lang="en-US" sz="1500" b="1" dirty="0">
                <a:solidFill>
                  <a:srgbClr val="1E2761"/>
                </a:solidFill>
                <a:latin typeface="Cambria" pitchFamily="34" charset="0"/>
                <a:ea typeface="Cambria" pitchFamily="34" charset="-122"/>
                <a:cs typeface="Cambria" pitchFamily="34" charset="-120"/>
              </a:rPr>
              <a:t>4,564</a:t>
            </a:r>
            <a:endParaRPr lang="en-US" sz="1500" dirty="0"/>
          </a:p>
        </p:txBody>
      </p:sp>
      <p:sp>
        <p:nvSpPr>
          <p:cNvPr id="16" name="Shape 14"/>
          <p:cNvSpPr/>
          <p:nvPr/>
        </p:nvSpPr>
        <p:spPr>
          <a:xfrm>
            <a:off x="6277356" y="1417320"/>
            <a:ext cx="5440680" cy="3017520"/>
          </a:xfrm>
          <a:prstGeom prst="roundRect">
            <a:avLst>
              <a:gd name="adj" fmla="val 3030"/>
            </a:avLst>
          </a:prstGeom>
          <a:solidFill>
            <a:srgbClr val="1E2761"/>
          </a:solidFill>
          <a:ln w="15875">
            <a:solidFill>
              <a:srgbClr val="1E2761"/>
            </a:solidFill>
            <a:prstDash val="solid"/>
          </a:ln>
          <a:effectLst>
            <a:outerShdw sx="100000" sy="100000" kx="0" ky="0" algn="bl" rotWithShape="0" blurRad="101600" dist="38100" dir="5400000">
              <a:srgbClr val="1E2761">
                <a:alpha val="12000"/>
              </a:srgbClr>
            </a:outerShdw>
          </a:effectLst>
        </p:spPr>
      </p:sp>
      <p:sp>
        <p:nvSpPr>
          <p:cNvPr id="17" name="Text 15"/>
          <p:cNvSpPr/>
          <p:nvPr/>
        </p:nvSpPr>
        <p:spPr>
          <a:xfrm>
            <a:off x="6597396" y="1645920"/>
            <a:ext cx="480060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ONLINE</a:t>
            </a:r>
            <a:endParaRPr lang="en-US" sz="1900" dirty="0"/>
          </a:p>
        </p:txBody>
      </p:sp>
      <p:sp>
        <p:nvSpPr>
          <p:cNvPr id="18" name="Shape 16"/>
          <p:cNvSpPr/>
          <p:nvPr/>
        </p:nvSpPr>
        <p:spPr>
          <a:xfrm>
            <a:off x="6597396" y="2084832"/>
            <a:ext cx="2103120" cy="365760"/>
          </a:xfrm>
          <a:prstGeom prst="roundRect">
            <a:avLst>
              <a:gd name="adj" fmla="val 50000"/>
            </a:avLst>
          </a:prstGeom>
          <a:solidFill>
            <a:srgbClr val="D99B2B"/>
          </a:solidFill>
          <a:ln/>
        </p:spPr>
      </p:sp>
      <p:sp>
        <p:nvSpPr>
          <p:cNvPr id="19" name="Text 17"/>
          <p:cNvSpPr/>
          <p:nvPr/>
        </p:nvSpPr>
        <p:spPr>
          <a:xfrm>
            <a:off x="6597396" y="2084832"/>
            <a:ext cx="2103120" cy="365760"/>
          </a:xfrm>
          <a:prstGeom prst="rect">
            <a:avLst/>
          </a:prstGeom>
          <a:noFill/>
          <a:ln/>
        </p:spPr>
        <p:txBody>
          <a:bodyPr wrap="square" lIns="0" tIns="0" rIns="0" bIns="0" rtlCol="0" anchor="ctr"/>
          <a:lstStyle/>
          <a:p>
            <a:pPr algn="ctr" indent="0" marL="0">
              <a:buNone/>
            </a:pPr>
            <a:r>
              <a:rPr lang="en-US" sz="1050" b="1" dirty="0">
                <a:solidFill>
                  <a:srgbClr val="3B2B00"/>
                </a:solidFill>
                <a:latin typeface="Calibri" pitchFamily="34" charset="0"/>
                <a:ea typeface="Calibri" pitchFamily="34" charset="-122"/>
                <a:cs typeface="Calibri" pitchFamily="34" charset="-120"/>
              </a:rPr>
              <a:t>Leads in Efficiency</a:t>
            </a:r>
            <a:endParaRPr lang="en-US" sz="1050" dirty="0"/>
          </a:p>
        </p:txBody>
      </p:sp>
      <p:sp>
        <p:nvSpPr>
          <p:cNvPr id="20" name="Text 18"/>
          <p:cNvSpPr/>
          <p:nvPr/>
        </p:nvSpPr>
        <p:spPr>
          <a:xfrm>
            <a:off x="6597396" y="2697480"/>
            <a:ext cx="237744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Revenue</a:t>
            </a:r>
            <a:endParaRPr lang="en-US" sz="1200" dirty="0"/>
          </a:p>
        </p:txBody>
      </p:sp>
      <p:sp>
        <p:nvSpPr>
          <p:cNvPr id="21" name="Text 19"/>
          <p:cNvSpPr/>
          <p:nvPr/>
        </p:nvSpPr>
        <p:spPr>
          <a:xfrm>
            <a:off x="9111996" y="2697480"/>
            <a:ext cx="2286000" cy="365760"/>
          </a:xfrm>
          <a:prstGeom prst="rect">
            <a:avLst/>
          </a:prstGeom>
          <a:noFill/>
          <a:ln/>
        </p:spPr>
        <p:txBody>
          <a:bodyPr wrap="square" lIns="0" tIns="0" rIns="0" bIns="0" rtlCol="0" anchor="ctr"/>
          <a:lstStyle/>
          <a:p>
            <a:pPr algn="r" indent="0" marL="0">
              <a:buNone/>
            </a:pPr>
            <a:r>
              <a:rPr lang="en-US" sz="1500" b="1" dirty="0">
                <a:solidFill>
                  <a:srgbClr val="FFFFFF"/>
                </a:solidFill>
                <a:latin typeface="Cambria" pitchFamily="34" charset="0"/>
                <a:ea typeface="Cambria" pitchFamily="34" charset="-122"/>
                <a:cs typeface="Cambria" pitchFamily="34" charset="-120"/>
              </a:rPr>
              <a:t>₹82.06M</a:t>
            </a:r>
            <a:endParaRPr lang="en-US" sz="1500" dirty="0"/>
          </a:p>
        </p:txBody>
      </p:sp>
      <p:sp>
        <p:nvSpPr>
          <p:cNvPr id="22" name="Text 20"/>
          <p:cNvSpPr/>
          <p:nvPr/>
        </p:nvSpPr>
        <p:spPr>
          <a:xfrm>
            <a:off x="6597396" y="3154680"/>
            <a:ext cx="237744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Gross Profit</a:t>
            </a:r>
            <a:endParaRPr lang="en-US" sz="1200" dirty="0"/>
          </a:p>
        </p:txBody>
      </p:sp>
      <p:sp>
        <p:nvSpPr>
          <p:cNvPr id="23" name="Text 21"/>
          <p:cNvSpPr/>
          <p:nvPr/>
        </p:nvSpPr>
        <p:spPr>
          <a:xfrm>
            <a:off x="9111996" y="3154680"/>
            <a:ext cx="2286000" cy="365760"/>
          </a:xfrm>
          <a:prstGeom prst="rect">
            <a:avLst/>
          </a:prstGeom>
          <a:noFill/>
          <a:ln/>
        </p:spPr>
        <p:txBody>
          <a:bodyPr wrap="square" lIns="0" tIns="0" rIns="0" bIns="0" rtlCol="0" anchor="ctr"/>
          <a:lstStyle/>
          <a:p>
            <a:pPr algn="r" indent="0" marL="0">
              <a:buNone/>
            </a:pPr>
            <a:r>
              <a:rPr lang="en-US" sz="1500" b="1" dirty="0">
                <a:solidFill>
                  <a:srgbClr val="FFFFFF"/>
                </a:solidFill>
                <a:latin typeface="Cambria" pitchFamily="34" charset="0"/>
                <a:ea typeface="Cambria" pitchFamily="34" charset="-122"/>
                <a:cs typeface="Cambria" pitchFamily="34" charset="-120"/>
              </a:rPr>
              <a:t>₹22.56M</a:t>
            </a:r>
            <a:endParaRPr lang="en-US" sz="1500" dirty="0"/>
          </a:p>
        </p:txBody>
      </p:sp>
      <p:sp>
        <p:nvSpPr>
          <p:cNvPr id="24" name="Text 22"/>
          <p:cNvSpPr/>
          <p:nvPr/>
        </p:nvSpPr>
        <p:spPr>
          <a:xfrm>
            <a:off x="6597396" y="3611880"/>
            <a:ext cx="237744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Gross Margin</a:t>
            </a:r>
            <a:endParaRPr lang="en-US" sz="1200" dirty="0"/>
          </a:p>
        </p:txBody>
      </p:sp>
      <p:sp>
        <p:nvSpPr>
          <p:cNvPr id="25" name="Text 23"/>
          <p:cNvSpPr/>
          <p:nvPr/>
        </p:nvSpPr>
        <p:spPr>
          <a:xfrm>
            <a:off x="9111996" y="3611880"/>
            <a:ext cx="2286000" cy="365760"/>
          </a:xfrm>
          <a:prstGeom prst="rect">
            <a:avLst/>
          </a:prstGeom>
          <a:noFill/>
          <a:ln/>
        </p:spPr>
        <p:txBody>
          <a:bodyPr wrap="square" lIns="0" tIns="0" rIns="0" bIns="0" rtlCol="0" anchor="ctr"/>
          <a:lstStyle/>
          <a:p>
            <a:pPr algn="r" indent="0" marL="0">
              <a:buNone/>
            </a:pPr>
            <a:r>
              <a:rPr lang="en-US" sz="1500" b="1" dirty="0">
                <a:solidFill>
                  <a:srgbClr val="FFFFFF"/>
                </a:solidFill>
                <a:latin typeface="Cambria" pitchFamily="34" charset="0"/>
                <a:ea typeface="Cambria" pitchFamily="34" charset="-122"/>
                <a:cs typeface="Cambria" pitchFamily="34" charset="-120"/>
              </a:rPr>
              <a:t>27.49%</a:t>
            </a:r>
            <a:endParaRPr lang="en-US" sz="1500" dirty="0"/>
          </a:p>
        </p:txBody>
      </p:sp>
      <p:sp>
        <p:nvSpPr>
          <p:cNvPr id="26" name="Text 24"/>
          <p:cNvSpPr/>
          <p:nvPr/>
        </p:nvSpPr>
        <p:spPr>
          <a:xfrm>
            <a:off x="6597396" y="4069080"/>
            <a:ext cx="237744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Orders</a:t>
            </a:r>
            <a:endParaRPr lang="en-US" sz="1200" dirty="0"/>
          </a:p>
        </p:txBody>
      </p:sp>
      <p:sp>
        <p:nvSpPr>
          <p:cNvPr id="27" name="Text 25"/>
          <p:cNvSpPr/>
          <p:nvPr/>
        </p:nvSpPr>
        <p:spPr>
          <a:xfrm>
            <a:off x="9111996" y="4069080"/>
            <a:ext cx="2286000" cy="365760"/>
          </a:xfrm>
          <a:prstGeom prst="rect">
            <a:avLst/>
          </a:prstGeom>
          <a:noFill/>
          <a:ln/>
        </p:spPr>
        <p:txBody>
          <a:bodyPr wrap="square" lIns="0" tIns="0" rIns="0" bIns="0" rtlCol="0" anchor="ctr"/>
          <a:lstStyle/>
          <a:p>
            <a:pPr algn="r" indent="0" marL="0">
              <a:buNone/>
            </a:pPr>
            <a:r>
              <a:rPr lang="en-US" sz="1500" b="1" dirty="0">
                <a:solidFill>
                  <a:srgbClr val="FFFFFF"/>
                </a:solidFill>
                <a:latin typeface="Cambria" pitchFamily="34" charset="0"/>
                <a:ea typeface="Cambria" pitchFamily="34" charset="-122"/>
                <a:cs typeface="Cambria" pitchFamily="34" charset="-120"/>
              </a:rPr>
              <a:t>5,436</a:t>
            </a:r>
            <a:endParaRPr lang="en-US" sz="1500" dirty="0"/>
          </a:p>
        </p:txBody>
      </p:sp>
      <p:sp>
        <p:nvSpPr>
          <p:cNvPr id="28" name="Shape 26"/>
          <p:cNvSpPr/>
          <p:nvPr/>
        </p:nvSpPr>
        <p:spPr>
          <a:xfrm>
            <a:off x="457200" y="4709160"/>
            <a:ext cx="11274552" cy="914400"/>
          </a:xfrm>
          <a:prstGeom prst="roundRect">
            <a:avLst>
              <a:gd name="adj" fmla="val 8000"/>
            </a:avLst>
          </a:prstGeom>
          <a:solidFill>
            <a:srgbClr val="1E2761"/>
          </a:solidFill>
          <a:ln/>
        </p:spPr>
      </p:sp>
      <p:sp>
        <p:nvSpPr>
          <p:cNvPr id="29" name="Text 27"/>
          <p:cNvSpPr/>
          <p:nvPr/>
        </p:nvSpPr>
        <p:spPr>
          <a:xfrm>
            <a:off x="731520" y="4709160"/>
            <a:ext cx="10725912" cy="914400"/>
          </a:xfrm>
          <a:prstGeom prst="rect">
            <a:avLst/>
          </a:prstGeom>
          <a:noFill/>
          <a:ln/>
        </p:spPr>
        <p:txBody>
          <a:bodyPr wrap="square" lIns="0" tIns="0" rIns="0" bIns="0" rtlCol="0" anchor="ctr"/>
          <a:lstStyle/>
          <a:p>
            <a:pPr algn="l" indent="0" marL="0">
              <a:lnSpc>
                <a:spcPct val="115000"/>
              </a:lnSpc>
              <a:buNone/>
            </a:pPr>
            <a:r>
              <a:rPr lang="en-US" sz="1350" b="1" i="1" dirty="0">
                <a:solidFill>
                  <a:srgbClr val="D99B2B"/>
                </a:solidFill>
                <a:latin typeface="Calibri" pitchFamily="34" charset="0"/>
                <a:ea typeface="Calibri" pitchFamily="34" charset="-122"/>
                <a:cs typeface="Calibri" pitchFamily="34" charset="-120"/>
              </a:rPr>
              <a:t>INSIGHT  </a:t>
            </a:r>
            <a:pPr algn="l" indent="0" marL="0">
              <a:lnSpc>
                <a:spcPct val="115000"/>
              </a:lnSpc>
              <a:buNone/>
            </a:pPr>
            <a:r>
              <a:rPr lang="en-US" sz="1350" i="1" dirty="0">
                <a:solidFill>
                  <a:srgbClr val="FFFFFF"/>
                </a:solidFill>
                <a:latin typeface="Calibri" pitchFamily="34" charset="0"/>
                <a:ea typeface="Calibri" pitchFamily="34" charset="-122"/>
                <a:cs typeface="Calibri" pitchFamily="34" charset="-120"/>
              </a:rPr>
              <a:t>Store leads in scale, while Online leads in efficiency and order volume — Online carries roughly 1.10 percentage points higher gross margin.</a:t>
            </a:r>
            <a:endParaRPr lang="en-US" sz="1350" dirty="0"/>
          </a:p>
        </p:txBody>
      </p:sp>
      <p:sp>
        <p:nvSpPr>
          <p:cNvPr id="30" name="Text 28"/>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850" dirty="0">
                <a:solidFill>
                  <a:srgbClr val="5B6785"/>
                </a:solidFill>
                <a:latin typeface="Calibri" pitchFamily="34" charset="0"/>
                <a:ea typeface="Calibri" pitchFamily="34" charset="-122"/>
                <a:cs typeface="Calibri" pitchFamily="34" charset="-120"/>
              </a:rPr>
              <a:t>NexaMart Customer Profitability &amp; Revenue Intelligence</a:t>
            </a:r>
            <a:endParaRPr lang="en-US" sz="850" dirty="0"/>
          </a:p>
        </p:txBody>
      </p:sp>
      <p:sp>
        <p:nvSpPr>
          <p:cNvPr id="31" name="Text 29"/>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850" dirty="0">
                <a:solidFill>
                  <a:srgbClr val="5B6785"/>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indent="0" marL="0">
              <a:buNone/>
            </a:pPr>
            <a:r>
              <a:rPr lang="en-US" sz="1150" b="1" spc="200" kern="0" dirty="0">
                <a:solidFill>
                  <a:srgbClr val="D99B2B"/>
                </a:solidFill>
                <a:latin typeface="Calibri" pitchFamily="34" charset="0"/>
                <a:ea typeface="Calibri" pitchFamily="34" charset="-122"/>
                <a:cs typeface="Calibri" pitchFamily="34" charset="-120"/>
              </a:rPr>
              <a:t>PROFITABILITY LEVERS</a:t>
            </a:r>
            <a:endParaRPr lang="en-US" sz="1150" dirty="0"/>
          </a:p>
        </p:txBody>
      </p:sp>
      <p:sp>
        <p:nvSpPr>
          <p:cNvPr id="3" name="Text 1"/>
          <p:cNvSpPr/>
          <p:nvPr/>
        </p:nvSpPr>
        <p:spPr>
          <a:xfrm>
            <a:off x="457200" y="56692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Discount &amp; Profitability</a:t>
            </a:r>
            <a:endParaRPr lang="en-US" sz="3000" dirty="0"/>
          </a:p>
        </p:txBody>
      </p:sp>
      <p:sp>
        <p:nvSpPr>
          <p:cNvPr id="4" name="Shape 2"/>
          <p:cNvSpPr/>
          <p:nvPr/>
        </p:nvSpPr>
        <p:spPr>
          <a:xfrm>
            <a:off x="699516" y="1600200"/>
            <a:ext cx="2011680" cy="1051560"/>
          </a:xfrm>
          <a:prstGeom prst="roundRect">
            <a:avLst>
              <a:gd name="adj" fmla="val 7826"/>
            </a:avLst>
          </a:prstGeom>
          <a:solidFill>
            <a:srgbClr val="1E2761"/>
          </a:solidFill>
          <a:ln/>
        </p:spPr>
      </p:sp>
      <p:sp>
        <p:nvSpPr>
          <p:cNvPr id="5" name="Text 3"/>
          <p:cNvSpPr/>
          <p:nvPr/>
        </p:nvSpPr>
        <p:spPr>
          <a:xfrm>
            <a:off x="790956" y="1728216"/>
            <a:ext cx="1828800" cy="274320"/>
          </a:xfrm>
          <a:prstGeom prst="rect">
            <a:avLst/>
          </a:prstGeom>
          <a:noFill/>
          <a:ln/>
        </p:spPr>
        <p:txBody>
          <a:bodyPr wrap="square" lIns="0" tIns="0" rIns="0" bIns="0" rtlCol="0" anchor="ctr"/>
          <a:lstStyle/>
          <a:p>
            <a:pPr algn="ctr" indent="0" marL="0">
              <a:buNone/>
            </a:pPr>
            <a:r>
              <a:rPr lang="en-US" sz="1050" b="1" dirty="0">
                <a:solidFill>
                  <a:srgbClr val="CADCFC"/>
                </a:solidFill>
                <a:latin typeface="Calibri" pitchFamily="34" charset="0"/>
                <a:ea typeface="Calibri" pitchFamily="34" charset="-122"/>
                <a:cs typeface="Calibri" pitchFamily="34" charset="-120"/>
              </a:rPr>
              <a:t>Gross Sales</a:t>
            </a:r>
            <a:endParaRPr lang="en-US" sz="1050" dirty="0"/>
          </a:p>
        </p:txBody>
      </p:sp>
      <p:sp>
        <p:nvSpPr>
          <p:cNvPr id="6" name="Text 4"/>
          <p:cNvSpPr/>
          <p:nvPr/>
        </p:nvSpPr>
        <p:spPr>
          <a:xfrm>
            <a:off x="790956" y="2020824"/>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₹194.14M</a:t>
            </a:r>
            <a:endParaRPr lang="en-US" sz="1500" dirty="0"/>
          </a:p>
        </p:txBody>
      </p:sp>
      <p:sp>
        <p:nvSpPr>
          <p:cNvPr id="7" name="Text 5"/>
          <p:cNvSpPr/>
          <p:nvPr/>
        </p:nvSpPr>
        <p:spPr>
          <a:xfrm>
            <a:off x="2711196" y="1600200"/>
            <a:ext cx="182880" cy="1051560"/>
          </a:xfrm>
          <a:prstGeom prst="rect">
            <a:avLst/>
          </a:prstGeom>
          <a:noFill/>
          <a:ln/>
        </p:spPr>
        <p:txBody>
          <a:bodyPr wrap="square" lIns="0" tIns="0" rIns="0" bIns="0" rtlCol="0" anchor="ctr"/>
          <a:lstStyle/>
          <a:p>
            <a:pPr algn="ctr" indent="0" marL="0">
              <a:buNone/>
            </a:pPr>
            <a:r>
              <a:rPr lang="en-US" sz="1600" b="1" dirty="0">
                <a:solidFill>
                  <a:srgbClr val="5B6785"/>
                </a:solidFill>
              </a:rPr>
              <a:t>→</a:t>
            </a:r>
            <a:endParaRPr lang="en-US" sz="1600" dirty="0"/>
          </a:p>
        </p:txBody>
      </p:sp>
      <p:sp>
        <p:nvSpPr>
          <p:cNvPr id="8" name="Shape 6"/>
          <p:cNvSpPr/>
          <p:nvPr/>
        </p:nvSpPr>
        <p:spPr>
          <a:xfrm>
            <a:off x="2894076" y="1600200"/>
            <a:ext cx="2011680" cy="1051560"/>
          </a:xfrm>
          <a:prstGeom prst="roundRect">
            <a:avLst>
              <a:gd name="adj" fmla="val 7826"/>
            </a:avLst>
          </a:prstGeom>
          <a:solidFill>
            <a:srgbClr val="EEF3FC"/>
          </a:solidFill>
          <a:ln w="12700">
            <a:solidFill>
              <a:srgbClr val="DCE3F2"/>
            </a:solidFill>
            <a:prstDash val="solid"/>
          </a:ln>
        </p:spPr>
      </p:sp>
      <p:sp>
        <p:nvSpPr>
          <p:cNvPr id="9" name="Text 7"/>
          <p:cNvSpPr/>
          <p:nvPr/>
        </p:nvSpPr>
        <p:spPr>
          <a:xfrm>
            <a:off x="2985516" y="1728216"/>
            <a:ext cx="1828800" cy="27432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Discount</a:t>
            </a:r>
            <a:endParaRPr lang="en-US" sz="1050" dirty="0"/>
          </a:p>
        </p:txBody>
      </p:sp>
      <p:sp>
        <p:nvSpPr>
          <p:cNvPr id="10" name="Text 8"/>
          <p:cNvSpPr/>
          <p:nvPr/>
        </p:nvSpPr>
        <p:spPr>
          <a:xfrm>
            <a:off x="2985516" y="2020824"/>
            <a:ext cx="1828800" cy="457200"/>
          </a:xfrm>
          <a:prstGeom prst="rect">
            <a:avLst/>
          </a:prstGeom>
          <a:noFill/>
          <a:ln/>
        </p:spPr>
        <p:txBody>
          <a:bodyPr wrap="square" lIns="0" tIns="0" rIns="0" bIns="0"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−₹19.76M</a:t>
            </a:r>
            <a:endParaRPr lang="en-US" sz="1500" dirty="0"/>
          </a:p>
        </p:txBody>
      </p:sp>
      <p:sp>
        <p:nvSpPr>
          <p:cNvPr id="11" name="Text 9"/>
          <p:cNvSpPr/>
          <p:nvPr/>
        </p:nvSpPr>
        <p:spPr>
          <a:xfrm>
            <a:off x="4905756" y="1600200"/>
            <a:ext cx="182880" cy="1051560"/>
          </a:xfrm>
          <a:prstGeom prst="rect">
            <a:avLst/>
          </a:prstGeom>
          <a:noFill/>
          <a:ln/>
        </p:spPr>
        <p:txBody>
          <a:bodyPr wrap="square" lIns="0" tIns="0" rIns="0" bIns="0" rtlCol="0" anchor="ctr"/>
          <a:lstStyle/>
          <a:p>
            <a:pPr algn="ctr" indent="0" marL="0">
              <a:buNone/>
            </a:pPr>
            <a:r>
              <a:rPr lang="en-US" sz="1600" b="1" dirty="0">
                <a:solidFill>
                  <a:srgbClr val="5B6785"/>
                </a:solidFill>
              </a:rPr>
              <a:t>→</a:t>
            </a:r>
            <a:endParaRPr lang="en-US" sz="1600" dirty="0"/>
          </a:p>
        </p:txBody>
      </p:sp>
      <p:sp>
        <p:nvSpPr>
          <p:cNvPr id="12" name="Shape 10"/>
          <p:cNvSpPr/>
          <p:nvPr/>
        </p:nvSpPr>
        <p:spPr>
          <a:xfrm>
            <a:off x="5088636" y="1600200"/>
            <a:ext cx="2011680" cy="1051560"/>
          </a:xfrm>
          <a:prstGeom prst="roundRect">
            <a:avLst>
              <a:gd name="adj" fmla="val 7826"/>
            </a:avLst>
          </a:prstGeom>
          <a:solidFill>
            <a:srgbClr val="1E2761"/>
          </a:solidFill>
          <a:ln/>
        </p:spPr>
      </p:sp>
      <p:sp>
        <p:nvSpPr>
          <p:cNvPr id="13" name="Text 11"/>
          <p:cNvSpPr/>
          <p:nvPr/>
        </p:nvSpPr>
        <p:spPr>
          <a:xfrm>
            <a:off x="5180076" y="1728216"/>
            <a:ext cx="1828800" cy="274320"/>
          </a:xfrm>
          <a:prstGeom prst="rect">
            <a:avLst/>
          </a:prstGeom>
          <a:noFill/>
          <a:ln/>
        </p:spPr>
        <p:txBody>
          <a:bodyPr wrap="square" lIns="0" tIns="0" rIns="0" bIns="0" rtlCol="0" anchor="ctr"/>
          <a:lstStyle/>
          <a:p>
            <a:pPr algn="ctr" indent="0" marL="0">
              <a:buNone/>
            </a:pPr>
            <a:r>
              <a:rPr lang="en-US" sz="1050" b="1" dirty="0">
                <a:solidFill>
                  <a:srgbClr val="CADCFC"/>
                </a:solidFill>
                <a:latin typeface="Calibri" pitchFamily="34" charset="0"/>
                <a:ea typeface="Calibri" pitchFamily="34" charset="-122"/>
                <a:cs typeface="Calibri" pitchFamily="34" charset="-120"/>
              </a:rPr>
              <a:t>Revenue</a:t>
            </a:r>
            <a:endParaRPr lang="en-US" sz="1050" dirty="0"/>
          </a:p>
        </p:txBody>
      </p:sp>
      <p:sp>
        <p:nvSpPr>
          <p:cNvPr id="14" name="Text 12"/>
          <p:cNvSpPr/>
          <p:nvPr/>
        </p:nvSpPr>
        <p:spPr>
          <a:xfrm>
            <a:off x="5180076" y="2020824"/>
            <a:ext cx="1828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₹174.38M</a:t>
            </a:r>
            <a:endParaRPr lang="en-US" sz="1500" dirty="0"/>
          </a:p>
        </p:txBody>
      </p:sp>
      <p:sp>
        <p:nvSpPr>
          <p:cNvPr id="15" name="Text 13"/>
          <p:cNvSpPr/>
          <p:nvPr/>
        </p:nvSpPr>
        <p:spPr>
          <a:xfrm>
            <a:off x="7100316" y="1600200"/>
            <a:ext cx="182880" cy="1051560"/>
          </a:xfrm>
          <a:prstGeom prst="rect">
            <a:avLst/>
          </a:prstGeom>
          <a:noFill/>
          <a:ln/>
        </p:spPr>
        <p:txBody>
          <a:bodyPr wrap="square" lIns="0" tIns="0" rIns="0" bIns="0" rtlCol="0" anchor="ctr"/>
          <a:lstStyle/>
          <a:p>
            <a:pPr algn="ctr" indent="0" marL="0">
              <a:buNone/>
            </a:pPr>
            <a:r>
              <a:rPr lang="en-US" sz="1600" b="1" dirty="0">
                <a:solidFill>
                  <a:srgbClr val="5B6785"/>
                </a:solidFill>
              </a:rPr>
              <a:t>→</a:t>
            </a:r>
            <a:endParaRPr lang="en-US" sz="1600" dirty="0"/>
          </a:p>
        </p:txBody>
      </p:sp>
      <p:sp>
        <p:nvSpPr>
          <p:cNvPr id="16" name="Shape 14"/>
          <p:cNvSpPr/>
          <p:nvPr/>
        </p:nvSpPr>
        <p:spPr>
          <a:xfrm>
            <a:off x="7283196" y="1600200"/>
            <a:ext cx="2011680" cy="1051560"/>
          </a:xfrm>
          <a:prstGeom prst="roundRect">
            <a:avLst>
              <a:gd name="adj" fmla="val 7826"/>
            </a:avLst>
          </a:prstGeom>
          <a:solidFill>
            <a:srgbClr val="EEF3FC"/>
          </a:solidFill>
          <a:ln w="12700">
            <a:solidFill>
              <a:srgbClr val="DCE3F2"/>
            </a:solidFill>
            <a:prstDash val="solid"/>
          </a:ln>
        </p:spPr>
      </p:sp>
      <p:sp>
        <p:nvSpPr>
          <p:cNvPr id="17" name="Text 15"/>
          <p:cNvSpPr/>
          <p:nvPr/>
        </p:nvSpPr>
        <p:spPr>
          <a:xfrm>
            <a:off x="7374636" y="1728216"/>
            <a:ext cx="1828800" cy="27432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COGS</a:t>
            </a:r>
            <a:endParaRPr lang="en-US" sz="1050" dirty="0"/>
          </a:p>
        </p:txBody>
      </p:sp>
      <p:sp>
        <p:nvSpPr>
          <p:cNvPr id="18" name="Text 16"/>
          <p:cNvSpPr/>
          <p:nvPr/>
        </p:nvSpPr>
        <p:spPr>
          <a:xfrm>
            <a:off x="7374636" y="2020824"/>
            <a:ext cx="1828800" cy="457200"/>
          </a:xfrm>
          <a:prstGeom prst="rect">
            <a:avLst/>
          </a:prstGeom>
          <a:noFill/>
          <a:ln/>
        </p:spPr>
        <p:txBody>
          <a:bodyPr wrap="square" lIns="0" tIns="0" rIns="0" bIns="0"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−₹127.46M</a:t>
            </a:r>
            <a:endParaRPr lang="en-US" sz="1500" dirty="0"/>
          </a:p>
        </p:txBody>
      </p:sp>
      <p:sp>
        <p:nvSpPr>
          <p:cNvPr id="19" name="Text 17"/>
          <p:cNvSpPr/>
          <p:nvPr/>
        </p:nvSpPr>
        <p:spPr>
          <a:xfrm>
            <a:off x="9294876" y="1600200"/>
            <a:ext cx="182880" cy="1051560"/>
          </a:xfrm>
          <a:prstGeom prst="rect">
            <a:avLst/>
          </a:prstGeom>
          <a:noFill/>
          <a:ln/>
        </p:spPr>
        <p:txBody>
          <a:bodyPr wrap="square" lIns="0" tIns="0" rIns="0" bIns="0" rtlCol="0" anchor="ctr"/>
          <a:lstStyle/>
          <a:p>
            <a:pPr algn="ctr" indent="0" marL="0">
              <a:buNone/>
            </a:pPr>
            <a:r>
              <a:rPr lang="en-US" sz="1600" b="1" dirty="0">
                <a:solidFill>
                  <a:srgbClr val="5B6785"/>
                </a:solidFill>
              </a:rPr>
              <a:t>→</a:t>
            </a:r>
            <a:endParaRPr lang="en-US" sz="1600" dirty="0"/>
          </a:p>
        </p:txBody>
      </p:sp>
      <p:sp>
        <p:nvSpPr>
          <p:cNvPr id="20" name="Shape 18"/>
          <p:cNvSpPr/>
          <p:nvPr/>
        </p:nvSpPr>
        <p:spPr>
          <a:xfrm>
            <a:off x="9477756" y="1600200"/>
            <a:ext cx="2011680" cy="1051560"/>
          </a:xfrm>
          <a:prstGeom prst="roundRect">
            <a:avLst>
              <a:gd name="adj" fmla="val 7826"/>
            </a:avLst>
          </a:prstGeom>
          <a:solidFill>
            <a:srgbClr val="D99B2B"/>
          </a:solidFill>
          <a:ln/>
        </p:spPr>
      </p:sp>
      <p:sp>
        <p:nvSpPr>
          <p:cNvPr id="21" name="Text 19"/>
          <p:cNvSpPr/>
          <p:nvPr/>
        </p:nvSpPr>
        <p:spPr>
          <a:xfrm>
            <a:off x="9569196" y="1728216"/>
            <a:ext cx="1828800" cy="274320"/>
          </a:xfrm>
          <a:prstGeom prst="rect">
            <a:avLst/>
          </a:prstGeom>
          <a:noFill/>
          <a:ln/>
        </p:spPr>
        <p:txBody>
          <a:bodyPr wrap="square" lIns="0" tIns="0" rIns="0" bIns="0" rtlCol="0" anchor="ctr"/>
          <a:lstStyle/>
          <a:p>
            <a:pPr algn="ctr" indent="0" marL="0">
              <a:buNone/>
            </a:pPr>
            <a:r>
              <a:rPr lang="en-US" sz="1050" b="1" dirty="0">
                <a:solidFill>
                  <a:srgbClr val="3B2B00"/>
                </a:solidFill>
                <a:latin typeface="Calibri" pitchFamily="34" charset="0"/>
                <a:ea typeface="Calibri" pitchFamily="34" charset="-122"/>
                <a:cs typeface="Calibri" pitchFamily="34" charset="-120"/>
              </a:rPr>
              <a:t>Gross Profit</a:t>
            </a:r>
            <a:endParaRPr lang="en-US" sz="1050" dirty="0"/>
          </a:p>
        </p:txBody>
      </p:sp>
      <p:sp>
        <p:nvSpPr>
          <p:cNvPr id="22" name="Text 20"/>
          <p:cNvSpPr/>
          <p:nvPr/>
        </p:nvSpPr>
        <p:spPr>
          <a:xfrm>
            <a:off x="9569196" y="2020824"/>
            <a:ext cx="1828800" cy="457200"/>
          </a:xfrm>
          <a:prstGeom prst="rect">
            <a:avLst/>
          </a:prstGeom>
          <a:noFill/>
          <a:ln/>
        </p:spPr>
        <p:txBody>
          <a:bodyPr wrap="square" lIns="0" tIns="0" rIns="0" bIns="0" rtlCol="0" anchor="ctr"/>
          <a:lstStyle/>
          <a:p>
            <a:pPr algn="ctr" indent="0" marL="0">
              <a:buNone/>
            </a:pPr>
            <a:r>
              <a:rPr lang="en-US" sz="1500" b="1" dirty="0">
                <a:solidFill>
                  <a:srgbClr val="3B2B00"/>
                </a:solidFill>
                <a:latin typeface="Cambria" pitchFamily="34" charset="0"/>
                <a:ea typeface="Cambria" pitchFamily="34" charset="-122"/>
                <a:cs typeface="Cambria" pitchFamily="34" charset="-120"/>
              </a:rPr>
              <a:t>₹46.92M</a:t>
            </a:r>
            <a:endParaRPr lang="en-US" sz="1500" dirty="0"/>
          </a:p>
        </p:txBody>
      </p:sp>
      <p:sp>
        <p:nvSpPr>
          <p:cNvPr id="23" name="Shape 21"/>
          <p:cNvSpPr/>
          <p:nvPr/>
        </p:nvSpPr>
        <p:spPr>
          <a:xfrm>
            <a:off x="3579876" y="2971800"/>
            <a:ext cx="2377440" cy="914400"/>
          </a:xfrm>
          <a:prstGeom prst="roundRect">
            <a:avLst>
              <a:gd name="adj" fmla="val 8000"/>
            </a:avLst>
          </a:prstGeom>
          <a:solidFill>
            <a:srgbClr val="FFFFFF"/>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24" name="Text 22"/>
          <p:cNvSpPr/>
          <p:nvPr/>
        </p:nvSpPr>
        <p:spPr>
          <a:xfrm>
            <a:off x="3689604" y="3118104"/>
            <a:ext cx="2157984" cy="475488"/>
          </a:xfrm>
          <a:prstGeom prst="rect">
            <a:avLst/>
          </a:prstGeom>
          <a:noFill/>
          <a:ln/>
        </p:spPr>
        <p:txBody>
          <a:bodyPr wrap="square" lIns="0" tIns="0" rIns="0" bIns="0" rtlCol="0" anchor="ctr"/>
          <a:lstStyle/>
          <a:p>
            <a:pPr algn="l" indent="0" marL="0">
              <a:buNone/>
            </a:pPr>
            <a:r>
              <a:rPr lang="en-US" sz="2400" b="1" dirty="0">
                <a:solidFill>
                  <a:srgbClr val="1E2761"/>
                </a:solidFill>
                <a:latin typeface="Cambria" pitchFamily="34" charset="0"/>
                <a:ea typeface="Cambria" pitchFamily="34" charset="-122"/>
                <a:cs typeface="Cambria" pitchFamily="34" charset="-120"/>
              </a:rPr>
              <a:t>10.18%</a:t>
            </a:r>
            <a:endParaRPr lang="en-US" sz="2400" dirty="0"/>
          </a:p>
        </p:txBody>
      </p:sp>
      <p:sp>
        <p:nvSpPr>
          <p:cNvPr id="25" name="Text 23"/>
          <p:cNvSpPr/>
          <p:nvPr/>
        </p:nvSpPr>
        <p:spPr>
          <a:xfrm>
            <a:off x="3689604" y="3593592"/>
            <a:ext cx="2157984" cy="256032"/>
          </a:xfrm>
          <a:prstGeom prst="rect">
            <a:avLst/>
          </a:prstGeom>
          <a:noFill/>
          <a:ln/>
        </p:spPr>
        <p:txBody>
          <a:bodyPr wrap="square" lIns="0" tIns="0" rIns="0" bIns="0" rtlCol="0" anchor="ctr"/>
          <a:lstStyle/>
          <a:p>
            <a:pPr algn="l" indent="0" marL="0">
              <a:buNone/>
            </a:pPr>
            <a:r>
              <a:rPr lang="en-US" sz="950" spc="50" kern="0" dirty="0">
                <a:solidFill>
                  <a:srgbClr val="5B6785"/>
                </a:solidFill>
                <a:latin typeface="Calibri" pitchFamily="34" charset="0"/>
                <a:ea typeface="Calibri" pitchFamily="34" charset="-122"/>
                <a:cs typeface="Calibri" pitchFamily="34" charset="-120"/>
              </a:rPr>
              <a:t>DISCOUNT RATE</a:t>
            </a:r>
            <a:endParaRPr lang="en-US" sz="950" dirty="0"/>
          </a:p>
        </p:txBody>
      </p:sp>
      <p:sp>
        <p:nvSpPr>
          <p:cNvPr id="26" name="Shape 24"/>
          <p:cNvSpPr/>
          <p:nvPr/>
        </p:nvSpPr>
        <p:spPr>
          <a:xfrm>
            <a:off x="6231636" y="2971800"/>
            <a:ext cx="2377440" cy="914400"/>
          </a:xfrm>
          <a:prstGeom prst="roundRect">
            <a:avLst>
              <a:gd name="adj" fmla="val 8000"/>
            </a:avLst>
          </a:prstGeom>
          <a:solidFill>
            <a:srgbClr val="FFFFFF"/>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27" name="Text 25"/>
          <p:cNvSpPr/>
          <p:nvPr/>
        </p:nvSpPr>
        <p:spPr>
          <a:xfrm>
            <a:off x="6341364" y="3118104"/>
            <a:ext cx="2157984" cy="475488"/>
          </a:xfrm>
          <a:prstGeom prst="rect">
            <a:avLst/>
          </a:prstGeom>
          <a:noFill/>
          <a:ln/>
        </p:spPr>
        <p:txBody>
          <a:bodyPr wrap="square" lIns="0" tIns="0" rIns="0" bIns="0" rtlCol="0" anchor="ctr"/>
          <a:lstStyle/>
          <a:p>
            <a:pPr algn="l" indent="0" marL="0">
              <a:buNone/>
            </a:pPr>
            <a:r>
              <a:rPr lang="en-US" sz="2400" b="1" dirty="0">
                <a:solidFill>
                  <a:srgbClr val="1E2761"/>
                </a:solidFill>
                <a:latin typeface="Cambria" pitchFamily="34" charset="0"/>
                <a:ea typeface="Cambria" pitchFamily="34" charset="-122"/>
                <a:cs typeface="Cambria" pitchFamily="34" charset="-120"/>
              </a:rPr>
              <a:t>26.91%</a:t>
            </a:r>
            <a:endParaRPr lang="en-US" sz="2400" dirty="0"/>
          </a:p>
        </p:txBody>
      </p:sp>
      <p:sp>
        <p:nvSpPr>
          <p:cNvPr id="28" name="Text 26"/>
          <p:cNvSpPr/>
          <p:nvPr/>
        </p:nvSpPr>
        <p:spPr>
          <a:xfrm>
            <a:off x="6341364" y="3593592"/>
            <a:ext cx="2157984" cy="256032"/>
          </a:xfrm>
          <a:prstGeom prst="rect">
            <a:avLst/>
          </a:prstGeom>
          <a:noFill/>
          <a:ln/>
        </p:spPr>
        <p:txBody>
          <a:bodyPr wrap="square" lIns="0" tIns="0" rIns="0" bIns="0" rtlCol="0" anchor="ctr"/>
          <a:lstStyle/>
          <a:p>
            <a:pPr algn="l" indent="0" marL="0">
              <a:buNone/>
            </a:pPr>
            <a:r>
              <a:rPr lang="en-US" sz="950" spc="50" kern="0" dirty="0">
                <a:solidFill>
                  <a:srgbClr val="5B6785"/>
                </a:solidFill>
                <a:latin typeface="Calibri" pitchFamily="34" charset="0"/>
                <a:ea typeface="Calibri" pitchFamily="34" charset="-122"/>
                <a:cs typeface="Calibri" pitchFamily="34" charset="-120"/>
              </a:rPr>
              <a:t>GROSS MARGIN</a:t>
            </a:r>
            <a:endParaRPr lang="en-US" sz="950" dirty="0"/>
          </a:p>
        </p:txBody>
      </p:sp>
      <p:sp>
        <p:nvSpPr>
          <p:cNvPr id="29" name="Shape 27"/>
          <p:cNvSpPr/>
          <p:nvPr/>
        </p:nvSpPr>
        <p:spPr>
          <a:xfrm>
            <a:off x="457200" y="4251960"/>
            <a:ext cx="11274552" cy="1188720"/>
          </a:xfrm>
          <a:prstGeom prst="roundRect">
            <a:avLst>
              <a:gd name="adj" fmla="val 6154"/>
            </a:avLst>
          </a:prstGeom>
          <a:solidFill>
            <a:srgbClr val="1E2761"/>
          </a:solidFill>
          <a:ln/>
        </p:spPr>
      </p:sp>
      <p:sp>
        <p:nvSpPr>
          <p:cNvPr id="30" name="Text 28"/>
          <p:cNvSpPr/>
          <p:nvPr/>
        </p:nvSpPr>
        <p:spPr>
          <a:xfrm>
            <a:off x="731520" y="4251960"/>
            <a:ext cx="10725912" cy="1188720"/>
          </a:xfrm>
          <a:prstGeom prst="rect">
            <a:avLst/>
          </a:prstGeom>
          <a:noFill/>
          <a:ln/>
        </p:spPr>
        <p:txBody>
          <a:bodyPr wrap="square" lIns="0" tIns="0" rIns="0" bIns="0" rtlCol="0" anchor="ctr"/>
          <a:lstStyle/>
          <a:p>
            <a:pPr algn="l" indent="0" marL="0">
              <a:lnSpc>
                <a:spcPct val="115000"/>
              </a:lnSpc>
              <a:buNone/>
            </a:pPr>
            <a:r>
              <a:rPr lang="en-US" sz="1500" b="1" i="1" dirty="0">
                <a:solidFill>
                  <a:srgbClr val="D99B2B"/>
                </a:solidFill>
                <a:latin typeface="Calibri" pitchFamily="34" charset="0"/>
                <a:ea typeface="Calibri" pitchFamily="34" charset="-122"/>
                <a:cs typeface="Calibri" pitchFamily="34" charset="-120"/>
              </a:rPr>
              <a:t>INSIGHT  </a:t>
            </a:r>
            <a:pPr algn="l" indent="0" marL="0">
              <a:lnSpc>
                <a:spcPct val="115000"/>
              </a:lnSpc>
              <a:buNone/>
            </a:pPr>
            <a:r>
              <a:rPr lang="en-US" sz="1500" i="1" dirty="0">
                <a:solidFill>
                  <a:srgbClr val="FFFFFF"/>
                </a:solidFill>
                <a:latin typeface="Calibri" pitchFamily="34" charset="0"/>
                <a:ea typeface="Calibri" pitchFamily="34" charset="-122"/>
                <a:cs typeface="Calibri" pitchFamily="34" charset="-120"/>
              </a:rPr>
              <a:t>Discounting is a significant profitability lever and should be managed based on incremental value rather than sales volume alone.</a:t>
            </a:r>
            <a:endParaRPr lang="en-US" sz="1500" dirty="0"/>
          </a:p>
        </p:txBody>
      </p:sp>
      <p:sp>
        <p:nvSpPr>
          <p:cNvPr id="31" name="Text 29"/>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850" dirty="0">
                <a:solidFill>
                  <a:srgbClr val="5B6785"/>
                </a:solidFill>
                <a:latin typeface="Calibri" pitchFamily="34" charset="0"/>
                <a:ea typeface="Calibri" pitchFamily="34" charset="-122"/>
                <a:cs typeface="Calibri" pitchFamily="34" charset="-120"/>
              </a:rPr>
              <a:t>NexaMart Customer Profitability &amp; Revenue Intelligence</a:t>
            </a:r>
            <a:endParaRPr lang="en-US" sz="850" dirty="0"/>
          </a:p>
        </p:txBody>
      </p:sp>
      <p:sp>
        <p:nvSpPr>
          <p:cNvPr id="32" name="Text 30"/>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850" dirty="0">
                <a:solidFill>
                  <a:srgbClr val="5B6785"/>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indent="0" marL="0">
              <a:buNone/>
            </a:pPr>
            <a:r>
              <a:rPr lang="en-US" sz="1150" b="1" spc="200" kern="0" dirty="0">
                <a:solidFill>
                  <a:srgbClr val="D99B2B"/>
                </a:solidFill>
                <a:latin typeface="Calibri" pitchFamily="34" charset="0"/>
                <a:ea typeface="Calibri" pitchFamily="34" charset="-122"/>
                <a:cs typeface="Calibri" pitchFamily="34" charset="-120"/>
              </a:rPr>
              <a:t>SYNTHESIS</a:t>
            </a:r>
            <a:endParaRPr lang="en-US" sz="1150" dirty="0"/>
          </a:p>
        </p:txBody>
      </p:sp>
      <p:sp>
        <p:nvSpPr>
          <p:cNvPr id="3" name="Text 1"/>
          <p:cNvSpPr/>
          <p:nvPr/>
        </p:nvSpPr>
        <p:spPr>
          <a:xfrm>
            <a:off x="457200" y="56692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Key Business Insights</a:t>
            </a:r>
            <a:endParaRPr lang="en-US" sz="3000" dirty="0"/>
          </a:p>
        </p:txBody>
      </p:sp>
      <p:sp>
        <p:nvSpPr>
          <p:cNvPr id="4" name="Shape 2"/>
          <p:cNvSpPr/>
          <p:nvPr/>
        </p:nvSpPr>
        <p:spPr>
          <a:xfrm>
            <a:off x="457200" y="1417320"/>
            <a:ext cx="3605784" cy="1783080"/>
          </a:xfrm>
          <a:prstGeom prst="roundRect">
            <a:avLst>
              <a:gd name="adj" fmla="val 4615"/>
            </a:avLst>
          </a:prstGeom>
          <a:solidFill>
            <a:srgbClr val="FFFFFF"/>
          </a:solidFill>
          <a:ln w="12700">
            <a:solidFill>
              <a:srgbClr val="DCE3F2"/>
            </a:solidFill>
            <a:prstDash val="solid"/>
          </a:ln>
          <a:effectLst>
            <a:outerShdw sx="100000" sy="100000" kx="0" ky="0" algn="bl" rotWithShape="0" blurRad="76200" dist="25400" dir="5400000">
              <a:srgbClr val="1E2761">
                <a:alpha val="10000"/>
              </a:srgbClr>
            </a:outerShdw>
          </a:effectLst>
        </p:spPr>
      </p:sp>
      <p:sp>
        <p:nvSpPr>
          <p:cNvPr id="5" name="Shape 3"/>
          <p:cNvSpPr/>
          <p:nvPr/>
        </p:nvSpPr>
        <p:spPr>
          <a:xfrm>
            <a:off x="658368" y="1600200"/>
            <a:ext cx="384048" cy="384048"/>
          </a:xfrm>
          <a:prstGeom prst="roundRect">
            <a:avLst>
              <a:gd name="adj" fmla="val 50000"/>
            </a:avLst>
          </a:prstGeom>
          <a:solidFill>
            <a:srgbClr val="1E2761"/>
          </a:solidFill>
          <a:ln/>
        </p:spPr>
      </p:sp>
      <p:sp>
        <p:nvSpPr>
          <p:cNvPr id="6" name="Text 4"/>
          <p:cNvSpPr/>
          <p:nvPr/>
        </p:nvSpPr>
        <p:spPr>
          <a:xfrm>
            <a:off x="658368" y="1600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43000" y="1618488"/>
            <a:ext cx="2691384" cy="347472"/>
          </a:xfrm>
          <a:prstGeom prst="rect">
            <a:avLst/>
          </a:prstGeom>
          <a:noFill/>
          <a:ln/>
        </p:spPr>
        <p:txBody>
          <a:bodyPr wrap="square" lIns="0" tIns="0" rIns="0" bIns="0" rtlCol="0" anchor="ctr"/>
          <a:lstStyle/>
          <a:p>
            <a:pPr indent="0" marL="0">
              <a:buNone/>
            </a:pPr>
            <a:r>
              <a:rPr lang="en-US" sz="1150" b="1" spc="100" kern="0" dirty="0">
                <a:solidFill>
                  <a:srgbClr val="D99B2B"/>
                </a:solidFill>
                <a:latin typeface="Calibri" pitchFamily="34" charset="0"/>
                <a:ea typeface="Calibri" pitchFamily="34" charset="-122"/>
                <a:cs typeface="Calibri" pitchFamily="34" charset="-120"/>
              </a:rPr>
              <a:t>CUSTOMER</a:t>
            </a:r>
            <a:endParaRPr lang="en-US" sz="1150" dirty="0"/>
          </a:p>
        </p:txBody>
      </p:sp>
      <p:sp>
        <p:nvSpPr>
          <p:cNvPr id="8" name="Text 6"/>
          <p:cNvSpPr/>
          <p:nvPr/>
        </p:nvSpPr>
        <p:spPr>
          <a:xfrm>
            <a:off x="658368" y="2130552"/>
            <a:ext cx="3203448" cy="868680"/>
          </a:xfrm>
          <a:prstGeom prst="rect">
            <a:avLst/>
          </a:prstGeom>
          <a:noFill/>
          <a:ln/>
        </p:spPr>
        <p:txBody>
          <a:bodyPr wrap="square" lIns="0" tIns="0" rIns="0" bIns="0" rtlCol="0" anchor="t"/>
          <a:lstStyle/>
          <a:p>
            <a:pPr indent="0" marL="0">
              <a:lnSpc>
                <a:spcPct val="120000"/>
              </a:lnSpc>
              <a:buNone/>
            </a:pPr>
            <a:r>
              <a:rPr lang="en-US" sz="1200" dirty="0">
                <a:solidFill>
                  <a:srgbClr val="44506B"/>
                </a:solidFill>
                <a:latin typeface="Calibri" pitchFamily="34" charset="0"/>
                <a:ea typeface="Calibri" pitchFamily="34" charset="-122"/>
                <a:cs typeface="Calibri" pitchFamily="34" charset="-120"/>
              </a:rPr>
              <a:t>Corporate customers dominate top individual profit contributors.</a:t>
            </a:r>
            <a:endParaRPr lang="en-US" sz="1200" dirty="0"/>
          </a:p>
        </p:txBody>
      </p:sp>
      <p:sp>
        <p:nvSpPr>
          <p:cNvPr id="9" name="Shape 7"/>
          <p:cNvSpPr/>
          <p:nvPr/>
        </p:nvSpPr>
        <p:spPr>
          <a:xfrm>
            <a:off x="4291584" y="1417320"/>
            <a:ext cx="3605784" cy="1783080"/>
          </a:xfrm>
          <a:prstGeom prst="roundRect">
            <a:avLst>
              <a:gd name="adj" fmla="val 4615"/>
            </a:avLst>
          </a:prstGeom>
          <a:solidFill>
            <a:srgbClr val="FFFFFF"/>
          </a:solidFill>
          <a:ln w="12700">
            <a:solidFill>
              <a:srgbClr val="DCE3F2"/>
            </a:solidFill>
            <a:prstDash val="solid"/>
          </a:ln>
          <a:effectLst>
            <a:outerShdw sx="100000" sy="100000" kx="0" ky="0" algn="bl" rotWithShape="0" blurRad="76200" dist="25400" dir="5400000">
              <a:srgbClr val="1E2761">
                <a:alpha val="10000"/>
              </a:srgbClr>
            </a:outerShdw>
          </a:effectLst>
        </p:spPr>
      </p:sp>
      <p:sp>
        <p:nvSpPr>
          <p:cNvPr id="10" name="Shape 8"/>
          <p:cNvSpPr/>
          <p:nvPr/>
        </p:nvSpPr>
        <p:spPr>
          <a:xfrm>
            <a:off x="4492752" y="1600200"/>
            <a:ext cx="384048" cy="384048"/>
          </a:xfrm>
          <a:prstGeom prst="roundRect">
            <a:avLst>
              <a:gd name="adj" fmla="val 50000"/>
            </a:avLst>
          </a:prstGeom>
          <a:solidFill>
            <a:srgbClr val="1E2761"/>
          </a:solidFill>
          <a:ln/>
        </p:spPr>
      </p:sp>
      <p:sp>
        <p:nvSpPr>
          <p:cNvPr id="11" name="Text 9"/>
          <p:cNvSpPr/>
          <p:nvPr/>
        </p:nvSpPr>
        <p:spPr>
          <a:xfrm>
            <a:off x="4492752" y="1600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4977384" y="1618488"/>
            <a:ext cx="2691384" cy="347472"/>
          </a:xfrm>
          <a:prstGeom prst="rect">
            <a:avLst/>
          </a:prstGeom>
          <a:noFill/>
          <a:ln/>
        </p:spPr>
        <p:txBody>
          <a:bodyPr wrap="square" lIns="0" tIns="0" rIns="0" bIns="0" rtlCol="0" anchor="ctr"/>
          <a:lstStyle/>
          <a:p>
            <a:pPr indent="0" marL="0">
              <a:buNone/>
            </a:pPr>
            <a:r>
              <a:rPr lang="en-US" sz="1150" b="1" spc="100" kern="0" dirty="0">
                <a:solidFill>
                  <a:srgbClr val="D99B2B"/>
                </a:solidFill>
                <a:latin typeface="Calibri" pitchFamily="34" charset="0"/>
                <a:ea typeface="Calibri" pitchFamily="34" charset="-122"/>
                <a:cs typeface="Calibri" pitchFamily="34" charset="-120"/>
              </a:rPr>
              <a:t>MARGIN</a:t>
            </a:r>
            <a:endParaRPr lang="en-US" sz="1150" dirty="0"/>
          </a:p>
        </p:txBody>
      </p:sp>
      <p:sp>
        <p:nvSpPr>
          <p:cNvPr id="13" name="Text 11"/>
          <p:cNvSpPr/>
          <p:nvPr/>
        </p:nvSpPr>
        <p:spPr>
          <a:xfrm>
            <a:off x="4492752" y="2130552"/>
            <a:ext cx="3203448" cy="868680"/>
          </a:xfrm>
          <a:prstGeom prst="rect">
            <a:avLst/>
          </a:prstGeom>
          <a:noFill/>
          <a:ln/>
        </p:spPr>
        <p:txBody>
          <a:bodyPr wrap="square" lIns="0" tIns="0" rIns="0" bIns="0" rtlCol="0" anchor="t"/>
          <a:lstStyle/>
          <a:p>
            <a:pPr indent="0" marL="0">
              <a:lnSpc>
                <a:spcPct val="120000"/>
              </a:lnSpc>
              <a:buNone/>
            </a:pPr>
            <a:r>
              <a:rPr lang="en-US" sz="1200" dirty="0">
                <a:solidFill>
                  <a:srgbClr val="44506B"/>
                </a:solidFill>
                <a:latin typeface="Calibri" pitchFamily="34" charset="0"/>
                <a:ea typeface="Calibri" pitchFamily="34" charset="-122"/>
                <a:cs typeface="Calibri" pitchFamily="34" charset="-120"/>
              </a:rPr>
              <a:t>Consumer has the highest segment margin at 37%.</a:t>
            </a:r>
            <a:endParaRPr lang="en-US" sz="1200" dirty="0"/>
          </a:p>
        </p:txBody>
      </p:sp>
      <p:sp>
        <p:nvSpPr>
          <p:cNvPr id="14" name="Shape 12"/>
          <p:cNvSpPr/>
          <p:nvPr/>
        </p:nvSpPr>
        <p:spPr>
          <a:xfrm>
            <a:off x="8125968" y="1417320"/>
            <a:ext cx="3605784" cy="1783080"/>
          </a:xfrm>
          <a:prstGeom prst="roundRect">
            <a:avLst>
              <a:gd name="adj" fmla="val 4615"/>
            </a:avLst>
          </a:prstGeom>
          <a:solidFill>
            <a:srgbClr val="FFFFFF"/>
          </a:solidFill>
          <a:ln w="12700">
            <a:solidFill>
              <a:srgbClr val="DCE3F2"/>
            </a:solidFill>
            <a:prstDash val="solid"/>
          </a:ln>
          <a:effectLst>
            <a:outerShdw sx="100000" sy="100000" kx="0" ky="0" algn="bl" rotWithShape="0" blurRad="76200" dist="25400" dir="5400000">
              <a:srgbClr val="1E2761">
                <a:alpha val="10000"/>
              </a:srgbClr>
            </a:outerShdw>
          </a:effectLst>
        </p:spPr>
      </p:sp>
      <p:sp>
        <p:nvSpPr>
          <p:cNvPr id="15" name="Shape 13"/>
          <p:cNvSpPr/>
          <p:nvPr/>
        </p:nvSpPr>
        <p:spPr>
          <a:xfrm>
            <a:off x="8327136" y="1600200"/>
            <a:ext cx="384048" cy="384048"/>
          </a:xfrm>
          <a:prstGeom prst="roundRect">
            <a:avLst>
              <a:gd name="adj" fmla="val 50000"/>
            </a:avLst>
          </a:prstGeom>
          <a:solidFill>
            <a:srgbClr val="1E2761"/>
          </a:solidFill>
          <a:ln/>
        </p:spPr>
      </p:sp>
      <p:sp>
        <p:nvSpPr>
          <p:cNvPr id="16" name="Text 14"/>
          <p:cNvSpPr/>
          <p:nvPr/>
        </p:nvSpPr>
        <p:spPr>
          <a:xfrm>
            <a:off x="8327136" y="1600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811768" y="1618488"/>
            <a:ext cx="2691384" cy="347472"/>
          </a:xfrm>
          <a:prstGeom prst="rect">
            <a:avLst/>
          </a:prstGeom>
          <a:noFill/>
          <a:ln/>
        </p:spPr>
        <p:txBody>
          <a:bodyPr wrap="square" lIns="0" tIns="0" rIns="0" bIns="0" rtlCol="0" anchor="ctr"/>
          <a:lstStyle/>
          <a:p>
            <a:pPr indent="0" marL="0">
              <a:buNone/>
            </a:pPr>
            <a:r>
              <a:rPr lang="en-US" sz="1150" b="1" spc="100" kern="0" dirty="0">
                <a:solidFill>
                  <a:srgbClr val="D99B2B"/>
                </a:solidFill>
                <a:latin typeface="Calibri" pitchFamily="34" charset="0"/>
                <a:ea typeface="Calibri" pitchFamily="34" charset="-122"/>
                <a:cs typeface="Calibri" pitchFamily="34" charset="-120"/>
              </a:rPr>
              <a:t>PRODUCT</a:t>
            </a:r>
            <a:endParaRPr lang="en-US" sz="1150" dirty="0"/>
          </a:p>
        </p:txBody>
      </p:sp>
      <p:sp>
        <p:nvSpPr>
          <p:cNvPr id="18" name="Text 16"/>
          <p:cNvSpPr/>
          <p:nvPr/>
        </p:nvSpPr>
        <p:spPr>
          <a:xfrm>
            <a:off x="8327136" y="2130552"/>
            <a:ext cx="3203448" cy="868680"/>
          </a:xfrm>
          <a:prstGeom prst="rect">
            <a:avLst/>
          </a:prstGeom>
          <a:noFill/>
          <a:ln/>
        </p:spPr>
        <p:txBody>
          <a:bodyPr wrap="square" lIns="0" tIns="0" rIns="0" bIns="0" rtlCol="0" anchor="t"/>
          <a:lstStyle/>
          <a:p>
            <a:pPr indent="0" marL="0">
              <a:lnSpc>
                <a:spcPct val="120000"/>
              </a:lnSpc>
              <a:buNone/>
            </a:pPr>
            <a:r>
              <a:rPr lang="en-US" sz="1200" dirty="0">
                <a:solidFill>
                  <a:srgbClr val="44506B"/>
                </a:solidFill>
                <a:latin typeface="Calibri" pitchFamily="34" charset="0"/>
                <a:ea typeface="Calibri" pitchFamily="34" charset="-122"/>
                <a:cs typeface="Calibri" pitchFamily="34" charset="-120"/>
              </a:rPr>
              <a:t>Exercise Bike is the leading identified product by gross profit.</a:t>
            </a:r>
            <a:endParaRPr lang="en-US" sz="1200" dirty="0"/>
          </a:p>
        </p:txBody>
      </p:sp>
      <p:sp>
        <p:nvSpPr>
          <p:cNvPr id="19" name="Shape 17"/>
          <p:cNvSpPr/>
          <p:nvPr/>
        </p:nvSpPr>
        <p:spPr>
          <a:xfrm>
            <a:off x="457200" y="3429000"/>
            <a:ext cx="3605784" cy="1783080"/>
          </a:xfrm>
          <a:prstGeom prst="roundRect">
            <a:avLst>
              <a:gd name="adj" fmla="val 4615"/>
            </a:avLst>
          </a:prstGeom>
          <a:solidFill>
            <a:srgbClr val="FFFFFF"/>
          </a:solidFill>
          <a:ln w="12700">
            <a:solidFill>
              <a:srgbClr val="DCE3F2"/>
            </a:solidFill>
            <a:prstDash val="solid"/>
          </a:ln>
          <a:effectLst>
            <a:outerShdw sx="100000" sy="100000" kx="0" ky="0" algn="bl" rotWithShape="0" blurRad="76200" dist="25400" dir="5400000">
              <a:srgbClr val="1E2761">
                <a:alpha val="10000"/>
              </a:srgbClr>
            </a:outerShdw>
          </a:effectLst>
        </p:spPr>
      </p:sp>
      <p:sp>
        <p:nvSpPr>
          <p:cNvPr id="20" name="Shape 18"/>
          <p:cNvSpPr/>
          <p:nvPr/>
        </p:nvSpPr>
        <p:spPr>
          <a:xfrm>
            <a:off x="658368" y="3611880"/>
            <a:ext cx="384048" cy="384048"/>
          </a:xfrm>
          <a:prstGeom prst="roundRect">
            <a:avLst>
              <a:gd name="adj" fmla="val 50000"/>
            </a:avLst>
          </a:prstGeom>
          <a:solidFill>
            <a:srgbClr val="1E2761"/>
          </a:solidFill>
          <a:ln/>
        </p:spPr>
      </p:sp>
      <p:sp>
        <p:nvSpPr>
          <p:cNvPr id="21" name="Text 19"/>
          <p:cNvSpPr/>
          <p:nvPr/>
        </p:nvSpPr>
        <p:spPr>
          <a:xfrm>
            <a:off x="658368" y="3611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143000" y="3630168"/>
            <a:ext cx="2691384" cy="347472"/>
          </a:xfrm>
          <a:prstGeom prst="rect">
            <a:avLst/>
          </a:prstGeom>
          <a:noFill/>
          <a:ln/>
        </p:spPr>
        <p:txBody>
          <a:bodyPr wrap="square" lIns="0" tIns="0" rIns="0" bIns="0" rtlCol="0" anchor="ctr"/>
          <a:lstStyle/>
          <a:p>
            <a:pPr indent="0" marL="0">
              <a:buNone/>
            </a:pPr>
            <a:r>
              <a:rPr lang="en-US" sz="1150" b="1" spc="100" kern="0" dirty="0">
                <a:solidFill>
                  <a:srgbClr val="D99B2B"/>
                </a:solidFill>
                <a:latin typeface="Calibri" pitchFamily="34" charset="0"/>
                <a:ea typeface="Calibri" pitchFamily="34" charset="-122"/>
                <a:cs typeface="Calibri" pitchFamily="34" charset="-120"/>
              </a:rPr>
              <a:t>CATEGORY</a:t>
            </a:r>
            <a:endParaRPr lang="en-US" sz="1150" dirty="0"/>
          </a:p>
        </p:txBody>
      </p:sp>
      <p:sp>
        <p:nvSpPr>
          <p:cNvPr id="23" name="Text 21"/>
          <p:cNvSpPr/>
          <p:nvPr/>
        </p:nvSpPr>
        <p:spPr>
          <a:xfrm>
            <a:off x="658368" y="4142232"/>
            <a:ext cx="3203448" cy="868680"/>
          </a:xfrm>
          <a:prstGeom prst="rect">
            <a:avLst/>
          </a:prstGeom>
          <a:noFill/>
          <a:ln/>
        </p:spPr>
        <p:txBody>
          <a:bodyPr wrap="square" lIns="0" tIns="0" rIns="0" bIns="0" rtlCol="0" anchor="t"/>
          <a:lstStyle/>
          <a:p>
            <a:pPr indent="0" marL="0">
              <a:lnSpc>
                <a:spcPct val="120000"/>
              </a:lnSpc>
              <a:buNone/>
            </a:pPr>
            <a:r>
              <a:rPr lang="en-US" sz="1200" dirty="0">
                <a:solidFill>
                  <a:srgbClr val="44506B"/>
                </a:solidFill>
                <a:latin typeface="Calibri" pitchFamily="34" charset="0"/>
                <a:ea typeface="Calibri" pitchFamily="34" charset="-122"/>
                <a:cs typeface="Calibri" pitchFamily="34" charset="-120"/>
              </a:rPr>
              <a:t>Furniture leads in absolute revenue and gross profit.</a:t>
            </a:r>
            <a:endParaRPr lang="en-US" sz="1200" dirty="0"/>
          </a:p>
        </p:txBody>
      </p:sp>
      <p:sp>
        <p:nvSpPr>
          <p:cNvPr id="24" name="Shape 22"/>
          <p:cNvSpPr/>
          <p:nvPr/>
        </p:nvSpPr>
        <p:spPr>
          <a:xfrm>
            <a:off x="4291584" y="3429000"/>
            <a:ext cx="3605784" cy="1783080"/>
          </a:xfrm>
          <a:prstGeom prst="roundRect">
            <a:avLst>
              <a:gd name="adj" fmla="val 4615"/>
            </a:avLst>
          </a:prstGeom>
          <a:solidFill>
            <a:srgbClr val="FFFFFF"/>
          </a:solidFill>
          <a:ln w="12700">
            <a:solidFill>
              <a:srgbClr val="DCE3F2"/>
            </a:solidFill>
            <a:prstDash val="solid"/>
          </a:ln>
          <a:effectLst>
            <a:outerShdw sx="100000" sy="100000" kx="0" ky="0" algn="bl" rotWithShape="0" blurRad="76200" dist="25400" dir="5400000">
              <a:srgbClr val="1E2761">
                <a:alpha val="10000"/>
              </a:srgbClr>
            </a:outerShdw>
          </a:effectLst>
        </p:spPr>
      </p:sp>
      <p:sp>
        <p:nvSpPr>
          <p:cNvPr id="25" name="Shape 23"/>
          <p:cNvSpPr/>
          <p:nvPr/>
        </p:nvSpPr>
        <p:spPr>
          <a:xfrm>
            <a:off x="4492752" y="3611880"/>
            <a:ext cx="384048" cy="384048"/>
          </a:xfrm>
          <a:prstGeom prst="roundRect">
            <a:avLst>
              <a:gd name="adj" fmla="val 50000"/>
            </a:avLst>
          </a:prstGeom>
          <a:solidFill>
            <a:srgbClr val="1E2761"/>
          </a:solidFill>
          <a:ln/>
        </p:spPr>
      </p:sp>
      <p:sp>
        <p:nvSpPr>
          <p:cNvPr id="26" name="Text 24"/>
          <p:cNvSpPr/>
          <p:nvPr/>
        </p:nvSpPr>
        <p:spPr>
          <a:xfrm>
            <a:off x="4492752" y="3611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4977384" y="3630168"/>
            <a:ext cx="2691384" cy="347472"/>
          </a:xfrm>
          <a:prstGeom prst="rect">
            <a:avLst/>
          </a:prstGeom>
          <a:noFill/>
          <a:ln/>
        </p:spPr>
        <p:txBody>
          <a:bodyPr wrap="square" lIns="0" tIns="0" rIns="0" bIns="0" rtlCol="0" anchor="ctr"/>
          <a:lstStyle/>
          <a:p>
            <a:pPr indent="0" marL="0">
              <a:buNone/>
            </a:pPr>
            <a:r>
              <a:rPr lang="en-US" sz="1150" b="1" spc="100" kern="0" dirty="0">
                <a:solidFill>
                  <a:srgbClr val="D99B2B"/>
                </a:solidFill>
                <a:latin typeface="Calibri" pitchFamily="34" charset="0"/>
                <a:ea typeface="Calibri" pitchFamily="34" charset="-122"/>
                <a:cs typeface="Calibri" pitchFamily="34" charset="-120"/>
              </a:rPr>
              <a:t>REGION</a:t>
            </a:r>
            <a:endParaRPr lang="en-US" sz="1150" dirty="0"/>
          </a:p>
        </p:txBody>
      </p:sp>
      <p:sp>
        <p:nvSpPr>
          <p:cNvPr id="28" name="Text 26"/>
          <p:cNvSpPr/>
          <p:nvPr/>
        </p:nvSpPr>
        <p:spPr>
          <a:xfrm>
            <a:off x="4492752" y="4142232"/>
            <a:ext cx="3203448" cy="868680"/>
          </a:xfrm>
          <a:prstGeom prst="rect">
            <a:avLst/>
          </a:prstGeom>
          <a:noFill/>
          <a:ln/>
        </p:spPr>
        <p:txBody>
          <a:bodyPr wrap="square" lIns="0" tIns="0" rIns="0" bIns="0" rtlCol="0" anchor="t"/>
          <a:lstStyle/>
          <a:p>
            <a:pPr indent="0" marL="0">
              <a:lnSpc>
                <a:spcPct val="120000"/>
              </a:lnSpc>
              <a:buNone/>
            </a:pPr>
            <a:r>
              <a:rPr lang="en-US" sz="1200" dirty="0">
                <a:solidFill>
                  <a:srgbClr val="44506B"/>
                </a:solidFill>
                <a:latin typeface="Calibri" pitchFamily="34" charset="0"/>
                <a:ea typeface="Calibri" pitchFamily="34" charset="-122"/>
                <a:cs typeface="Calibri" pitchFamily="34" charset="-120"/>
              </a:rPr>
              <a:t>South leads in scale; West leads in margin efficiency.</a:t>
            </a:r>
            <a:endParaRPr lang="en-US" sz="1200" dirty="0"/>
          </a:p>
        </p:txBody>
      </p:sp>
      <p:sp>
        <p:nvSpPr>
          <p:cNvPr id="29" name="Shape 27"/>
          <p:cNvSpPr/>
          <p:nvPr/>
        </p:nvSpPr>
        <p:spPr>
          <a:xfrm>
            <a:off x="8125968" y="3429000"/>
            <a:ext cx="3605784" cy="1783080"/>
          </a:xfrm>
          <a:prstGeom prst="roundRect">
            <a:avLst>
              <a:gd name="adj" fmla="val 4615"/>
            </a:avLst>
          </a:prstGeom>
          <a:solidFill>
            <a:srgbClr val="FFFFFF"/>
          </a:solidFill>
          <a:ln w="12700">
            <a:solidFill>
              <a:srgbClr val="DCE3F2"/>
            </a:solidFill>
            <a:prstDash val="solid"/>
          </a:ln>
          <a:effectLst>
            <a:outerShdw sx="100000" sy="100000" kx="0" ky="0" algn="bl" rotWithShape="0" blurRad="76200" dist="25400" dir="5400000">
              <a:srgbClr val="1E2761">
                <a:alpha val="10000"/>
              </a:srgbClr>
            </a:outerShdw>
          </a:effectLst>
        </p:spPr>
      </p:sp>
      <p:sp>
        <p:nvSpPr>
          <p:cNvPr id="30" name="Shape 28"/>
          <p:cNvSpPr/>
          <p:nvPr/>
        </p:nvSpPr>
        <p:spPr>
          <a:xfrm>
            <a:off x="8327136" y="3611880"/>
            <a:ext cx="384048" cy="384048"/>
          </a:xfrm>
          <a:prstGeom prst="roundRect">
            <a:avLst>
              <a:gd name="adj" fmla="val 50000"/>
            </a:avLst>
          </a:prstGeom>
          <a:solidFill>
            <a:srgbClr val="1E2761"/>
          </a:solidFill>
          <a:ln/>
        </p:spPr>
      </p:sp>
      <p:sp>
        <p:nvSpPr>
          <p:cNvPr id="31" name="Text 29"/>
          <p:cNvSpPr/>
          <p:nvPr/>
        </p:nvSpPr>
        <p:spPr>
          <a:xfrm>
            <a:off x="8327136" y="3611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8811768" y="3630168"/>
            <a:ext cx="2691384" cy="347472"/>
          </a:xfrm>
          <a:prstGeom prst="rect">
            <a:avLst/>
          </a:prstGeom>
          <a:noFill/>
          <a:ln/>
        </p:spPr>
        <p:txBody>
          <a:bodyPr wrap="square" lIns="0" tIns="0" rIns="0" bIns="0" rtlCol="0" anchor="ctr"/>
          <a:lstStyle/>
          <a:p>
            <a:pPr indent="0" marL="0">
              <a:buNone/>
            </a:pPr>
            <a:r>
              <a:rPr lang="en-US" sz="1150" b="1" spc="100" kern="0" dirty="0">
                <a:solidFill>
                  <a:srgbClr val="D99B2B"/>
                </a:solidFill>
                <a:latin typeface="Calibri" pitchFamily="34" charset="0"/>
                <a:ea typeface="Calibri" pitchFamily="34" charset="-122"/>
                <a:cs typeface="Calibri" pitchFamily="34" charset="-120"/>
              </a:rPr>
              <a:t>CHANNEL</a:t>
            </a:r>
            <a:endParaRPr lang="en-US" sz="1150" dirty="0"/>
          </a:p>
        </p:txBody>
      </p:sp>
      <p:sp>
        <p:nvSpPr>
          <p:cNvPr id="33" name="Text 31"/>
          <p:cNvSpPr/>
          <p:nvPr/>
        </p:nvSpPr>
        <p:spPr>
          <a:xfrm>
            <a:off x="8327136" y="4142232"/>
            <a:ext cx="3203448" cy="868680"/>
          </a:xfrm>
          <a:prstGeom prst="rect">
            <a:avLst/>
          </a:prstGeom>
          <a:noFill/>
          <a:ln/>
        </p:spPr>
        <p:txBody>
          <a:bodyPr wrap="square" lIns="0" tIns="0" rIns="0" bIns="0" rtlCol="0" anchor="t"/>
          <a:lstStyle/>
          <a:p>
            <a:pPr indent="0" marL="0">
              <a:lnSpc>
                <a:spcPct val="120000"/>
              </a:lnSpc>
              <a:buNone/>
            </a:pPr>
            <a:r>
              <a:rPr lang="en-US" sz="1200" dirty="0">
                <a:solidFill>
                  <a:srgbClr val="44506B"/>
                </a:solidFill>
                <a:latin typeface="Calibri" pitchFamily="34" charset="0"/>
                <a:ea typeface="Calibri" pitchFamily="34" charset="-122"/>
                <a:cs typeface="Calibri" pitchFamily="34" charset="-120"/>
              </a:rPr>
              <a:t>Store leads in absolute profit; Online leads in margin and order volume.</a:t>
            </a:r>
            <a:endParaRPr lang="en-US" sz="1200" dirty="0"/>
          </a:p>
        </p:txBody>
      </p:sp>
      <p:sp>
        <p:nvSpPr>
          <p:cNvPr id="34" name="Text 3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850" dirty="0">
                <a:solidFill>
                  <a:srgbClr val="5B6785"/>
                </a:solidFill>
                <a:latin typeface="Calibri" pitchFamily="34" charset="0"/>
                <a:ea typeface="Calibri" pitchFamily="34" charset="-122"/>
                <a:cs typeface="Calibri" pitchFamily="34" charset="-120"/>
              </a:rPr>
              <a:t>NexaMart Customer Profitability &amp; Revenue Intelligence</a:t>
            </a:r>
            <a:endParaRPr lang="en-US" sz="850" dirty="0"/>
          </a:p>
        </p:txBody>
      </p:sp>
      <p:sp>
        <p:nvSpPr>
          <p:cNvPr id="35" name="Text 3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850" dirty="0">
                <a:solidFill>
                  <a:srgbClr val="5B6785"/>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indent="0" marL="0">
              <a:buNone/>
            </a:pPr>
            <a:r>
              <a:rPr lang="en-US" sz="1150" b="1" spc="200" kern="0" dirty="0">
                <a:solidFill>
                  <a:srgbClr val="D99B2B"/>
                </a:solidFill>
                <a:latin typeface="Calibri" pitchFamily="34" charset="0"/>
                <a:ea typeface="Calibri" pitchFamily="34" charset="-122"/>
                <a:cs typeface="Calibri" pitchFamily="34" charset="-120"/>
              </a:rPr>
              <a:t>RECOMMENDATIONS</a:t>
            </a:r>
            <a:endParaRPr lang="en-US" sz="1150" dirty="0"/>
          </a:p>
        </p:txBody>
      </p:sp>
      <p:sp>
        <p:nvSpPr>
          <p:cNvPr id="3" name="Text 1"/>
          <p:cNvSpPr/>
          <p:nvPr/>
        </p:nvSpPr>
        <p:spPr>
          <a:xfrm>
            <a:off x="457200" y="566928"/>
            <a:ext cx="105156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Management Recommendations</a:t>
            </a:r>
            <a:endParaRPr lang="en-US" sz="3000" dirty="0"/>
          </a:p>
        </p:txBody>
      </p:sp>
      <p:sp>
        <p:nvSpPr>
          <p:cNvPr id="4" name="Shape 2"/>
          <p:cNvSpPr/>
          <p:nvPr/>
        </p:nvSpPr>
        <p:spPr>
          <a:xfrm>
            <a:off x="457200" y="1417320"/>
            <a:ext cx="5440680" cy="1005840"/>
          </a:xfrm>
          <a:prstGeom prst="roundRect">
            <a:avLst>
              <a:gd name="adj" fmla="val 7273"/>
            </a:avLst>
          </a:prstGeom>
          <a:solidFill>
            <a:srgbClr val="EEF3FC"/>
          </a:solidFill>
          <a:ln w="12700">
            <a:solidFill>
              <a:srgbClr val="DCE3F2"/>
            </a:solidFill>
            <a:prstDash val="solid"/>
          </a:ln>
        </p:spPr>
      </p:sp>
      <p:sp>
        <p:nvSpPr>
          <p:cNvPr id="5" name="Shape 3"/>
          <p:cNvSpPr/>
          <p:nvPr/>
        </p:nvSpPr>
        <p:spPr>
          <a:xfrm>
            <a:off x="621792" y="1719072"/>
            <a:ext cx="402336" cy="402336"/>
          </a:xfrm>
          <a:prstGeom prst="roundRect">
            <a:avLst>
              <a:gd name="adj" fmla="val 50000"/>
            </a:avLst>
          </a:prstGeom>
          <a:solidFill>
            <a:srgbClr val="1E2761"/>
          </a:solidFill>
          <a:ln/>
        </p:spPr>
      </p:sp>
      <p:sp>
        <p:nvSpPr>
          <p:cNvPr id="6" name="Text 4"/>
          <p:cNvSpPr/>
          <p:nvPr/>
        </p:nvSpPr>
        <p:spPr>
          <a:xfrm>
            <a:off x="621792" y="17190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170432" y="1508760"/>
            <a:ext cx="4526280" cy="822960"/>
          </a:xfrm>
          <a:prstGeom prst="rect">
            <a:avLst/>
          </a:prstGeom>
          <a:noFill/>
          <a:ln/>
        </p:spPr>
        <p:txBody>
          <a:bodyPr wrap="square" lIns="0" tIns="0" rIns="0" bIns="0" rtlCol="0" anchor="ctr"/>
          <a:lstStyle/>
          <a:p>
            <a:pPr indent="0" marL="0">
              <a:lnSpc>
                <a:spcPct val="115000"/>
              </a:lnSpc>
              <a:buNone/>
            </a:pPr>
            <a:r>
              <a:rPr lang="en-US" sz="1150" dirty="0">
                <a:solidFill>
                  <a:srgbClr val="44506B"/>
                </a:solidFill>
                <a:latin typeface="Calibri" pitchFamily="34" charset="0"/>
                <a:ea typeface="Calibri" pitchFamily="34" charset="-122"/>
                <a:cs typeface="Calibri" pitchFamily="34" charset="-120"/>
              </a:rPr>
              <a:t>Protect and retain high-profit Corporate customers.</a:t>
            </a:r>
            <a:endParaRPr lang="en-US" sz="1150" dirty="0"/>
          </a:p>
        </p:txBody>
      </p:sp>
      <p:sp>
        <p:nvSpPr>
          <p:cNvPr id="8" name="Shape 6"/>
          <p:cNvSpPr/>
          <p:nvPr/>
        </p:nvSpPr>
        <p:spPr>
          <a:xfrm>
            <a:off x="457200" y="2587752"/>
            <a:ext cx="5440680" cy="1005840"/>
          </a:xfrm>
          <a:prstGeom prst="roundRect">
            <a:avLst>
              <a:gd name="adj" fmla="val 7273"/>
            </a:avLst>
          </a:prstGeom>
          <a:solidFill>
            <a:srgbClr val="EEF3FC"/>
          </a:solidFill>
          <a:ln w="12700">
            <a:solidFill>
              <a:srgbClr val="DCE3F2"/>
            </a:solidFill>
            <a:prstDash val="solid"/>
          </a:ln>
        </p:spPr>
      </p:sp>
      <p:sp>
        <p:nvSpPr>
          <p:cNvPr id="9" name="Shape 7"/>
          <p:cNvSpPr/>
          <p:nvPr/>
        </p:nvSpPr>
        <p:spPr>
          <a:xfrm>
            <a:off x="621792" y="2889504"/>
            <a:ext cx="402336" cy="402336"/>
          </a:xfrm>
          <a:prstGeom prst="roundRect">
            <a:avLst>
              <a:gd name="adj" fmla="val 50000"/>
            </a:avLst>
          </a:prstGeom>
          <a:solidFill>
            <a:srgbClr val="1E2761"/>
          </a:solidFill>
          <a:ln/>
        </p:spPr>
      </p:sp>
      <p:sp>
        <p:nvSpPr>
          <p:cNvPr id="10" name="Text 8"/>
          <p:cNvSpPr/>
          <p:nvPr/>
        </p:nvSpPr>
        <p:spPr>
          <a:xfrm>
            <a:off x="621792" y="28895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70432" y="2679192"/>
            <a:ext cx="4526280" cy="822960"/>
          </a:xfrm>
          <a:prstGeom prst="rect">
            <a:avLst/>
          </a:prstGeom>
          <a:noFill/>
          <a:ln/>
        </p:spPr>
        <p:txBody>
          <a:bodyPr wrap="square" lIns="0" tIns="0" rIns="0" bIns="0" rtlCol="0" anchor="ctr"/>
          <a:lstStyle/>
          <a:p>
            <a:pPr indent="0" marL="0">
              <a:lnSpc>
                <a:spcPct val="115000"/>
              </a:lnSpc>
              <a:buNone/>
            </a:pPr>
            <a:r>
              <a:rPr lang="en-US" sz="1150" dirty="0">
                <a:solidFill>
                  <a:srgbClr val="44506B"/>
                </a:solidFill>
                <a:latin typeface="Calibri" pitchFamily="34" charset="0"/>
                <a:ea typeface="Calibri" pitchFamily="34" charset="-122"/>
                <a:cs typeface="Calibri" pitchFamily="34" charset="-120"/>
              </a:rPr>
              <a:t>Investigate whether Corporate margins can be improved via pricing, discount management or product mix.</a:t>
            </a:r>
            <a:endParaRPr lang="en-US" sz="1150" dirty="0"/>
          </a:p>
        </p:txBody>
      </p:sp>
      <p:sp>
        <p:nvSpPr>
          <p:cNvPr id="12" name="Shape 10"/>
          <p:cNvSpPr/>
          <p:nvPr/>
        </p:nvSpPr>
        <p:spPr>
          <a:xfrm>
            <a:off x="457200" y="3758184"/>
            <a:ext cx="5440680" cy="1005840"/>
          </a:xfrm>
          <a:prstGeom prst="roundRect">
            <a:avLst>
              <a:gd name="adj" fmla="val 7273"/>
            </a:avLst>
          </a:prstGeom>
          <a:solidFill>
            <a:srgbClr val="EEF3FC"/>
          </a:solidFill>
          <a:ln w="12700">
            <a:solidFill>
              <a:srgbClr val="DCE3F2"/>
            </a:solidFill>
            <a:prstDash val="solid"/>
          </a:ln>
        </p:spPr>
      </p:sp>
      <p:sp>
        <p:nvSpPr>
          <p:cNvPr id="13" name="Shape 11"/>
          <p:cNvSpPr/>
          <p:nvPr/>
        </p:nvSpPr>
        <p:spPr>
          <a:xfrm>
            <a:off x="621792" y="4059936"/>
            <a:ext cx="402336" cy="402336"/>
          </a:xfrm>
          <a:prstGeom prst="roundRect">
            <a:avLst>
              <a:gd name="adj" fmla="val 50000"/>
            </a:avLst>
          </a:prstGeom>
          <a:solidFill>
            <a:srgbClr val="1E2761"/>
          </a:solidFill>
          <a:ln/>
        </p:spPr>
      </p:sp>
      <p:sp>
        <p:nvSpPr>
          <p:cNvPr id="14" name="Text 12"/>
          <p:cNvSpPr/>
          <p:nvPr/>
        </p:nvSpPr>
        <p:spPr>
          <a:xfrm>
            <a:off x="621792" y="40599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170432" y="3849624"/>
            <a:ext cx="4526280" cy="822960"/>
          </a:xfrm>
          <a:prstGeom prst="rect">
            <a:avLst/>
          </a:prstGeom>
          <a:noFill/>
          <a:ln/>
        </p:spPr>
        <p:txBody>
          <a:bodyPr wrap="square" lIns="0" tIns="0" rIns="0" bIns="0" rtlCol="0" anchor="ctr"/>
          <a:lstStyle/>
          <a:p>
            <a:pPr indent="0" marL="0">
              <a:lnSpc>
                <a:spcPct val="115000"/>
              </a:lnSpc>
              <a:buNone/>
            </a:pPr>
            <a:r>
              <a:rPr lang="en-US" sz="1150" dirty="0">
                <a:solidFill>
                  <a:srgbClr val="44506B"/>
                </a:solidFill>
                <a:latin typeface="Calibri" pitchFamily="34" charset="0"/>
                <a:ea typeface="Calibri" pitchFamily="34" charset="-122"/>
                <a:cs typeface="Calibri" pitchFamily="34" charset="-120"/>
              </a:rPr>
              <a:t>Use West as a benchmark for regional margin efficiency.</a:t>
            </a:r>
            <a:endParaRPr lang="en-US" sz="1150" dirty="0"/>
          </a:p>
        </p:txBody>
      </p:sp>
      <p:sp>
        <p:nvSpPr>
          <p:cNvPr id="16" name="Shape 14"/>
          <p:cNvSpPr/>
          <p:nvPr/>
        </p:nvSpPr>
        <p:spPr>
          <a:xfrm>
            <a:off x="457200" y="4928616"/>
            <a:ext cx="5440680" cy="1005840"/>
          </a:xfrm>
          <a:prstGeom prst="roundRect">
            <a:avLst>
              <a:gd name="adj" fmla="val 7273"/>
            </a:avLst>
          </a:prstGeom>
          <a:solidFill>
            <a:srgbClr val="EEF3FC"/>
          </a:solidFill>
          <a:ln w="12700">
            <a:solidFill>
              <a:srgbClr val="DCE3F2"/>
            </a:solidFill>
            <a:prstDash val="solid"/>
          </a:ln>
        </p:spPr>
      </p:sp>
      <p:sp>
        <p:nvSpPr>
          <p:cNvPr id="17" name="Shape 15"/>
          <p:cNvSpPr/>
          <p:nvPr/>
        </p:nvSpPr>
        <p:spPr>
          <a:xfrm>
            <a:off x="621792" y="5230368"/>
            <a:ext cx="402336" cy="402336"/>
          </a:xfrm>
          <a:prstGeom prst="roundRect">
            <a:avLst>
              <a:gd name="adj" fmla="val 50000"/>
            </a:avLst>
          </a:prstGeom>
          <a:solidFill>
            <a:srgbClr val="1E2761"/>
          </a:solidFill>
          <a:ln/>
        </p:spPr>
      </p:sp>
      <p:sp>
        <p:nvSpPr>
          <p:cNvPr id="18" name="Text 16"/>
          <p:cNvSpPr/>
          <p:nvPr/>
        </p:nvSpPr>
        <p:spPr>
          <a:xfrm>
            <a:off x="621792" y="52303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170432" y="5020056"/>
            <a:ext cx="4526280" cy="822960"/>
          </a:xfrm>
          <a:prstGeom prst="rect">
            <a:avLst/>
          </a:prstGeom>
          <a:noFill/>
          <a:ln/>
        </p:spPr>
        <p:txBody>
          <a:bodyPr wrap="square" lIns="0" tIns="0" rIns="0" bIns="0" rtlCol="0" anchor="ctr"/>
          <a:lstStyle/>
          <a:p>
            <a:pPr indent="0" marL="0">
              <a:lnSpc>
                <a:spcPct val="115000"/>
              </a:lnSpc>
              <a:buNone/>
            </a:pPr>
            <a:r>
              <a:rPr lang="en-US" sz="1150" dirty="0">
                <a:solidFill>
                  <a:srgbClr val="44506B"/>
                </a:solidFill>
                <a:latin typeface="Calibri" pitchFamily="34" charset="0"/>
                <a:ea typeface="Calibri" pitchFamily="34" charset="-122"/>
                <a:cs typeface="Calibri" pitchFamily="34" charset="-120"/>
              </a:rPr>
              <a:t>Prioritize Electronics — it combines significant revenue with ₹10.44M gross profit at a 32.46% margin.</a:t>
            </a:r>
            <a:endParaRPr lang="en-US" sz="1150" dirty="0"/>
          </a:p>
        </p:txBody>
      </p:sp>
      <p:sp>
        <p:nvSpPr>
          <p:cNvPr id="20" name="Shape 18"/>
          <p:cNvSpPr/>
          <p:nvPr/>
        </p:nvSpPr>
        <p:spPr>
          <a:xfrm>
            <a:off x="6263640" y="1417320"/>
            <a:ext cx="5440680" cy="1005840"/>
          </a:xfrm>
          <a:prstGeom prst="roundRect">
            <a:avLst>
              <a:gd name="adj" fmla="val 7273"/>
            </a:avLst>
          </a:prstGeom>
          <a:solidFill>
            <a:srgbClr val="EEF3FC"/>
          </a:solidFill>
          <a:ln w="12700">
            <a:solidFill>
              <a:srgbClr val="DCE3F2"/>
            </a:solidFill>
            <a:prstDash val="solid"/>
          </a:ln>
        </p:spPr>
      </p:sp>
      <p:sp>
        <p:nvSpPr>
          <p:cNvPr id="21" name="Shape 19"/>
          <p:cNvSpPr/>
          <p:nvPr/>
        </p:nvSpPr>
        <p:spPr>
          <a:xfrm>
            <a:off x="6428232" y="1719072"/>
            <a:ext cx="402336" cy="402336"/>
          </a:xfrm>
          <a:prstGeom prst="roundRect">
            <a:avLst>
              <a:gd name="adj" fmla="val 50000"/>
            </a:avLst>
          </a:prstGeom>
          <a:solidFill>
            <a:srgbClr val="1E2761"/>
          </a:solidFill>
          <a:ln/>
        </p:spPr>
      </p:sp>
      <p:sp>
        <p:nvSpPr>
          <p:cNvPr id="22" name="Text 20"/>
          <p:cNvSpPr/>
          <p:nvPr/>
        </p:nvSpPr>
        <p:spPr>
          <a:xfrm>
            <a:off x="6428232" y="17190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6976872" y="1508760"/>
            <a:ext cx="4526280" cy="822960"/>
          </a:xfrm>
          <a:prstGeom prst="rect">
            <a:avLst/>
          </a:prstGeom>
          <a:noFill/>
          <a:ln/>
        </p:spPr>
        <p:txBody>
          <a:bodyPr wrap="square" lIns="0" tIns="0" rIns="0" bIns="0" rtlCol="0" anchor="ctr"/>
          <a:lstStyle/>
          <a:p>
            <a:pPr indent="0" marL="0">
              <a:lnSpc>
                <a:spcPct val="115000"/>
              </a:lnSpc>
              <a:buNone/>
            </a:pPr>
            <a:r>
              <a:rPr lang="en-US" sz="1150" dirty="0">
                <a:solidFill>
                  <a:srgbClr val="44506B"/>
                </a:solidFill>
                <a:latin typeface="Calibri" pitchFamily="34" charset="0"/>
                <a:ea typeface="Calibri" pitchFamily="34" charset="-122"/>
                <a:cs typeface="Calibri" pitchFamily="34" charset="-120"/>
              </a:rPr>
              <a:t>Evaluate scaling Office Supplies while protecting its 38.74% margin.</a:t>
            </a:r>
            <a:endParaRPr lang="en-US" sz="1150" dirty="0"/>
          </a:p>
        </p:txBody>
      </p:sp>
      <p:sp>
        <p:nvSpPr>
          <p:cNvPr id="24" name="Shape 22"/>
          <p:cNvSpPr/>
          <p:nvPr/>
        </p:nvSpPr>
        <p:spPr>
          <a:xfrm>
            <a:off x="6263640" y="2587752"/>
            <a:ext cx="5440680" cy="1005840"/>
          </a:xfrm>
          <a:prstGeom prst="roundRect">
            <a:avLst>
              <a:gd name="adj" fmla="val 7273"/>
            </a:avLst>
          </a:prstGeom>
          <a:solidFill>
            <a:srgbClr val="EEF3FC"/>
          </a:solidFill>
          <a:ln w="12700">
            <a:solidFill>
              <a:srgbClr val="DCE3F2"/>
            </a:solidFill>
            <a:prstDash val="solid"/>
          </a:ln>
        </p:spPr>
      </p:sp>
      <p:sp>
        <p:nvSpPr>
          <p:cNvPr id="25" name="Shape 23"/>
          <p:cNvSpPr/>
          <p:nvPr/>
        </p:nvSpPr>
        <p:spPr>
          <a:xfrm>
            <a:off x="6428232" y="2889504"/>
            <a:ext cx="402336" cy="402336"/>
          </a:xfrm>
          <a:prstGeom prst="roundRect">
            <a:avLst>
              <a:gd name="adj" fmla="val 50000"/>
            </a:avLst>
          </a:prstGeom>
          <a:solidFill>
            <a:srgbClr val="1E2761"/>
          </a:solidFill>
          <a:ln/>
        </p:spPr>
      </p:sp>
      <p:sp>
        <p:nvSpPr>
          <p:cNvPr id="26" name="Text 24"/>
          <p:cNvSpPr/>
          <p:nvPr/>
        </p:nvSpPr>
        <p:spPr>
          <a:xfrm>
            <a:off x="6428232" y="28895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p:nvPr/>
        </p:nvSpPr>
        <p:spPr>
          <a:xfrm>
            <a:off x="6976872" y="2679192"/>
            <a:ext cx="4526280" cy="822960"/>
          </a:xfrm>
          <a:prstGeom prst="rect">
            <a:avLst/>
          </a:prstGeom>
          <a:noFill/>
          <a:ln/>
        </p:spPr>
        <p:txBody>
          <a:bodyPr wrap="square" lIns="0" tIns="0" rIns="0" bIns="0" rtlCol="0" anchor="ctr"/>
          <a:lstStyle/>
          <a:p>
            <a:pPr indent="0" marL="0">
              <a:lnSpc>
                <a:spcPct val="115000"/>
              </a:lnSpc>
              <a:buNone/>
            </a:pPr>
            <a:r>
              <a:rPr lang="en-US" sz="1150" dirty="0">
                <a:solidFill>
                  <a:srgbClr val="44506B"/>
                </a:solidFill>
                <a:latin typeface="Calibri" pitchFamily="34" charset="0"/>
                <a:ea typeface="Calibri" pitchFamily="34" charset="-122"/>
                <a:cs typeface="Calibri" pitchFamily="34" charset="-120"/>
              </a:rPr>
              <a:t>Expand the Online channel intelligently — higher order volume and higher gross margin.</a:t>
            </a:r>
            <a:endParaRPr lang="en-US" sz="1150" dirty="0"/>
          </a:p>
        </p:txBody>
      </p:sp>
      <p:sp>
        <p:nvSpPr>
          <p:cNvPr id="28" name="Shape 26"/>
          <p:cNvSpPr/>
          <p:nvPr/>
        </p:nvSpPr>
        <p:spPr>
          <a:xfrm>
            <a:off x="6263640" y="3758184"/>
            <a:ext cx="5440680" cy="1005840"/>
          </a:xfrm>
          <a:prstGeom prst="roundRect">
            <a:avLst>
              <a:gd name="adj" fmla="val 7273"/>
            </a:avLst>
          </a:prstGeom>
          <a:solidFill>
            <a:srgbClr val="EEF3FC"/>
          </a:solidFill>
          <a:ln w="12700">
            <a:solidFill>
              <a:srgbClr val="DCE3F2"/>
            </a:solidFill>
            <a:prstDash val="solid"/>
          </a:ln>
        </p:spPr>
      </p:sp>
      <p:sp>
        <p:nvSpPr>
          <p:cNvPr id="29" name="Shape 27"/>
          <p:cNvSpPr/>
          <p:nvPr/>
        </p:nvSpPr>
        <p:spPr>
          <a:xfrm>
            <a:off x="6428232" y="4059936"/>
            <a:ext cx="402336" cy="402336"/>
          </a:xfrm>
          <a:prstGeom prst="roundRect">
            <a:avLst>
              <a:gd name="adj" fmla="val 50000"/>
            </a:avLst>
          </a:prstGeom>
          <a:solidFill>
            <a:srgbClr val="1E2761"/>
          </a:solidFill>
          <a:ln/>
        </p:spPr>
      </p:sp>
      <p:sp>
        <p:nvSpPr>
          <p:cNvPr id="30" name="Text 28"/>
          <p:cNvSpPr/>
          <p:nvPr/>
        </p:nvSpPr>
        <p:spPr>
          <a:xfrm>
            <a:off x="6428232" y="40599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1" name="Text 29"/>
          <p:cNvSpPr/>
          <p:nvPr/>
        </p:nvSpPr>
        <p:spPr>
          <a:xfrm>
            <a:off x="6976872" y="3849624"/>
            <a:ext cx="4526280" cy="822960"/>
          </a:xfrm>
          <a:prstGeom prst="rect">
            <a:avLst/>
          </a:prstGeom>
          <a:noFill/>
          <a:ln/>
        </p:spPr>
        <p:txBody>
          <a:bodyPr wrap="square" lIns="0" tIns="0" rIns="0" bIns="0" rtlCol="0" anchor="ctr"/>
          <a:lstStyle/>
          <a:p>
            <a:pPr indent="0" marL="0">
              <a:lnSpc>
                <a:spcPct val="115000"/>
              </a:lnSpc>
              <a:buNone/>
            </a:pPr>
            <a:r>
              <a:rPr lang="en-US" sz="1150" dirty="0">
                <a:solidFill>
                  <a:srgbClr val="44506B"/>
                </a:solidFill>
                <a:latin typeface="Calibri" pitchFamily="34" charset="0"/>
                <a:ea typeface="Calibri" pitchFamily="34" charset="-122"/>
                <a:cs typeface="Calibri" pitchFamily="34" charset="-120"/>
              </a:rPr>
              <a:t>Shift from broad discounting toward targeted discounting based on profitability.</a:t>
            </a:r>
            <a:endParaRPr lang="en-US" sz="1150" dirty="0"/>
          </a:p>
        </p:txBody>
      </p:sp>
      <p:sp>
        <p:nvSpPr>
          <p:cNvPr id="32" name="Text 30"/>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850" dirty="0">
                <a:solidFill>
                  <a:srgbClr val="5B6785"/>
                </a:solidFill>
                <a:latin typeface="Calibri" pitchFamily="34" charset="0"/>
                <a:ea typeface="Calibri" pitchFamily="34" charset="-122"/>
                <a:cs typeface="Calibri" pitchFamily="34" charset="-120"/>
              </a:rPr>
              <a:t>NexaMart Customer Profitability &amp; Revenue Intelligence</a:t>
            </a:r>
            <a:endParaRPr lang="en-US" sz="850" dirty="0"/>
          </a:p>
        </p:txBody>
      </p:sp>
      <p:sp>
        <p:nvSpPr>
          <p:cNvPr id="33" name="Text 31"/>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850" dirty="0">
                <a:solidFill>
                  <a:srgbClr val="5B6785"/>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011680" y="-2011680"/>
            <a:ext cx="4572000" cy="4572000"/>
          </a:xfrm>
          <a:prstGeom prst="ellipse">
            <a:avLst/>
          </a:prstGeom>
          <a:solidFill>
            <a:srgbClr val="141B47"/>
          </a:solidFill>
          <a:ln/>
        </p:spPr>
      </p:sp>
      <p:sp>
        <p:nvSpPr>
          <p:cNvPr id="3" name="Text 1"/>
          <p:cNvSpPr/>
          <p:nvPr/>
        </p:nvSpPr>
        <p:spPr>
          <a:xfrm>
            <a:off x="822960" y="640080"/>
            <a:ext cx="7315200" cy="320040"/>
          </a:xfrm>
          <a:prstGeom prst="rect">
            <a:avLst/>
          </a:prstGeom>
          <a:noFill/>
          <a:ln/>
        </p:spPr>
        <p:txBody>
          <a:bodyPr wrap="square" lIns="0" tIns="0" rIns="0" bIns="0" rtlCol="0" anchor="ctr"/>
          <a:lstStyle/>
          <a:p>
            <a:pPr indent="0" marL="0">
              <a:buNone/>
            </a:pPr>
            <a:r>
              <a:rPr lang="en-US" sz="1200" b="1" spc="250" kern="0" dirty="0">
                <a:solidFill>
                  <a:srgbClr val="D99B2B"/>
                </a:solidFill>
                <a:latin typeface="Calibri" pitchFamily="34" charset="0"/>
                <a:ea typeface="Calibri" pitchFamily="34" charset="-122"/>
                <a:cs typeface="Calibri" pitchFamily="34" charset="-120"/>
              </a:rPr>
              <a:t>CONCLUSION</a:t>
            </a:r>
            <a:endParaRPr lang="en-US" sz="1200" dirty="0"/>
          </a:p>
        </p:txBody>
      </p:sp>
      <p:sp>
        <p:nvSpPr>
          <p:cNvPr id="4" name="Text 2"/>
          <p:cNvSpPr/>
          <p:nvPr/>
        </p:nvSpPr>
        <p:spPr>
          <a:xfrm>
            <a:off x="822960" y="960120"/>
            <a:ext cx="9601200" cy="1280160"/>
          </a:xfrm>
          <a:prstGeom prst="rect">
            <a:avLst/>
          </a:prstGeom>
          <a:noFill/>
          <a:ln/>
        </p:spPr>
        <p:txBody>
          <a:bodyPr wrap="square" lIns="0" tIns="0" rIns="0" bIns="0" rtlCol="0" anchor="ctr"/>
          <a:lstStyle/>
          <a:p>
            <a:pPr indent="0" marL="0">
              <a:lnSpc>
                <a:spcPct val="108000"/>
              </a:lnSpc>
              <a:buNone/>
            </a:pPr>
            <a:r>
              <a:rPr lang="en-US" sz="3000" b="1" dirty="0">
                <a:solidFill>
                  <a:srgbClr val="FFFFFF"/>
                </a:solidFill>
                <a:latin typeface="Cambria" pitchFamily="34" charset="0"/>
                <a:ea typeface="Cambria" pitchFamily="34" charset="-122"/>
                <a:cs typeface="Cambria" pitchFamily="34" charset="-120"/>
              </a:rPr>
              <a:t>From Transaction Data to</a:t>
            </a:r>
            <a:endParaRPr lang="en-US" sz="3000" dirty="0"/>
          </a:p>
          <a:p>
            <a:pPr indent="0" marL="0">
              <a:lnSpc>
                <a:spcPct val="108000"/>
              </a:lnSpc>
              <a:buNone/>
            </a:pPr>
            <a:r>
              <a:rPr lang="en-US" sz="3000" b="1" dirty="0">
                <a:solidFill>
                  <a:srgbClr val="FFFFFF"/>
                </a:solidFill>
                <a:latin typeface="Cambria" pitchFamily="34" charset="0"/>
                <a:ea typeface="Cambria" pitchFamily="34" charset="-122"/>
                <a:cs typeface="Cambria" pitchFamily="34" charset="-120"/>
              </a:rPr>
              <a:t>Profitability Intelligence</a:t>
            </a:r>
            <a:endParaRPr lang="en-US" sz="3000" dirty="0"/>
          </a:p>
        </p:txBody>
      </p:sp>
      <p:sp>
        <p:nvSpPr>
          <p:cNvPr id="5" name="Shape 3"/>
          <p:cNvSpPr/>
          <p:nvPr/>
        </p:nvSpPr>
        <p:spPr>
          <a:xfrm>
            <a:off x="850392" y="2514600"/>
            <a:ext cx="1965960" cy="960120"/>
          </a:xfrm>
          <a:prstGeom prst="roundRect">
            <a:avLst>
              <a:gd name="adj" fmla="val 8571"/>
            </a:avLst>
          </a:prstGeom>
          <a:solidFill>
            <a:srgbClr val="2A3570"/>
          </a:solidFill>
          <a:ln w="12700">
            <a:solidFill>
              <a:srgbClr val="3B4685"/>
            </a:solidFill>
            <a:prstDash val="solid"/>
          </a:ln>
        </p:spPr>
      </p:sp>
      <p:sp>
        <p:nvSpPr>
          <p:cNvPr id="6" name="Text 4"/>
          <p:cNvSpPr/>
          <p:nvPr/>
        </p:nvSpPr>
        <p:spPr>
          <a:xfrm>
            <a:off x="923544" y="2514600"/>
            <a:ext cx="1819656" cy="960120"/>
          </a:xfrm>
          <a:prstGeom prst="rect">
            <a:avLst/>
          </a:prstGeom>
          <a:noFill/>
          <a:ln/>
        </p:spPr>
        <p:txBody>
          <a:bodyPr wrap="square" lIns="0" tIns="0" rIns="0" bIns="0"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10,000</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Transactions</a:t>
            </a:r>
            <a:endParaRPr lang="en-US" sz="1100" dirty="0"/>
          </a:p>
        </p:txBody>
      </p:sp>
      <p:sp>
        <p:nvSpPr>
          <p:cNvPr id="7" name="Text 5"/>
          <p:cNvSpPr/>
          <p:nvPr/>
        </p:nvSpPr>
        <p:spPr>
          <a:xfrm>
            <a:off x="2816352" y="2514600"/>
            <a:ext cx="164592" cy="960120"/>
          </a:xfrm>
          <a:prstGeom prst="rect">
            <a:avLst/>
          </a:prstGeom>
          <a:noFill/>
          <a:ln/>
        </p:spPr>
        <p:txBody>
          <a:bodyPr wrap="square" lIns="0" tIns="0" rIns="0" bIns="0" rtlCol="0" anchor="ctr"/>
          <a:lstStyle/>
          <a:p>
            <a:pPr algn="ctr" indent="0" marL="0">
              <a:buNone/>
            </a:pPr>
            <a:r>
              <a:rPr lang="en-US" sz="1400" b="1" dirty="0">
                <a:solidFill>
                  <a:srgbClr val="CADCFC"/>
                </a:solidFill>
              </a:rPr>
              <a:t>→</a:t>
            </a:r>
            <a:endParaRPr lang="en-US" sz="1400" dirty="0"/>
          </a:p>
        </p:txBody>
      </p:sp>
      <p:sp>
        <p:nvSpPr>
          <p:cNvPr id="8" name="Shape 6"/>
          <p:cNvSpPr/>
          <p:nvPr/>
        </p:nvSpPr>
        <p:spPr>
          <a:xfrm>
            <a:off x="2980944" y="2514600"/>
            <a:ext cx="1965960" cy="960120"/>
          </a:xfrm>
          <a:prstGeom prst="roundRect">
            <a:avLst>
              <a:gd name="adj" fmla="val 8571"/>
            </a:avLst>
          </a:prstGeom>
          <a:solidFill>
            <a:srgbClr val="2A3570"/>
          </a:solidFill>
          <a:ln w="12700">
            <a:solidFill>
              <a:srgbClr val="3B4685"/>
            </a:solidFill>
            <a:prstDash val="solid"/>
          </a:ln>
        </p:spPr>
      </p:sp>
      <p:sp>
        <p:nvSpPr>
          <p:cNvPr id="9" name="Text 7"/>
          <p:cNvSpPr/>
          <p:nvPr/>
        </p:nvSpPr>
        <p:spPr>
          <a:xfrm>
            <a:off x="3054096" y="2514600"/>
            <a:ext cx="1819656" cy="960120"/>
          </a:xfrm>
          <a:prstGeom prst="rect">
            <a:avLst/>
          </a:prstGeom>
          <a:noFill/>
          <a:ln/>
        </p:spPr>
        <p:txBody>
          <a:bodyPr wrap="square" lIns="0" tIns="0" rIns="0" bIns="0"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SQL + Python</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Analysis</a:t>
            </a:r>
            <a:endParaRPr lang="en-US" sz="1100" dirty="0"/>
          </a:p>
        </p:txBody>
      </p:sp>
      <p:sp>
        <p:nvSpPr>
          <p:cNvPr id="10" name="Text 8"/>
          <p:cNvSpPr/>
          <p:nvPr/>
        </p:nvSpPr>
        <p:spPr>
          <a:xfrm>
            <a:off x="4946904" y="2514600"/>
            <a:ext cx="164592" cy="960120"/>
          </a:xfrm>
          <a:prstGeom prst="rect">
            <a:avLst/>
          </a:prstGeom>
          <a:noFill/>
          <a:ln/>
        </p:spPr>
        <p:txBody>
          <a:bodyPr wrap="square" lIns="0" tIns="0" rIns="0" bIns="0" rtlCol="0" anchor="ctr"/>
          <a:lstStyle/>
          <a:p>
            <a:pPr algn="ctr" indent="0" marL="0">
              <a:buNone/>
            </a:pPr>
            <a:r>
              <a:rPr lang="en-US" sz="1400" b="1" dirty="0">
                <a:solidFill>
                  <a:srgbClr val="CADCFC"/>
                </a:solidFill>
              </a:rPr>
              <a:t>→</a:t>
            </a:r>
            <a:endParaRPr lang="en-US" sz="1400" dirty="0"/>
          </a:p>
        </p:txBody>
      </p:sp>
      <p:sp>
        <p:nvSpPr>
          <p:cNvPr id="11" name="Shape 9"/>
          <p:cNvSpPr/>
          <p:nvPr/>
        </p:nvSpPr>
        <p:spPr>
          <a:xfrm>
            <a:off x="5111496" y="2514600"/>
            <a:ext cx="1965960" cy="960120"/>
          </a:xfrm>
          <a:prstGeom prst="roundRect">
            <a:avLst>
              <a:gd name="adj" fmla="val 8571"/>
            </a:avLst>
          </a:prstGeom>
          <a:solidFill>
            <a:srgbClr val="2A3570"/>
          </a:solidFill>
          <a:ln w="12700">
            <a:solidFill>
              <a:srgbClr val="3B4685"/>
            </a:solidFill>
            <a:prstDash val="solid"/>
          </a:ln>
        </p:spPr>
      </p:sp>
      <p:sp>
        <p:nvSpPr>
          <p:cNvPr id="12" name="Text 10"/>
          <p:cNvSpPr/>
          <p:nvPr/>
        </p:nvSpPr>
        <p:spPr>
          <a:xfrm>
            <a:off x="5184648" y="2514600"/>
            <a:ext cx="1819656" cy="960120"/>
          </a:xfrm>
          <a:prstGeom prst="rect">
            <a:avLst/>
          </a:prstGeom>
          <a:noFill/>
          <a:ln/>
        </p:spPr>
        <p:txBody>
          <a:bodyPr wrap="square" lIns="0" tIns="0" rIns="0" bIns="0"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Power BI</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Intelligence</a:t>
            </a:r>
            <a:endParaRPr lang="en-US" sz="1100" dirty="0"/>
          </a:p>
        </p:txBody>
      </p:sp>
      <p:sp>
        <p:nvSpPr>
          <p:cNvPr id="13" name="Text 11"/>
          <p:cNvSpPr/>
          <p:nvPr/>
        </p:nvSpPr>
        <p:spPr>
          <a:xfrm>
            <a:off x="7077456" y="2514600"/>
            <a:ext cx="164592" cy="960120"/>
          </a:xfrm>
          <a:prstGeom prst="rect">
            <a:avLst/>
          </a:prstGeom>
          <a:noFill/>
          <a:ln/>
        </p:spPr>
        <p:txBody>
          <a:bodyPr wrap="square" lIns="0" tIns="0" rIns="0" bIns="0" rtlCol="0" anchor="ctr"/>
          <a:lstStyle/>
          <a:p>
            <a:pPr algn="ctr" indent="0" marL="0">
              <a:buNone/>
            </a:pPr>
            <a:r>
              <a:rPr lang="en-US" sz="1400" b="1" dirty="0">
                <a:solidFill>
                  <a:srgbClr val="CADCFC"/>
                </a:solidFill>
              </a:rPr>
              <a:t>→</a:t>
            </a:r>
            <a:endParaRPr lang="en-US" sz="1400" dirty="0"/>
          </a:p>
        </p:txBody>
      </p:sp>
      <p:sp>
        <p:nvSpPr>
          <p:cNvPr id="14" name="Shape 12"/>
          <p:cNvSpPr/>
          <p:nvPr/>
        </p:nvSpPr>
        <p:spPr>
          <a:xfrm>
            <a:off x="7242048" y="2514600"/>
            <a:ext cx="1965960" cy="960120"/>
          </a:xfrm>
          <a:prstGeom prst="roundRect">
            <a:avLst>
              <a:gd name="adj" fmla="val 8571"/>
            </a:avLst>
          </a:prstGeom>
          <a:solidFill>
            <a:srgbClr val="2A3570"/>
          </a:solidFill>
          <a:ln w="12700">
            <a:solidFill>
              <a:srgbClr val="3B4685"/>
            </a:solidFill>
            <a:prstDash val="solid"/>
          </a:ln>
        </p:spPr>
      </p:sp>
      <p:sp>
        <p:nvSpPr>
          <p:cNvPr id="15" name="Text 13"/>
          <p:cNvSpPr/>
          <p:nvPr/>
        </p:nvSpPr>
        <p:spPr>
          <a:xfrm>
            <a:off x="7315200" y="2514600"/>
            <a:ext cx="1819656" cy="960120"/>
          </a:xfrm>
          <a:prstGeom prst="rect">
            <a:avLst/>
          </a:prstGeom>
          <a:noFill/>
          <a:ln/>
        </p:spPr>
        <p:txBody>
          <a:bodyPr wrap="square" lIns="0" tIns="0" rIns="0" bIns="0"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Segment-Level</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Insights</a:t>
            </a:r>
            <a:endParaRPr lang="en-US" sz="1100" dirty="0"/>
          </a:p>
        </p:txBody>
      </p:sp>
      <p:sp>
        <p:nvSpPr>
          <p:cNvPr id="16" name="Text 14"/>
          <p:cNvSpPr/>
          <p:nvPr/>
        </p:nvSpPr>
        <p:spPr>
          <a:xfrm>
            <a:off x="9208008" y="2514600"/>
            <a:ext cx="164592" cy="960120"/>
          </a:xfrm>
          <a:prstGeom prst="rect">
            <a:avLst/>
          </a:prstGeom>
          <a:noFill/>
          <a:ln/>
        </p:spPr>
        <p:txBody>
          <a:bodyPr wrap="square" lIns="0" tIns="0" rIns="0" bIns="0" rtlCol="0" anchor="ctr"/>
          <a:lstStyle/>
          <a:p>
            <a:pPr algn="ctr" indent="0" marL="0">
              <a:buNone/>
            </a:pPr>
            <a:r>
              <a:rPr lang="en-US" sz="1400" b="1" dirty="0">
                <a:solidFill>
                  <a:srgbClr val="CADCFC"/>
                </a:solidFill>
              </a:rPr>
              <a:t>→</a:t>
            </a:r>
            <a:endParaRPr lang="en-US" sz="1400" dirty="0"/>
          </a:p>
        </p:txBody>
      </p:sp>
      <p:sp>
        <p:nvSpPr>
          <p:cNvPr id="17" name="Shape 15"/>
          <p:cNvSpPr/>
          <p:nvPr/>
        </p:nvSpPr>
        <p:spPr>
          <a:xfrm>
            <a:off x="9372600" y="2514600"/>
            <a:ext cx="1965960" cy="960120"/>
          </a:xfrm>
          <a:prstGeom prst="roundRect">
            <a:avLst>
              <a:gd name="adj" fmla="val 8571"/>
            </a:avLst>
          </a:prstGeom>
          <a:solidFill>
            <a:srgbClr val="2A3570"/>
          </a:solidFill>
          <a:ln w="12700">
            <a:solidFill>
              <a:srgbClr val="3B4685"/>
            </a:solidFill>
            <a:prstDash val="solid"/>
          </a:ln>
        </p:spPr>
      </p:sp>
      <p:sp>
        <p:nvSpPr>
          <p:cNvPr id="18" name="Text 16"/>
          <p:cNvSpPr/>
          <p:nvPr/>
        </p:nvSpPr>
        <p:spPr>
          <a:xfrm>
            <a:off x="9445752" y="2514600"/>
            <a:ext cx="1819656" cy="960120"/>
          </a:xfrm>
          <a:prstGeom prst="rect">
            <a:avLst/>
          </a:prstGeom>
          <a:noFill/>
          <a:ln/>
        </p:spPr>
        <p:txBody>
          <a:bodyPr wrap="square" lIns="0" tIns="0" rIns="0" bIns="0"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Management</a:t>
            </a:r>
            <a:endParaRPr lang="en-US" sz="1100" dirty="0"/>
          </a:p>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Decisions</a:t>
            </a:r>
            <a:endParaRPr lang="en-US" sz="1100" dirty="0"/>
          </a:p>
        </p:txBody>
      </p:sp>
      <p:sp>
        <p:nvSpPr>
          <p:cNvPr id="19" name="Shape 17"/>
          <p:cNvSpPr/>
          <p:nvPr/>
        </p:nvSpPr>
        <p:spPr>
          <a:xfrm>
            <a:off x="822960" y="3886200"/>
            <a:ext cx="10515600" cy="1234440"/>
          </a:xfrm>
          <a:prstGeom prst="roundRect">
            <a:avLst>
              <a:gd name="adj" fmla="val 6667"/>
            </a:avLst>
          </a:prstGeom>
          <a:solidFill>
            <a:srgbClr val="2A3570"/>
          </a:solidFill>
          <a:ln/>
        </p:spPr>
      </p:sp>
      <p:sp>
        <p:nvSpPr>
          <p:cNvPr id="20" name="Text 18"/>
          <p:cNvSpPr/>
          <p:nvPr/>
        </p:nvSpPr>
        <p:spPr>
          <a:xfrm>
            <a:off x="1097280" y="3886200"/>
            <a:ext cx="9966960" cy="1234440"/>
          </a:xfrm>
          <a:prstGeom prst="rect">
            <a:avLst/>
          </a:prstGeom>
          <a:noFill/>
          <a:ln/>
        </p:spPr>
        <p:txBody>
          <a:bodyPr wrap="square" lIns="0" tIns="0" rIns="0" bIns="0" rtlCol="0" anchor="ctr"/>
          <a:lstStyle/>
          <a:p>
            <a:pPr algn="l" indent="0" marL="0">
              <a:lnSpc>
                <a:spcPct val="120000"/>
              </a:lnSpc>
              <a:buNone/>
            </a:pPr>
            <a:r>
              <a:rPr lang="en-US" sz="1400" i="1" dirty="0">
                <a:solidFill>
                  <a:srgbClr val="FFFFFF"/>
                </a:solidFill>
                <a:latin typeface="Calibri" pitchFamily="34" charset="0"/>
                <a:ea typeface="Calibri" pitchFamily="34" charset="-122"/>
                <a:cs typeface="Calibri" pitchFamily="34" charset="-120"/>
              </a:rPr>
              <a:t>Revenue scale, customer value, and margin efficiency are different dimensions of business performance. A profitable growth strategy should optimize all three — not focus on revenue alone.</a:t>
            </a:r>
            <a:endParaRPr lang="en-US" sz="1400" dirty="0"/>
          </a:p>
        </p:txBody>
      </p:sp>
      <p:sp>
        <p:nvSpPr>
          <p:cNvPr id="21" name="Text 19"/>
          <p:cNvSpPr/>
          <p:nvPr/>
        </p:nvSpPr>
        <p:spPr>
          <a:xfrm>
            <a:off x="822960" y="5349240"/>
            <a:ext cx="7315200" cy="320040"/>
          </a:xfrm>
          <a:prstGeom prst="rect">
            <a:avLst/>
          </a:prstGeom>
          <a:noFill/>
          <a:ln/>
        </p:spPr>
        <p:txBody>
          <a:bodyPr wrap="square" lIns="0" tIns="0" rIns="0" bIns="0" rtlCol="0" anchor="ctr"/>
          <a:lstStyle/>
          <a:p>
            <a:pPr indent="0" marL="0">
              <a:buNone/>
            </a:pPr>
            <a:r>
              <a:rPr lang="en-US" sz="1150" b="1" spc="100" kern="0" dirty="0">
                <a:solidFill>
                  <a:srgbClr val="CADCFC"/>
                </a:solidFill>
                <a:latin typeface="Calibri" pitchFamily="34" charset="0"/>
                <a:ea typeface="Calibri" pitchFamily="34" charset="-122"/>
                <a:cs typeface="Calibri" pitchFamily="34" charset="-120"/>
              </a:rPr>
              <a:t>TECHNOLOGY: Python  |  SQL  |  Power BI  |  Excel</a:t>
            </a:r>
            <a:endParaRPr lang="en-US" sz="1150" dirty="0"/>
          </a:p>
        </p:txBody>
      </p:sp>
      <p:sp>
        <p:nvSpPr>
          <p:cNvPr id="22" name="Text 20"/>
          <p:cNvSpPr/>
          <p:nvPr/>
        </p:nvSpPr>
        <p:spPr>
          <a:xfrm>
            <a:off x="822960" y="5715000"/>
            <a:ext cx="10058400" cy="320040"/>
          </a:xfrm>
          <a:prstGeom prst="rect">
            <a:avLst/>
          </a:prstGeom>
          <a:noFill/>
          <a:ln/>
        </p:spPr>
        <p:txBody>
          <a:bodyPr wrap="square" lIns="0" tIns="0" rIns="0" bIns="0" rtlCol="0" anchor="ctr"/>
          <a:lstStyle/>
          <a:p>
            <a:pPr indent="0" marL="0">
              <a:buNone/>
            </a:pPr>
            <a:r>
              <a:rPr lang="en-US" sz="1000" i="1" dirty="0">
                <a:solidFill>
                  <a:srgbClr val="5B6785"/>
                </a:solidFill>
                <a:latin typeface="Calibri" pitchFamily="34" charset="0"/>
                <a:ea typeface="Calibri" pitchFamily="34" charset="-122"/>
                <a:cs typeface="Calibri" pitchFamily="34" charset="-120"/>
              </a:rPr>
              <a:t>Validation: data checks · financial calc checks · SQL validation · Power BI validation · filter/slicer testing · cross-source comparison</a:t>
            </a:r>
            <a:endParaRPr lang="en-US" sz="1000" dirty="0"/>
          </a:p>
        </p:txBody>
      </p:sp>
      <p:sp>
        <p:nvSpPr>
          <p:cNvPr id="23" name="Text 21"/>
          <p:cNvSpPr/>
          <p:nvPr/>
        </p:nvSpPr>
        <p:spPr>
          <a:xfrm>
            <a:off x="11274552" y="6492240"/>
            <a:ext cx="457200" cy="274320"/>
          </a:xfrm>
          <a:prstGeom prst="rect">
            <a:avLst/>
          </a:prstGeom>
          <a:noFill/>
          <a:ln/>
        </p:spPr>
        <p:txBody>
          <a:bodyPr wrap="square" lIns="0" tIns="0" rIns="0" bIns="0" rtlCol="0" anchor="ctr"/>
          <a:lstStyle/>
          <a:p>
            <a:pPr algn="r" indent="0" marL="0">
              <a:buNone/>
            </a:pPr>
            <a:r>
              <a:rPr lang="en-US" sz="850" dirty="0">
                <a:solidFill>
                  <a:srgbClr val="5B6785"/>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2026-08-20T06:42:11Z</dcterms:created>
  <dcterms:modified xsi:type="dcterms:W3CDTF">2026-08-20T06:42:11Z</dcterms:modified>
</cp:coreProperties>
</file>